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5.svg" ContentType="image/svg"/>
  <Override PartName="/ppt/media/image7.svg" ContentType="image/svg"/>
  <Override PartName="/ppt/media/image9.svg" ContentType="image/sv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DB007FC-3D8B-4014-BD2E-EE494F2D458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BD53B3-7790-433E-A76D-3202E73F48D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762525-47B6-4DA9-B51F-24B9D65D14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39681D-4F60-4103-9308-8A4EED64BED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9DE855-2D67-44A8-95FC-D3D2A54C430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61BFA1-BA4C-4638-8D2F-891E4EBC85F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0AD58E-810A-4517-8BCE-8D089D48B8D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sv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6.png"/><Relationship Id="rId6" Type="http://schemas.openxmlformats.org/officeDocument/2006/relationships/image" Target="../media/image7.svg"/><Relationship Id="rId7" Type="http://schemas.openxmlformats.org/officeDocument/2006/relationships/image" Target="../media/image8.png"/><Relationship Id="rId8" Type="http://schemas.openxmlformats.org/officeDocument/2006/relationships/image" Target="../media/image9.sv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8.png"/><Relationship Id="rId12" Type="http://schemas.openxmlformats.org/officeDocument/2006/relationships/image" Target="../media/image9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48640" y="1005840"/>
            <a:ext cx="80460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Intermediate Presentation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548640" y="1417320"/>
            <a:ext cx="804600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Security and Privacy in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Federated Learning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548640" y="2971800"/>
            <a:ext cx="80460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Empirical Study of the Privacy-Robustness-Performance Trilemma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548640" y="3520440"/>
            <a:ext cx="8046000" cy="176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548640" y="3657600"/>
            <a:ext cx="80460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Jonas Müller  ·  Rebekka Schnoor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Master Project Seminar Data Protection and Data Security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Universität Hamburg  ·  09 July 2026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 1"/>
          <p:cNvSpPr/>
          <p:nvPr/>
        </p:nvSpPr>
        <p:spPr>
          <a:xfrm>
            <a:off x="365760" y="0"/>
            <a:ext cx="8411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Outline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1861560" y="1213920"/>
            <a:ext cx="2559600" cy="137088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Shape 3"/>
          <p:cNvSpPr/>
          <p:nvPr/>
        </p:nvSpPr>
        <p:spPr>
          <a:xfrm>
            <a:off x="2026080" y="1378440"/>
            <a:ext cx="474840" cy="47484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4"/>
          <p:cNvSpPr/>
          <p:nvPr/>
        </p:nvSpPr>
        <p:spPr>
          <a:xfrm>
            <a:off x="2026080" y="1378440"/>
            <a:ext cx="474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2574720" y="1378440"/>
            <a:ext cx="16909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Accuracy Results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2026080" y="1872360"/>
            <a:ext cx="22852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Training accuracy across configurations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7"/>
          <p:cNvSpPr/>
          <p:nvPr/>
        </p:nvSpPr>
        <p:spPr>
          <a:xfrm>
            <a:off x="4833360" y="1213920"/>
            <a:ext cx="2559600" cy="137088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Shape 8"/>
          <p:cNvSpPr/>
          <p:nvPr/>
        </p:nvSpPr>
        <p:spPr>
          <a:xfrm>
            <a:off x="4997880" y="1378440"/>
            <a:ext cx="474840" cy="47484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Text 9"/>
          <p:cNvSpPr/>
          <p:nvPr/>
        </p:nvSpPr>
        <p:spPr>
          <a:xfrm>
            <a:off x="4997880" y="1378440"/>
            <a:ext cx="474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5546520" y="1378440"/>
            <a:ext cx="16909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Trilemma Overview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1"/>
          <p:cNvSpPr/>
          <p:nvPr/>
        </p:nvSpPr>
        <p:spPr>
          <a:xfrm>
            <a:off x="4997880" y="1872360"/>
            <a:ext cx="22852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Triangle visualization of results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7"/>
          <p:cNvSpPr/>
          <p:nvPr/>
        </p:nvSpPr>
        <p:spPr>
          <a:xfrm>
            <a:off x="1861560" y="2951280"/>
            <a:ext cx="2559600" cy="137088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18"/>
          <p:cNvSpPr/>
          <p:nvPr/>
        </p:nvSpPr>
        <p:spPr>
          <a:xfrm>
            <a:off x="2026080" y="3115800"/>
            <a:ext cx="474840" cy="47484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19"/>
          <p:cNvSpPr/>
          <p:nvPr/>
        </p:nvSpPr>
        <p:spPr>
          <a:xfrm>
            <a:off x="2026080" y="3115800"/>
            <a:ext cx="474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0"/>
          <p:cNvSpPr/>
          <p:nvPr/>
        </p:nvSpPr>
        <p:spPr>
          <a:xfrm>
            <a:off x="2574720" y="3115800"/>
            <a:ext cx="16909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744"/>
                </a:solidFill>
                <a:effectLst/>
                <a:uFillTx/>
                <a:latin typeface="Calibri"/>
                <a:ea typeface="Calibri"/>
              </a:rPr>
              <a:t>Milestones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1"/>
          <p:cNvSpPr/>
          <p:nvPr/>
        </p:nvSpPr>
        <p:spPr>
          <a:xfrm>
            <a:off x="2026080" y="3609720"/>
            <a:ext cx="22852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Achievements and goals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2"/>
          <p:cNvSpPr/>
          <p:nvPr/>
        </p:nvSpPr>
        <p:spPr>
          <a:xfrm>
            <a:off x="4833360" y="2951280"/>
            <a:ext cx="2559600" cy="137088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Shape 23"/>
          <p:cNvSpPr/>
          <p:nvPr/>
        </p:nvSpPr>
        <p:spPr>
          <a:xfrm>
            <a:off x="4997880" y="3115800"/>
            <a:ext cx="474840" cy="47484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24"/>
          <p:cNvSpPr/>
          <p:nvPr/>
        </p:nvSpPr>
        <p:spPr>
          <a:xfrm>
            <a:off x="4997880" y="3115800"/>
            <a:ext cx="474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5"/>
          <p:cNvSpPr/>
          <p:nvPr/>
        </p:nvSpPr>
        <p:spPr>
          <a:xfrm>
            <a:off x="5546520" y="3115800"/>
            <a:ext cx="16909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Challenges and Next Steps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26"/>
          <p:cNvSpPr/>
          <p:nvPr/>
        </p:nvSpPr>
        <p:spPr>
          <a:xfrm>
            <a:off x="4997880" y="3609720"/>
            <a:ext cx="22852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Current hardships and how to proceed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32"/>
          <p:cNvSpPr/>
          <p:nvPr/>
        </p:nvSpPr>
        <p:spPr>
          <a:xfrm>
            <a:off x="274320" y="4892040"/>
            <a:ext cx="8594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"/>
          <p:cNvSpPr/>
          <p:nvPr/>
        </p:nvSpPr>
        <p:spPr>
          <a:xfrm>
            <a:off x="365760" y="0"/>
            <a:ext cx="8411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Accuracy Results – Training Convergence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"/>
          <p:cNvSpPr/>
          <p:nvPr/>
        </p:nvSpPr>
        <p:spPr>
          <a:xfrm>
            <a:off x="300600" y="1593720"/>
            <a:ext cx="8411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Training accuracy for all 8 configurations.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5"/>
          <p:cNvSpPr/>
          <p:nvPr/>
        </p:nvSpPr>
        <p:spPr>
          <a:xfrm>
            <a:off x="274320" y="4892040"/>
            <a:ext cx="8594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Picture 7" descr="A graph of different colored squares&#10;&#10;AI-generated content may be incorrect."/>
          <p:cNvPicPr/>
          <p:nvPr/>
        </p:nvPicPr>
        <p:blipFill>
          <a:blip r:embed="rId1"/>
          <a:srcRect l="0" t="625" r="-156" b="27200"/>
          <a:stretch/>
        </p:blipFill>
        <p:spPr>
          <a:xfrm>
            <a:off x="174600" y="1994040"/>
            <a:ext cx="8653680" cy="24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Shape 5"/>
          <p:cNvSpPr/>
          <p:nvPr/>
        </p:nvSpPr>
        <p:spPr>
          <a:xfrm>
            <a:off x="7253280" y="1280880"/>
            <a:ext cx="1575360" cy="140112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6"/>
          <p:cNvSpPr/>
          <p:nvPr/>
        </p:nvSpPr>
        <p:spPr>
          <a:xfrm>
            <a:off x="7290360" y="1342800"/>
            <a:ext cx="142524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Parameters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7"/>
          <p:cNvSpPr/>
          <p:nvPr/>
        </p:nvSpPr>
        <p:spPr>
          <a:xfrm>
            <a:off x="7290360" y="1477080"/>
            <a:ext cx="1425240" cy="128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9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" name="Picture 22" descr="A computer screen shot of a code&#10;&#10;AI-generated content may be incorrect."/>
          <p:cNvPicPr/>
          <p:nvPr/>
        </p:nvPicPr>
        <p:blipFill>
          <a:blip r:embed="rId2"/>
          <a:srcRect l="11967" t="0" r="39175" b="594"/>
          <a:stretch/>
        </p:blipFill>
        <p:spPr>
          <a:xfrm>
            <a:off x="7452360" y="1592280"/>
            <a:ext cx="1170000" cy="91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TextBox 1"/>
          <p:cNvSpPr/>
          <p:nvPr/>
        </p:nvSpPr>
        <p:spPr>
          <a:xfrm>
            <a:off x="750240" y="4469400"/>
            <a:ext cx="5828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BASE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Box 2"/>
          <p:cNvSpPr/>
          <p:nvPr/>
        </p:nvSpPr>
        <p:spPr>
          <a:xfrm>
            <a:off x="1599480" y="4469400"/>
            <a:ext cx="5828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DP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3"/>
          <p:cNvSpPr/>
          <p:nvPr/>
        </p:nvSpPr>
        <p:spPr>
          <a:xfrm>
            <a:off x="2998440" y="4469400"/>
            <a:ext cx="5828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Top-k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Box 4"/>
          <p:cNvSpPr/>
          <p:nvPr/>
        </p:nvSpPr>
        <p:spPr>
          <a:xfrm>
            <a:off x="2285280" y="4469400"/>
            <a:ext cx="5828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FLTrust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5"/>
          <p:cNvSpPr/>
          <p:nvPr/>
        </p:nvSpPr>
        <p:spPr>
          <a:xfrm>
            <a:off x="3782160" y="4469400"/>
            <a:ext cx="79488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DP + FLTrust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Box 6"/>
          <p:cNvSpPr/>
          <p:nvPr/>
        </p:nvSpPr>
        <p:spPr>
          <a:xfrm>
            <a:off x="5017680" y="4469400"/>
            <a:ext cx="6534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DP+Top-k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Box 7"/>
          <p:cNvSpPr/>
          <p:nvPr/>
        </p:nvSpPr>
        <p:spPr>
          <a:xfrm>
            <a:off x="6111720" y="4469400"/>
            <a:ext cx="10400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FLTrust + Top-k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Box 8"/>
          <p:cNvSpPr/>
          <p:nvPr/>
        </p:nvSpPr>
        <p:spPr>
          <a:xfrm>
            <a:off x="7543080" y="4469400"/>
            <a:ext cx="5828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FULL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Rectangle 16"/>
          <p:cNvSpPr/>
          <p:nvPr/>
        </p:nvSpPr>
        <p:spPr>
          <a:xfrm>
            <a:off x="4719600" y="3818520"/>
            <a:ext cx="296280" cy="61704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" name="Rectangle 17"/>
          <p:cNvSpPr/>
          <p:nvPr/>
        </p:nvSpPr>
        <p:spPr>
          <a:xfrm>
            <a:off x="5138640" y="3818520"/>
            <a:ext cx="296280" cy="61704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" name="Rectangle 18"/>
          <p:cNvSpPr/>
          <p:nvPr/>
        </p:nvSpPr>
        <p:spPr>
          <a:xfrm>
            <a:off x="7952400" y="3818520"/>
            <a:ext cx="296280" cy="61704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" name="Rectangle 19"/>
          <p:cNvSpPr/>
          <p:nvPr/>
        </p:nvSpPr>
        <p:spPr>
          <a:xfrm>
            <a:off x="7533360" y="3818520"/>
            <a:ext cx="296280" cy="61704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" name="Rectangle 20"/>
          <p:cNvSpPr/>
          <p:nvPr/>
        </p:nvSpPr>
        <p:spPr>
          <a:xfrm>
            <a:off x="7103520" y="3616920"/>
            <a:ext cx="296280" cy="81864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" name="Rectangle 21"/>
          <p:cNvSpPr/>
          <p:nvPr/>
        </p:nvSpPr>
        <p:spPr>
          <a:xfrm>
            <a:off x="5563080" y="3813120"/>
            <a:ext cx="296280" cy="61704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 1"/>
          <p:cNvSpPr/>
          <p:nvPr/>
        </p:nvSpPr>
        <p:spPr>
          <a:xfrm>
            <a:off x="365760" y="0"/>
            <a:ext cx="8411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Trilemma Overview – All 8 Configurations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365760" y="777240"/>
            <a:ext cx="8411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Analysis of Trilemma Radar Chart.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4"/>
          <p:cNvSpPr/>
          <p:nvPr/>
        </p:nvSpPr>
        <p:spPr>
          <a:xfrm>
            <a:off x="365760" y="1143000"/>
            <a:ext cx="4022640" cy="33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8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📊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6E"/>
                </a:solidFill>
                <a:effectLst/>
                <a:uFillTx/>
                <a:latin typeface="Calibri"/>
              </a:rPr>
              <a:t>Accuracy: Full vs. Top-k Compressed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Insert plot here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7"/>
          <p:cNvSpPr/>
          <p:nvPr/>
        </p:nvSpPr>
        <p:spPr>
          <a:xfrm>
            <a:off x="274320" y="4892040"/>
            <a:ext cx="8594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4"/>
          <p:cNvSpPr/>
          <p:nvPr/>
        </p:nvSpPr>
        <p:spPr>
          <a:xfrm>
            <a:off x="365760" y="1143000"/>
            <a:ext cx="4022640" cy="3382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Picture 14" descr="A diagram of a triangle with different colored lines&#10;&#10;AI-generated content may be incorrect."/>
          <p:cNvPicPr/>
          <p:nvPr/>
        </p:nvPicPr>
        <p:blipFill>
          <a:blip r:embed="rId1"/>
          <a:srcRect l="32399" t="745" r="32345" b="33792"/>
          <a:stretch/>
        </p:blipFill>
        <p:spPr>
          <a:xfrm>
            <a:off x="4652640" y="1143360"/>
            <a:ext cx="4120920" cy="338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 9"/>
          <p:cNvSpPr/>
          <p:nvPr/>
        </p:nvSpPr>
        <p:spPr>
          <a:xfrm>
            <a:off x="529200" y="1357560"/>
            <a:ext cx="315396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Takeaways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0"/>
          <p:cNvSpPr/>
          <p:nvPr/>
        </p:nvSpPr>
        <p:spPr>
          <a:xfrm>
            <a:off x="529200" y="1851840"/>
            <a:ext cx="3643560" cy="147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71360" indent="-171360" defTabSz="914400">
              <a:lnSpc>
                <a:spcPct val="200000"/>
              </a:lnSpc>
              <a:buClr>
                <a:srgbClr val="64748B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Individual goals achievable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914400">
              <a:lnSpc>
                <a:spcPct val="200000"/>
              </a:lnSpc>
              <a:buClr>
                <a:srgbClr val="64748B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Privacy and Robustness conflict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914400">
              <a:lnSpc>
                <a:spcPct val="200000"/>
              </a:lnSpc>
              <a:buClr>
                <a:srgbClr val="64748B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Privacy + Efficiency difficult to combine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" name="Graphic 1" descr="Chevron arrows with solid fill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28120" y="3600360"/>
            <a:ext cx="560160" cy="56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Box 2"/>
          <p:cNvSpPr/>
          <p:nvPr/>
        </p:nvSpPr>
        <p:spPr>
          <a:xfrm>
            <a:off x="1174320" y="3665880"/>
            <a:ext cx="275724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Tradeoff visible: </a:t>
            </a: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We encounter a maximum size for each triangle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" name="Straight Arrow Connector 3"/>
          <p:cNvCxnSpPr/>
          <p:nvPr/>
        </p:nvCxnSpPr>
        <p:spPr>
          <a:xfrm>
            <a:off x="565920" y="3626640"/>
            <a:ext cx="3440520" cy="5760"/>
          </a:xfrm>
          <a:prstGeom prst="straightConnector1">
            <a:avLst/>
          </a:prstGeom>
          <a:ln w="12700">
            <a:solidFill>
              <a:srgbClr val="4472C4"/>
            </a:solidFill>
          </a:ln>
        </p:spPr>
      </p:cxnSp>
      <p:cxnSp>
        <p:nvCxnSpPr>
          <p:cNvPr id="73" name="Straight Arrow Connector 6"/>
          <p:cNvCxnSpPr/>
          <p:nvPr/>
        </p:nvCxnSpPr>
        <p:spPr>
          <a:xfrm>
            <a:off x="565920" y="4127400"/>
            <a:ext cx="3440520" cy="5760"/>
          </a:xfrm>
          <a:prstGeom prst="straightConnector1">
            <a:avLst/>
          </a:prstGeom>
          <a:ln w="12700">
            <a:solidFill>
              <a:srgbClr val="4472C4"/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16"/>
          <p:cNvSpPr/>
          <p:nvPr/>
        </p:nvSpPr>
        <p:spPr>
          <a:xfrm>
            <a:off x="340560" y="1177920"/>
            <a:ext cx="3839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Shape 20"/>
          <p:cNvSpPr/>
          <p:nvPr/>
        </p:nvSpPr>
        <p:spPr>
          <a:xfrm>
            <a:off x="340560" y="2366640"/>
            <a:ext cx="3839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Shape 24"/>
          <p:cNvSpPr/>
          <p:nvPr/>
        </p:nvSpPr>
        <p:spPr>
          <a:xfrm>
            <a:off x="340560" y="3555360"/>
            <a:ext cx="3839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 1"/>
          <p:cNvSpPr/>
          <p:nvPr/>
        </p:nvSpPr>
        <p:spPr>
          <a:xfrm>
            <a:off x="365760" y="0"/>
            <a:ext cx="8411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Milestones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"/>
          <p:cNvSpPr/>
          <p:nvPr/>
        </p:nvSpPr>
        <p:spPr>
          <a:xfrm>
            <a:off x="320040" y="82296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Achievements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5"/>
          <p:cNvSpPr/>
          <p:nvPr/>
        </p:nvSpPr>
        <p:spPr>
          <a:xfrm>
            <a:off x="903600" y="1296360"/>
            <a:ext cx="3153960" cy="2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MNIST implementation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6"/>
          <p:cNvSpPr/>
          <p:nvPr/>
        </p:nvSpPr>
        <p:spPr>
          <a:xfrm>
            <a:off x="881640" y="1544760"/>
            <a:ext cx="3153960" cy="51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Full operational pipeline integrating all mechanisms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9"/>
          <p:cNvSpPr/>
          <p:nvPr/>
        </p:nvSpPr>
        <p:spPr>
          <a:xfrm>
            <a:off x="865440" y="2471040"/>
            <a:ext cx="3153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Seed control for consistent results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0"/>
          <p:cNvSpPr/>
          <p:nvPr/>
        </p:nvSpPr>
        <p:spPr>
          <a:xfrm>
            <a:off x="865440" y="2686680"/>
            <a:ext cx="31539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Mitigate initialization randomness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3"/>
          <p:cNvSpPr/>
          <p:nvPr/>
        </p:nvSpPr>
        <p:spPr>
          <a:xfrm>
            <a:off x="881640" y="3670200"/>
            <a:ext cx="3153960" cy="2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Confirmation of Trilemma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4"/>
          <p:cNvSpPr/>
          <p:nvPr/>
        </p:nvSpPr>
        <p:spPr>
          <a:xfrm>
            <a:off x="881640" y="3951000"/>
            <a:ext cx="315396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95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Results align with expected tradeoffs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5"/>
          <p:cNvSpPr/>
          <p:nvPr/>
        </p:nvSpPr>
        <p:spPr>
          <a:xfrm>
            <a:off x="4983480" y="82296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EA5E9"/>
                </a:solidFill>
                <a:effectLst/>
                <a:uFillTx/>
                <a:latin typeface="Calibri"/>
              </a:rPr>
              <a:t>Goals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6"/>
          <p:cNvSpPr/>
          <p:nvPr/>
        </p:nvSpPr>
        <p:spPr>
          <a:xfrm>
            <a:off x="4983480" y="1188720"/>
            <a:ext cx="3839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 18"/>
          <p:cNvSpPr/>
          <p:nvPr/>
        </p:nvSpPr>
        <p:spPr>
          <a:xfrm>
            <a:off x="5577840" y="1280160"/>
            <a:ext cx="3153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Full run of all configs on both datasets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9"/>
          <p:cNvSpPr/>
          <p:nvPr/>
        </p:nvSpPr>
        <p:spPr>
          <a:xfrm>
            <a:off x="5577840" y="1507680"/>
            <a:ext cx="31539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Obtain representative results on performant hardware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0"/>
          <p:cNvSpPr/>
          <p:nvPr/>
        </p:nvSpPr>
        <p:spPr>
          <a:xfrm>
            <a:off x="4983480" y="2377440"/>
            <a:ext cx="3839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 22"/>
          <p:cNvSpPr/>
          <p:nvPr/>
        </p:nvSpPr>
        <p:spPr>
          <a:xfrm>
            <a:off x="5577840" y="2468880"/>
            <a:ext cx="3153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Analyze mitigations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5577840" y="2783520"/>
            <a:ext cx="31539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Experiment with alternative designs to mitigate performance break-ins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24"/>
          <p:cNvSpPr/>
          <p:nvPr/>
        </p:nvSpPr>
        <p:spPr>
          <a:xfrm>
            <a:off x="4983480" y="3566160"/>
            <a:ext cx="3839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 26"/>
          <p:cNvSpPr/>
          <p:nvPr/>
        </p:nvSpPr>
        <p:spPr>
          <a:xfrm>
            <a:off x="5577840" y="3657600"/>
            <a:ext cx="3153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Evaluation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7"/>
          <p:cNvSpPr/>
          <p:nvPr/>
        </p:nvSpPr>
        <p:spPr>
          <a:xfrm>
            <a:off x="5577840" y="3934080"/>
            <a:ext cx="31539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Detailed analysis of combinatory effects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8"/>
          <p:cNvSpPr/>
          <p:nvPr/>
        </p:nvSpPr>
        <p:spPr>
          <a:xfrm>
            <a:off x="4572000" y="822960"/>
            <a:ext cx="360" cy="3840480"/>
          </a:xfrm>
          <a:prstGeom prst="line">
            <a:avLst/>
          </a:prstGeom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" name="Text 29"/>
          <p:cNvSpPr/>
          <p:nvPr/>
        </p:nvSpPr>
        <p:spPr>
          <a:xfrm>
            <a:off x="274320" y="4892040"/>
            <a:ext cx="8594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Graphic 4" descr="Checkmark with solid fill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41000" y="1336320"/>
            <a:ext cx="342720" cy="33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9" name="Graphic 5" descr="Checkmark with solid fill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41000" y="2528280"/>
            <a:ext cx="342720" cy="33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" name="Graphic 4" descr="Checkmark with solid fill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441000" y="3654720"/>
            <a:ext cx="342720" cy="33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" name="Graphic 7" descr="Bullseye with solid fill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050800" y="1281960"/>
            <a:ext cx="456840" cy="47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Graphic 8" descr="Bullseye with solid fill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5050800" y="2462760"/>
            <a:ext cx="456840" cy="47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" name="Graphic 9" descr="Bullseye with solid fill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5050800" y="3671280"/>
            <a:ext cx="456840" cy="473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16"/>
          <p:cNvSpPr/>
          <p:nvPr/>
        </p:nvSpPr>
        <p:spPr>
          <a:xfrm>
            <a:off x="340560" y="1177920"/>
            <a:ext cx="3839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Shape 20"/>
          <p:cNvSpPr/>
          <p:nvPr/>
        </p:nvSpPr>
        <p:spPr>
          <a:xfrm>
            <a:off x="340560" y="2366640"/>
            <a:ext cx="3839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Shape 24"/>
          <p:cNvSpPr/>
          <p:nvPr/>
        </p:nvSpPr>
        <p:spPr>
          <a:xfrm>
            <a:off x="340560" y="3555360"/>
            <a:ext cx="3839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1"/>
          <p:cNvSpPr/>
          <p:nvPr/>
        </p:nvSpPr>
        <p:spPr>
          <a:xfrm>
            <a:off x="365760" y="0"/>
            <a:ext cx="8411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Challenges &amp; Next Steps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"/>
          <p:cNvSpPr/>
          <p:nvPr/>
        </p:nvSpPr>
        <p:spPr>
          <a:xfrm>
            <a:off x="320040" y="82296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Hardships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4"/>
          <p:cNvSpPr/>
          <p:nvPr/>
        </p:nvSpPr>
        <p:spPr>
          <a:xfrm>
            <a:off x="441000" y="1280160"/>
            <a:ext cx="45648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903600" y="1296360"/>
            <a:ext cx="3153960" cy="2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Resources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6"/>
          <p:cNvSpPr/>
          <p:nvPr/>
        </p:nvSpPr>
        <p:spPr>
          <a:xfrm>
            <a:off x="881640" y="1544760"/>
            <a:ext cx="3153960" cy="51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More Clients might help mitigating the DP effect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8"/>
          <p:cNvSpPr/>
          <p:nvPr/>
        </p:nvSpPr>
        <p:spPr>
          <a:xfrm>
            <a:off x="441000" y="2493000"/>
            <a:ext cx="45648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9"/>
          <p:cNvSpPr/>
          <p:nvPr/>
        </p:nvSpPr>
        <p:spPr>
          <a:xfrm>
            <a:off x="865440" y="2471040"/>
            <a:ext cx="3153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Stateless Clients (Privacy / Implementation)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0"/>
          <p:cNvSpPr/>
          <p:nvPr/>
        </p:nvSpPr>
        <p:spPr>
          <a:xfrm>
            <a:off x="865440" y="2686680"/>
            <a:ext cx="31539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Interaction with Top-k computation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2"/>
          <p:cNvSpPr/>
          <p:nvPr/>
        </p:nvSpPr>
        <p:spPr>
          <a:xfrm>
            <a:off x="441000" y="3670200"/>
            <a:ext cx="45648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3"/>
          <p:cNvSpPr/>
          <p:nvPr/>
        </p:nvSpPr>
        <p:spPr>
          <a:xfrm>
            <a:off x="881640" y="3670200"/>
            <a:ext cx="3153960" cy="2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Label flipping attack impact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4"/>
          <p:cNvSpPr/>
          <p:nvPr/>
        </p:nvSpPr>
        <p:spPr>
          <a:xfrm>
            <a:off x="881640" y="3951000"/>
            <a:ext cx="315396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95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Experiment with more disruptive attacks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5"/>
          <p:cNvSpPr/>
          <p:nvPr/>
        </p:nvSpPr>
        <p:spPr>
          <a:xfrm>
            <a:off x="4983480" y="82296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EA5E9"/>
                </a:solidFill>
                <a:effectLst/>
                <a:uFillTx/>
                <a:latin typeface="Calibri"/>
              </a:rPr>
              <a:t>Next Steps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6"/>
          <p:cNvSpPr/>
          <p:nvPr/>
        </p:nvSpPr>
        <p:spPr>
          <a:xfrm>
            <a:off x="4983480" y="1188720"/>
            <a:ext cx="3839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 17"/>
          <p:cNvSpPr/>
          <p:nvPr/>
        </p:nvSpPr>
        <p:spPr>
          <a:xfrm>
            <a:off x="5120640" y="128016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8"/>
          <p:cNvSpPr/>
          <p:nvPr/>
        </p:nvSpPr>
        <p:spPr>
          <a:xfrm>
            <a:off x="5577840" y="1280160"/>
            <a:ext cx="3153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CIFAR-10 &amp; ResNet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9"/>
          <p:cNvSpPr/>
          <p:nvPr/>
        </p:nvSpPr>
        <p:spPr>
          <a:xfrm>
            <a:off x="5577840" y="1507680"/>
            <a:ext cx="31539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Scale experiments to harder dataset and deeper model.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0"/>
          <p:cNvSpPr/>
          <p:nvPr/>
        </p:nvSpPr>
        <p:spPr>
          <a:xfrm>
            <a:off x="4983480" y="2377440"/>
            <a:ext cx="3839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 21"/>
          <p:cNvSpPr/>
          <p:nvPr/>
        </p:nvSpPr>
        <p:spPr>
          <a:xfrm>
            <a:off x="5120640" y="246888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2"/>
          <p:cNvSpPr/>
          <p:nvPr/>
        </p:nvSpPr>
        <p:spPr>
          <a:xfrm>
            <a:off x="5577840" y="2468880"/>
            <a:ext cx="3153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Increase Client number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3"/>
          <p:cNvSpPr/>
          <p:nvPr/>
        </p:nvSpPr>
        <p:spPr>
          <a:xfrm>
            <a:off x="5577840" y="2783520"/>
            <a:ext cx="31539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More representative results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4"/>
          <p:cNvSpPr/>
          <p:nvPr/>
        </p:nvSpPr>
        <p:spPr>
          <a:xfrm>
            <a:off x="4983480" y="3566160"/>
            <a:ext cx="3839760" cy="10508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27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 25"/>
          <p:cNvSpPr/>
          <p:nvPr/>
        </p:nvSpPr>
        <p:spPr>
          <a:xfrm>
            <a:off x="5120640" y="365760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6"/>
          <p:cNvSpPr/>
          <p:nvPr/>
        </p:nvSpPr>
        <p:spPr>
          <a:xfrm>
            <a:off x="5577840" y="3657600"/>
            <a:ext cx="3153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744"/>
                </a:solidFill>
                <a:effectLst/>
                <a:uFillTx/>
                <a:latin typeface="Calibri"/>
              </a:rPr>
              <a:t>Different attack patterns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7"/>
          <p:cNvSpPr/>
          <p:nvPr/>
        </p:nvSpPr>
        <p:spPr>
          <a:xfrm>
            <a:off x="5577840" y="3977640"/>
            <a:ext cx="31539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Arbitrary gradients (untargeted performance degradation)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Gradients of large magnitude (strong influence on resulting model)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8"/>
          <p:cNvSpPr/>
          <p:nvPr/>
        </p:nvSpPr>
        <p:spPr>
          <a:xfrm>
            <a:off x="4572000" y="822960"/>
            <a:ext cx="360" cy="3840480"/>
          </a:xfrm>
          <a:prstGeom prst="line">
            <a:avLst/>
          </a:prstGeom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29"/>
          <p:cNvSpPr/>
          <p:nvPr/>
        </p:nvSpPr>
        <p:spPr>
          <a:xfrm>
            <a:off x="274320" y="4892040"/>
            <a:ext cx="8594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Security and Privacy in Federated Learning  ·  Jonas Müller, Rebekka Schnoor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LibreOffice/26.2.3.2$Linux_X86_64 LibreOffice_project/620$Build-2</Application>
  <AppVersion>15.0000</AppVersion>
  <Words>906</Words>
  <Paragraphs>199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2026-06-25T01:21:58Z</dcterms:created>
  <dc:creator>Jonas Müller, Rebekka Schnoor</dc:creator>
  <dc:description/>
  <dc:language>de-DE</dc:language>
  <cp:lastModifiedBy/>
  <dcterms:modified xsi:type="dcterms:W3CDTF">2026-07-16T12:18:29Z</dcterms:modified>
  <cp:revision>390</cp:revision>
  <dc:subject>PptxGenJS Presentation</dc:subject>
  <dc:title>Intermediate Presentation - Privacy-Robustness-Performance Trilemma in FL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14</vt:i4>
  </property>
  <property fmtid="{D5CDD505-2E9C-101B-9397-08002B2CF9AE}" pid="3" name="Notes">
    <vt:i4>20</vt:i4>
  </property>
  <property fmtid="{D5CDD505-2E9C-101B-9397-08002B2CF9AE}" pid="4" name="PresentationFormat">
    <vt:lpwstr>On-screen Show (16:9)</vt:lpwstr>
  </property>
  <property fmtid="{D5CDD505-2E9C-101B-9397-08002B2CF9AE}" pid="5" name="Slides">
    <vt:i4>20</vt:i4>
  </property>
</Properties>
</file>