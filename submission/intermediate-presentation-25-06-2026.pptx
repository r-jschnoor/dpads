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4" r:id="rId4"/>
    <p:sldId id="258" r:id="rId5"/>
    <p:sldId id="265" r:id="rId6"/>
    <p:sldId id="267" r:id="rId7"/>
    <p:sldId id="266" r:id="rId8"/>
    <p:sldId id="277" r:id="rId9"/>
    <p:sldId id="260" r:id="rId10"/>
    <p:sldId id="261" r:id="rId11"/>
    <p:sldId id="262" r:id="rId12"/>
    <p:sldId id="272" r:id="rId13"/>
    <p:sldId id="270" r:id="rId14"/>
    <p:sldId id="274" r:id="rId15"/>
    <p:sldId id="269" r:id="rId16"/>
    <p:sldId id="268" r:id="rId17"/>
    <p:sldId id="276" r:id="rId18"/>
    <p:sldId id="263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76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1376-911B-2919-E97E-52AC394E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EB4DE-77D4-96C1-EBE3-6EC5D985F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14105-3E5B-5A79-69A3-C6B8E50F5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C1F62-7F05-67F2-EF3B-DD716EF30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6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07AE7-E805-9B93-FD4F-95563A338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4AE18-3905-19E5-36E1-488933D2C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F4B4B-1E72-BD5D-00CF-488B0A60C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238DE-5320-3F67-7A98-6C7C4F408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88DD9-D889-7B07-C0AC-010095B3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B55F9-DC51-9BDE-DAB8-32DEBADCD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BDDD0-50B4-B57D-86C7-3B51650DA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9FA14-9494-3932-0B55-FE6D1E365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1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6525B-4144-6E1D-2A93-85AFF66F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076A3-6568-201D-C0D2-0CE77F2FC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C28CD-C304-08F1-7CCB-2EE5045E6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04D69-49FE-CB2C-80BE-FFD294380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44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626C-FF2E-686B-AA19-A2A71D42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F3F0F-E511-636D-5B01-EF166FD6D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665B2-E7EF-1350-B55E-17B6C18DD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588DD-359E-D2DA-201F-1EE2779B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29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066D-8EE1-4342-86EF-7F73998F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3177A-7F6E-1B1A-0DE6-8CC362B33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43DF7-1C1F-AE13-ECA5-95DFA1CA8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4272-15AC-8594-D9AE-E2C5B7BC3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36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A734-C707-9D35-0F99-8388D29E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81534-A3F6-A6BF-AE0E-1C967ACF0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83347-41CA-E244-91A0-45CBE85FB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7FE13-2D09-84E4-EF0F-F4B597B8F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05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7926-6EB1-EB9C-5D38-B48294B9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96193-D726-E0CA-F680-E67DE845D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6C646-807C-40F0-7B26-4CB676624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8C790-EE8B-08C6-2D6C-AA4E8D14D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97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8180-922C-B580-5F1E-28210E34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3D847-9011-75F0-7945-74FA6D7B2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FEBC5-D2ED-7CFF-2D4A-D5708CD2F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FDC83-82C6-6E91-00E7-FB7D8A5A2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83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2847-85F1-5C1F-71FC-25D0CC91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0C882-2037-70EF-F011-B724D794A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591BD-A9F1-20BD-7A19-40C776581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27C99-8E84-4E57-1887-3BB67B829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77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6653-410B-BA7D-AB2E-9A60EB5D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F08BC-7B76-69A0-0FD3-23CFDF3C7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63516-4BB1-4178-F940-7AC45BB6A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49073-F86B-CC2F-D652-4A4C19C48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14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1370-8A3C-5E99-9047-8B2FBCAA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7F2EE-0264-7982-7A69-DC68C630F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7C386-927C-5971-02C6-24314FC48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9BD3D-1B04-5545-3208-82452BA69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9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Intermediate 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</a:rPr>
              <a:t>Security and Privacy in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</a:rPr>
              <a:t>Federated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Empirical Study of the Privacy-Robustness-Performance Trilemma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Jonas Müller  ·  Rebekka Schnoor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Master Project Seminar Data Protection and Data Security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Universität Hamburg  ·  25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59232" y="914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3824" y="1078992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3824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2464" y="10789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Accuracy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3824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Training convergence across configurations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1032" y="914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95624" y="1078992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5624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44264" y="10789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Privacy–Performance Tradeoff (DP-SGD)</a:t>
            </a:r>
          </a:p>
        </p:txBody>
      </p:sp>
      <p:sp>
        <p:nvSpPr>
          <p:cNvPr id="13" name="Text 11"/>
          <p:cNvSpPr/>
          <p:nvPr/>
        </p:nvSpPr>
        <p:spPr>
          <a:xfrm>
            <a:off x="3495624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Showing Privacy vs Performance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2832" y="914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67424" y="1078992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67424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16064" y="10789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A2744"/>
                </a:solidFill>
              </a:rPr>
              <a:t>Trilemma Overview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7424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64748B"/>
                </a:solidFill>
              </a:rPr>
              <a:t>O</a:t>
            </a:r>
            <a:r>
              <a:rPr lang="en-US" sz="1000" dirty="0" err="1">
                <a:solidFill>
                  <a:srgbClr val="64748B"/>
                </a:solidFill>
              </a:rPr>
              <a:t>verview</a:t>
            </a:r>
            <a:r>
              <a:rPr lang="en-US" sz="1000" dirty="0">
                <a:solidFill>
                  <a:srgbClr val="64748B"/>
                </a:solidFill>
              </a:rPr>
              <a:t> over the 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9232" y="26517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3824" y="2816352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824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2464" y="28163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Intermediate Evaluation</a:t>
            </a:r>
          </a:p>
        </p:txBody>
      </p:sp>
      <p:sp>
        <p:nvSpPr>
          <p:cNvPr id="23" name="Text 21"/>
          <p:cNvSpPr/>
          <p:nvPr/>
        </p:nvSpPr>
        <p:spPr>
          <a:xfrm>
            <a:off x="523824" y="33101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Some intermediate results explained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1032" y="26517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95624" y="2816352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95624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44264" y="28163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A2744"/>
                </a:solidFill>
              </a:rPr>
              <a:t>Challenges &amp; Next Steps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95624" y="33101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Stoppers and TODOs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3CA15-1E96-5D83-9ED9-275D96E5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87BCD3-96E7-18DA-94B9-505407DDB85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1E1F52-266B-AB72-C700-741C25CD0293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Results – Training Convergence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996DF3-E394-BE10-40BE-95FD08C3DD7D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Training accuracy and loss over communication rounds for all 8 configurations.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BDBD92-F234-3C85-EA75-85E2A6EA5D67}"/>
              </a:ext>
            </a:extLst>
          </p:cNvPr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 &amp; Loss per Round – All Configs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9E7849-B7E1-295F-DCE5-55586706E2A6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E5E41A-9291-6A0D-B11D-B391AB45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497991"/>
            <a:ext cx="7478486" cy="2724865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EF7CC6AF-719A-0C69-7978-9D90CF49D693}"/>
              </a:ext>
            </a:extLst>
          </p:cNvPr>
          <p:cNvSpPr/>
          <p:nvPr/>
        </p:nvSpPr>
        <p:spPr>
          <a:xfrm>
            <a:off x="7213963" y="3108960"/>
            <a:ext cx="1828800" cy="1626326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B0DBC93-4054-B38C-72CB-F769C6905E67}"/>
              </a:ext>
            </a:extLst>
          </p:cNvPr>
          <p:cNvSpPr/>
          <p:nvPr/>
        </p:nvSpPr>
        <p:spPr>
          <a:xfrm>
            <a:off x="7250976" y="3170922"/>
            <a:ext cx="1654627" cy="174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5216687-77AD-7496-8D93-B581AAA1DFB3}"/>
              </a:ext>
            </a:extLst>
          </p:cNvPr>
          <p:cNvSpPr/>
          <p:nvPr/>
        </p:nvSpPr>
        <p:spPr>
          <a:xfrm>
            <a:off x="7250975" y="3304904"/>
            <a:ext cx="1654628" cy="1493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1: Baseline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2: DP only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3: </a:t>
            </a:r>
            <a:r>
              <a:rPr lang="en-US" sz="900" dirty="0" err="1">
                <a:solidFill>
                  <a:srgbClr val="1E293B"/>
                </a:solidFill>
              </a:rPr>
              <a:t>FLTrust</a:t>
            </a:r>
            <a:r>
              <a:rPr lang="en-US" sz="900" dirty="0">
                <a:solidFill>
                  <a:srgbClr val="1E293B"/>
                </a:solidFill>
              </a:rPr>
              <a:t> only (label-flip)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4: Top-k only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5: DP + FL Trust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6: DP + Top-k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7: </a:t>
            </a:r>
            <a:r>
              <a:rPr lang="en-US" sz="900" dirty="0" err="1">
                <a:solidFill>
                  <a:srgbClr val="1E293B"/>
                </a:solidFill>
              </a:rPr>
              <a:t>FLTrust</a:t>
            </a:r>
            <a:r>
              <a:rPr lang="en-US" sz="900" dirty="0">
                <a:solidFill>
                  <a:srgbClr val="1E293B"/>
                </a:solidFill>
              </a:rPr>
              <a:t> + Top-k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8: Full</a:t>
            </a:r>
            <a:endParaRPr lang="en-US" sz="9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DDBF5ABD-9225-8B1C-6507-FB978A42FCFB}"/>
              </a:ext>
            </a:extLst>
          </p:cNvPr>
          <p:cNvSpPr/>
          <p:nvPr/>
        </p:nvSpPr>
        <p:spPr>
          <a:xfrm>
            <a:off x="7451269" y="1524007"/>
            <a:ext cx="1576252" cy="1401739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3D82943-1480-592C-ECF8-D877FBAFDDAC}"/>
              </a:ext>
            </a:extLst>
          </p:cNvPr>
          <p:cNvSpPr/>
          <p:nvPr/>
        </p:nvSpPr>
        <p:spPr>
          <a:xfrm>
            <a:off x="7488282" y="1585969"/>
            <a:ext cx="1426131" cy="150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Parameters</a:t>
            </a:r>
            <a:endParaRPr lang="en-US" sz="11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F5D3C48-29E6-9CD2-10D3-699E78798A44}"/>
              </a:ext>
            </a:extLst>
          </p:cNvPr>
          <p:cNvSpPr/>
          <p:nvPr/>
        </p:nvSpPr>
        <p:spPr>
          <a:xfrm>
            <a:off x="7488281" y="1719951"/>
            <a:ext cx="1426132" cy="1287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BEE01FA-9C4B-4F1B-96DD-AA730B6D9B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370"/>
          <a:stretch>
            <a:fillRect/>
          </a:stretch>
        </p:blipFill>
        <p:spPr>
          <a:xfrm>
            <a:off x="7548696" y="1829873"/>
            <a:ext cx="1381398" cy="9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72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Results – Training Convergence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Training accuracy and loss over communication rounds for all 8 configurations.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 &amp; Loss per Round – All Configs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816077-BFF5-670D-7F8E-03620260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463040"/>
            <a:ext cx="9143999" cy="2885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44D5-92D2-5185-3EA0-8A3C155C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2B4B64-0DDD-D2B2-434C-7637D92A9B7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2E35E2-F8E2-F72D-DF05-A1CCB182DEB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Results – Training Convergence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2C00D1-9A6C-BF3B-386F-647CF56235BF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Training accuracy and loss over </a:t>
            </a:r>
            <a:r>
              <a:rPr lang="en-US" sz="1100" i="1">
                <a:solidFill>
                  <a:srgbClr val="64748B"/>
                </a:solidFill>
              </a:rPr>
              <a:t>communication rounds.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59B37D-8CC4-E8E4-C524-B98D6E385565}"/>
              </a:ext>
            </a:extLst>
          </p:cNvPr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 &amp; Loss per Round – All Configs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D22F48-1AC8-1A70-5F83-65D20194AE83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E692F3-5357-8686-A60B-9115B482E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54123"/>
            <a:ext cx="9144000" cy="283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1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69E4-B69F-4343-9A7C-F1725524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CC6F01-4DBB-F670-5EE7-DE9614387AF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7E88D4-9AF1-EE0C-41BF-6551786CE465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Accuracy Results – Training Convergence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775B6E-CF23-638C-21B1-9DE4922F0530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Training accuracy and loss over communication rounds.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9262FF-DF3F-E086-7B30-484E49C3C415}"/>
              </a:ext>
            </a:extLst>
          </p:cNvPr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 &amp; Loss per Round – All Configs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BAE0B1-E1E3-DD64-7B61-338414949FB7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0682C0-E534-EAC3-35B8-F7E053C9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1143000"/>
            <a:ext cx="9143998" cy="329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8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276B-0FC2-2E53-D5C2-6F6F1180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020398-C8F1-910C-B714-E8706C2A985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647C5A-CA67-E959-177E-938DD9671A7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Privacy–Performance Tradeoff (DP-SGD)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773F2E-2B8A-400E-511C-5BFCE7D0419C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4748B"/>
                </a:solidFill>
              </a:rPr>
              <a:t>Effect of differential privacy (ε budget) on model accuracy across training rounds.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208ED5-ACBF-43C3-871E-C77CDAC8AE00}"/>
              </a:ext>
            </a:extLst>
          </p:cNvPr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 &amp; Loss per Round – All Configs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54A0FD8-D513-E520-3C95-C4891BB53F7B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A1C6D1-660F-6B9B-E7CC-3C267F6E1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7" y="1188720"/>
            <a:ext cx="4872170" cy="151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DAF641-704C-5401-C93D-6D4EBD3536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46" y="1192689"/>
            <a:ext cx="9139908" cy="301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0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FCA664-A0EF-1161-B684-160C3829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B29F3E-AB82-EEEC-C90C-15EECC1F947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B69B46-CFF7-A27A-6BE3-3A9F6CFC881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Privacy–Performance Tradeoff (DP-SGD)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F8BDCA-8BA4-A957-6863-D27F50CA4772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Effect of differential privacy (ε budget) on model accuracy across training rounds.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192E813-D821-494C-0C08-E6B46F687E6B}"/>
              </a:ext>
            </a:extLst>
          </p:cNvPr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1F0B44-D8C8-7AE8-F46B-EEAC7E6737FD}"/>
              </a:ext>
            </a:extLst>
          </p:cNvPr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DP vs. No-DP: Accuracy over Rounds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E3ED573-9940-938B-95CA-B26675921CC8}"/>
              </a:ext>
            </a:extLst>
          </p:cNvPr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705AF-3BAB-5D06-0E1C-BD6E0B528295}"/>
              </a:ext>
            </a:extLst>
          </p:cNvPr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Privacy Budget (ε) Accumulation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08DE1B-BF06-4A26-E6FC-4F4BC862B448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91007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Robustness Results – FLTrust vs. Label-Flip Attack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FLTrust aggregation defending against malicious clients performing label-flip attacks.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Accuracy: Baseline vs. Attack vs. FLTrust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Per-Class F1 Score Comparison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Compression Results – Top-k Gradient Sparsification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Top-k compression retains only the k% largest gradient values per round.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Accuracy: Full vs. Top-k Compressed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Loss Convergence Rate Comparison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Trilemma Overview – All 8 Configurations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Radar charts summarising the privacy–robustness–performance balance per configuration.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Radar Chart – Privacy / Robustness / Performance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1143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50376F-9916-1BA5-F99E-20B8BD2D5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543" y="685800"/>
            <a:ext cx="8164285" cy="4264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E6EF-333E-A774-F5F0-7A220779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98D1F4-3656-1BA5-43CB-D445140C3BA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46F180-39CB-1697-81A5-AF4CBB6E1731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Trilemma Overview – All 8 Configurations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05120F-9510-8146-A76A-A6C52F36C9D6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of Trilemma Radar Chart.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F8121C-1419-30C5-8348-A76066563B08}"/>
              </a:ext>
            </a:extLst>
          </p:cNvPr>
          <p:cNvSpPr/>
          <p:nvPr/>
        </p:nvSpPr>
        <p:spPr>
          <a:xfrm>
            <a:off x="36576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Accuracy: Full vs. Top-k Compressed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902E3F-0F40-7FAB-405C-C4F33C3F6618}"/>
              </a:ext>
            </a:extLst>
          </p:cNvPr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Loss Convergence Rate Comparison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FF624B3-AC51-E3D4-B19D-B4044CB7B4A1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sp>
        <p:nvSpPr>
          <p:cNvPr id="13" name="Shape 24">
            <a:extLst>
              <a:ext uri="{FF2B5EF4-FFF2-40B4-BE49-F238E27FC236}">
                <a16:creationId xmlns:a16="http://schemas.microsoft.com/office/drawing/2014/main" id="{DDFD7182-4E9A-5FEE-A45B-24F4C9C45BBD}"/>
              </a:ext>
            </a:extLst>
          </p:cNvPr>
          <p:cNvSpPr/>
          <p:nvPr/>
        </p:nvSpPr>
        <p:spPr>
          <a:xfrm>
            <a:off x="365760" y="1143000"/>
            <a:ext cx="4023360" cy="33832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de-DE" b="1" dirty="0"/>
              <a:t> 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2628E4-8CFF-17B8-8DF8-CF4CCCAE7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297" y="1042035"/>
            <a:ext cx="3370217" cy="3585209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549ADC78-FAEF-FD19-8505-BFB62D4E3BA9}"/>
              </a:ext>
            </a:extLst>
          </p:cNvPr>
          <p:cNvSpPr/>
          <p:nvPr/>
        </p:nvSpPr>
        <p:spPr>
          <a:xfrm>
            <a:off x="529046" y="1357535"/>
            <a:ext cx="3154680" cy="22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1600" b="1" dirty="0"/>
              <a:t>Some Takeaways</a:t>
            </a:r>
            <a:endParaRPr lang="en-US" sz="16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04568F8-F942-3165-87DE-BD525B2CDD11}"/>
              </a:ext>
            </a:extLst>
          </p:cNvPr>
          <p:cNvSpPr/>
          <p:nvPr/>
        </p:nvSpPr>
        <p:spPr>
          <a:xfrm>
            <a:off x="529046" y="1851925"/>
            <a:ext cx="3219994" cy="1570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- Overall decent scores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- Tradeoffs visible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- Privacy 100 % is hard (+ </a:t>
            </a:r>
            <a:r>
              <a:rPr lang="en-US" sz="1100" dirty="0" err="1">
                <a:solidFill>
                  <a:srgbClr val="64748B"/>
                </a:solidFill>
              </a:rPr>
              <a:t>FLTrust</a:t>
            </a:r>
            <a:r>
              <a:rPr lang="en-US" sz="1100" dirty="0">
                <a:solidFill>
                  <a:srgbClr val="64748B"/>
                </a:solidFill>
              </a:rPr>
              <a:t> issue)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545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9FEB1-2060-28D7-59A7-BEC671AB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16DF20-828D-4C49-2FF6-9031DDF7AAD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475AE7-6C89-CC81-7D2C-3A0457A7759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Intermediate Evaluation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E30F5D-4B75-A2B5-F24B-2737679545DB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B8A402-E2F6-91BE-3828-479B04E4222A}"/>
              </a:ext>
            </a:extLst>
          </p:cNvPr>
          <p:cNvSpPr/>
          <p:nvPr/>
        </p:nvSpPr>
        <p:spPr>
          <a:xfrm>
            <a:off x="6400800" y="1143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A03A3F-7CDE-2F24-A155-491867555FCD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9B973-A3D1-D0F4-9A5C-22CBBC779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685800"/>
            <a:ext cx="8595361" cy="42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47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92F6-E329-1E6A-BE33-3D86CE2E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181E61-4F53-4F23-7F1C-3CAB9F4C167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25BCB0-235C-9D8B-60C6-50E10CAB2C97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Intermediate Evaluation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495F7B-C35F-96B9-8709-3BA77A09F472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EA19E0-FDC4-00D0-35DA-6BD065944C65}"/>
              </a:ext>
            </a:extLst>
          </p:cNvPr>
          <p:cNvSpPr/>
          <p:nvPr/>
        </p:nvSpPr>
        <p:spPr>
          <a:xfrm>
            <a:off x="6400800" y="1143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E17F5E7-DF91-EC3D-931F-5BCAE792BA63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CFCFF-BCCD-5BAB-52F0-4D1F06E9F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685800"/>
            <a:ext cx="8595361" cy="42490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707E77-4114-3F30-151B-68F8CD71015D}"/>
              </a:ext>
            </a:extLst>
          </p:cNvPr>
          <p:cNvSpPr/>
          <p:nvPr/>
        </p:nvSpPr>
        <p:spPr>
          <a:xfrm>
            <a:off x="2441816" y="3907839"/>
            <a:ext cx="1951433" cy="16737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C5D35-8CE1-43E9-0F8D-91499C83BDC8}"/>
              </a:ext>
            </a:extLst>
          </p:cNvPr>
          <p:cNvSpPr/>
          <p:nvPr/>
        </p:nvSpPr>
        <p:spPr>
          <a:xfrm>
            <a:off x="3417533" y="3007765"/>
            <a:ext cx="180195" cy="181321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3057F1-136F-14F2-5E01-1290264F1A52}"/>
              </a:ext>
            </a:extLst>
          </p:cNvPr>
          <p:cNvSpPr/>
          <p:nvPr/>
        </p:nvSpPr>
        <p:spPr>
          <a:xfrm>
            <a:off x="6724990" y="3901308"/>
            <a:ext cx="1951433" cy="16737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93C46C-55A0-B478-37ED-7613608598B4}"/>
              </a:ext>
            </a:extLst>
          </p:cNvPr>
          <p:cNvSpPr/>
          <p:nvPr/>
        </p:nvSpPr>
        <p:spPr>
          <a:xfrm>
            <a:off x="7700707" y="3001234"/>
            <a:ext cx="180195" cy="181321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FEC9B-46A2-072B-A681-3F43A8D4AD41}"/>
              </a:ext>
            </a:extLst>
          </p:cNvPr>
          <p:cNvSpPr/>
          <p:nvPr/>
        </p:nvSpPr>
        <p:spPr>
          <a:xfrm>
            <a:off x="2441816" y="1875784"/>
            <a:ext cx="1951433" cy="16737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4065FA-EBDA-20DF-CBF9-ADA7E8BDA9C2}"/>
              </a:ext>
            </a:extLst>
          </p:cNvPr>
          <p:cNvSpPr/>
          <p:nvPr/>
        </p:nvSpPr>
        <p:spPr>
          <a:xfrm>
            <a:off x="3417533" y="975710"/>
            <a:ext cx="180195" cy="181321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89F88-D54F-9DF5-656C-7E9ECDFD2807}"/>
              </a:ext>
            </a:extLst>
          </p:cNvPr>
          <p:cNvSpPr/>
          <p:nvPr/>
        </p:nvSpPr>
        <p:spPr>
          <a:xfrm>
            <a:off x="297126" y="3894777"/>
            <a:ext cx="1951433" cy="16737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88E139-3DF7-A1BD-CDD8-3AD6F703EEEC}"/>
              </a:ext>
            </a:extLst>
          </p:cNvPr>
          <p:cNvSpPr/>
          <p:nvPr/>
        </p:nvSpPr>
        <p:spPr>
          <a:xfrm>
            <a:off x="1272843" y="2994703"/>
            <a:ext cx="180195" cy="181321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34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7A1A-5292-BC29-EAEB-95B60C9C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510C82-E366-4913-D882-F8301289D9F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898E4F-4B2F-1696-BE14-A2C241B84C37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Intermediate Evaluation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871658-5A93-9AE7-853F-A215913E0F36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AAA97C-7CA6-586F-3B93-5FD54ED5C691}"/>
              </a:ext>
            </a:extLst>
          </p:cNvPr>
          <p:cNvSpPr/>
          <p:nvPr/>
        </p:nvSpPr>
        <p:spPr>
          <a:xfrm>
            <a:off x="6400800" y="1143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868407-13A9-B633-C9DF-654A7956F468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D4022-5B89-4746-4F10-C8011397B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757"/>
            <a:ext cx="9144000" cy="397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6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9291C-435D-0597-F155-E6BAF121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47D117-A1F5-630C-A605-05DF73F1C7A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997FBF-76EE-0486-A7B6-EBAEF523660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Intermediate Evaluation – Config 1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EB7F58-8D2E-5608-E948-6B66696CE945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16F35A-9F75-1038-FE3D-5E8B43EB1BD9}"/>
              </a:ext>
            </a:extLst>
          </p:cNvPr>
          <p:cNvSpPr/>
          <p:nvPr/>
        </p:nvSpPr>
        <p:spPr>
          <a:xfrm>
            <a:off x="365760" y="114300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Radar Chart – Privacy / Robustness / Performance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0E66E4-9277-3D9B-8DE1-D3C4DF92CCBD}"/>
              </a:ext>
            </a:extLst>
          </p:cNvPr>
          <p:cNvSpPr/>
          <p:nvPr/>
        </p:nvSpPr>
        <p:spPr>
          <a:xfrm>
            <a:off x="6400800" y="1143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31E9E9-7B73-8A08-B385-1FB45ABC2668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6AB37C-FEC7-1639-9A32-B42381C07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93094"/>
            <a:ext cx="9144000" cy="299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97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4203-5569-C924-65FE-BD7FB908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E42FAD-D146-6C68-F9B9-2912674648B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B7EFBE-8488-C1BB-5939-4D9F588BD2D0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Intermediate Evaluation – Config 8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69832A-4F24-D2B3-EE72-27DB87A5315A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B75FDD-7D3D-8E80-3DD2-1E21E520C3C5}"/>
              </a:ext>
            </a:extLst>
          </p:cNvPr>
          <p:cNvSpPr/>
          <p:nvPr/>
        </p:nvSpPr>
        <p:spPr>
          <a:xfrm>
            <a:off x="365760" y="114300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📊
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Radar Chart – Privacy / Robustness / Performance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Insert plot here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E133B3-3A6A-07D5-7CF0-5A966C769091}"/>
              </a:ext>
            </a:extLst>
          </p:cNvPr>
          <p:cNvSpPr/>
          <p:nvPr/>
        </p:nvSpPr>
        <p:spPr>
          <a:xfrm>
            <a:off x="6400800" y="1143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07C084-3EE7-D7D4-7252-10FB983FD145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3177A-208B-80B9-CD49-4C39E317B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1293094"/>
            <a:ext cx="9143997" cy="299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07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Hardships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840480" cy="7543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57200" cy="327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154680" cy="22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Resources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63033"/>
            <a:ext cx="3154680" cy="393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64748B"/>
                </a:solidFill>
              </a:rPr>
              <a:t>- L</a:t>
            </a:r>
            <a:r>
              <a:rPr lang="en-US" sz="950" dirty="0" err="1">
                <a:solidFill>
                  <a:srgbClr val="64748B"/>
                </a:solidFill>
              </a:rPr>
              <a:t>aptop</a:t>
            </a:r>
            <a:r>
              <a:rPr lang="en-US" sz="950" dirty="0">
                <a:solidFill>
                  <a:srgbClr val="64748B"/>
                </a:solidFill>
              </a:rPr>
              <a:t> is too weak for training</a:t>
            </a:r>
          </a:p>
          <a:p>
            <a:r>
              <a:rPr lang="en-US" sz="950" dirty="0">
                <a:solidFill>
                  <a:srgbClr val="64748B"/>
                </a:solidFill>
              </a:rPr>
              <a:t>- Desktop struggles</a:t>
            </a:r>
          </a:p>
        </p:txBody>
      </p:sp>
      <p:sp>
        <p:nvSpPr>
          <p:cNvPr id="9" name="Shape 7"/>
          <p:cNvSpPr/>
          <p:nvPr/>
        </p:nvSpPr>
        <p:spPr>
          <a:xfrm>
            <a:off x="320040" y="2096588"/>
            <a:ext cx="3840480" cy="7543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188028"/>
            <a:ext cx="457200" cy="327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188028"/>
            <a:ext cx="3154680" cy="22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2744"/>
                </a:solidFill>
              </a:rPr>
              <a:t>Stateless Clients (Privacy / Implementation)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70901"/>
            <a:ext cx="3154680" cy="393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Flower rebuilds clients each round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-&gt; How do we persist privacy budget?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28950"/>
            <a:ext cx="3840480" cy="7543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20390"/>
            <a:ext cx="457200" cy="327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120390"/>
            <a:ext cx="3154680" cy="22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744"/>
                </a:solidFill>
              </a:rPr>
              <a:t>FLTrust</a:t>
            </a:r>
            <a:r>
              <a:rPr lang="en-US" sz="1100" b="1" dirty="0">
                <a:solidFill>
                  <a:srgbClr val="1A2744"/>
                </a:solidFill>
              </a:rPr>
              <a:t> root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303263"/>
            <a:ext cx="3154680" cy="393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64748B"/>
                </a:solidFill>
              </a:rPr>
              <a:t>T</a:t>
            </a:r>
            <a:r>
              <a:rPr lang="en-US" sz="950" dirty="0">
                <a:solidFill>
                  <a:srgbClr val="64748B"/>
                </a:solidFill>
              </a:rPr>
              <a:t>he root dataset for </a:t>
            </a:r>
            <a:r>
              <a:rPr lang="en-US" sz="950" dirty="0" err="1">
                <a:solidFill>
                  <a:srgbClr val="64748B"/>
                </a:solidFill>
              </a:rPr>
              <a:t>FLTrust</a:t>
            </a:r>
            <a:r>
              <a:rPr lang="en-US" sz="950" dirty="0">
                <a:solidFill>
                  <a:srgbClr val="64748B"/>
                </a:solidFill>
              </a:rPr>
              <a:t> needs to be representative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11887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12801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CIFAR-10 &amp; ResNet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1600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Scale experiments to harder dataset and deeper model.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83480" y="23774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77840" y="2468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Full 8-Config Run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Run complete experiment matrix with meaningful parameters + Plotting</a:t>
            </a:r>
          </a:p>
        </p:txBody>
      </p:sp>
      <p:sp>
        <p:nvSpPr>
          <p:cNvPr id="26" name="Shape 24"/>
          <p:cNvSpPr/>
          <p:nvPr/>
        </p:nvSpPr>
        <p:spPr>
          <a:xfrm>
            <a:off x="4983480" y="3566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36576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BLADES Baseline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977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Validate results against reference BLADES framework.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-&gt; Potential problem since BLADES might not offer exactly what’s needed.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82296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7ECDF2C1-A3DF-60B6-5F41-5BC5987D1173}"/>
              </a:ext>
            </a:extLst>
          </p:cNvPr>
          <p:cNvSpPr/>
          <p:nvPr/>
        </p:nvSpPr>
        <p:spPr>
          <a:xfrm>
            <a:off x="320040" y="3966754"/>
            <a:ext cx="3840480" cy="7543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6140F7C3-02A3-CD73-D658-74883AF3F2D8}"/>
              </a:ext>
            </a:extLst>
          </p:cNvPr>
          <p:cNvSpPr/>
          <p:nvPr/>
        </p:nvSpPr>
        <p:spPr>
          <a:xfrm>
            <a:off x="457200" y="4058194"/>
            <a:ext cx="457200" cy="327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C5AA5561-1950-C03D-5F87-71C46EB9AA0B}"/>
              </a:ext>
            </a:extLst>
          </p:cNvPr>
          <p:cNvSpPr/>
          <p:nvPr/>
        </p:nvSpPr>
        <p:spPr>
          <a:xfrm>
            <a:off x="914400" y="4058194"/>
            <a:ext cx="3154680" cy="22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744"/>
                </a:solidFill>
              </a:rPr>
              <a:t>FLTrust</a:t>
            </a:r>
            <a:r>
              <a:rPr lang="en-US" sz="1100" b="1" dirty="0">
                <a:solidFill>
                  <a:srgbClr val="1A2744"/>
                </a:solidFill>
              </a:rPr>
              <a:t> Trust Scores (Implementation)</a:t>
            </a:r>
            <a:endParaRPr lang="en-US" sz="11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31EF6705-1500-6902-302D-A296DC6EA5EA}"/>
              </a:ext>
            </a:extLst>
          </p:cNvPr>
          <p:cNvSpPr/>
          <p:nvPr/>
        </p:nvSpPr>
        <p:spPr>
          <a:xfrm>
            <a:off x="914400" y="4241067"/>
            <a:ext cx="3154680" cy="393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64748B"/>
                </a:solidFill>
              </a:rPr>
              <a:t>The </a:t>
            </a:r>
            <a:r>
              <a:rPr lang="de-DE" sz="950" dirty="0" err="1">
                <a:solidFill>
                  <a:srgbClr val="64748B"/>
                </a:solidFill>
              </a:rPr>
              <a:t>FLTrust</a:t>
            </a:r>
            <a:r>
              <a:rPr lang="de-DE" sz="950" dirty="0">
                <a:solidFill>
                  <a:srgbClr val="64748B"/>
                </a:solidFill>
              </a:rPr>
              <a:t> Trust Scores </a:t>
            </a:r>
            <a:r>
              <a:rPr lang="de-DE" sz="950" dirty="0" err="1">
                <a:solidFill>
                  <a:srgbClr val="64748B"/>
                </a:solidFill>
              </a:rPr>
              <a:t>are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too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good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for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malicious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clients</a:t>
            </a:r>
            <a:r>
              <a:rPr lang="de-DE" sz="950" dirty="0">
                <a:solidFill>
                  <a:srgbClr val="64748B"/>
                </a:solidFill>
              </a:rPr>
              <a:t>.</a:t>
            </a:r>
            <a:br>
              <a:rPr lang="de-DE" sz="950" dirty="0">
                <a:solidFill>
                  <a:srgbClr val="64748B"/>
                </a:solidFill>
              </a:rPr>
            </a:br>
            <a:r>
              <a:rPr lang="de-DE" sz="950" dirty="0">
                <a:solidFill>
                  <a:srgbClr val="64748B"/>
                </a:solidFill>
              </a:rPr>
              <a:t>Also, </a:t>
            </a:r>
            <a:r>
              <a:rPr lang="de-DE" sz="950" dirty="0" err="1">
                <a:solidFill>
                  <a:srgbClr val="64748B"/>
                </a:solidFill>
              </a:rPr>
              <a:t>mostly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too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low</a:t>
            </a:r>
            <a:r>
              <a:rPr lang="de-DE" sz="950" dirty="0">
                <a:solidFill>
                  <a:srgbClr val="64748B"/>
                </a:solidFill>
              </a:rPr>
              <a:t> </a:t>
            </a:r>
            <a:r>
              <a:rPr lang="de-DE" sz="950" dirty="0" err="1">
                <a:solidFill>
                  <a:srgbClr val="64748B"/>
                </a:solidFill>
              </a:rPr>
              <a:t>for</a:t>
            </a:r>
            <a:r>
              <a:rPr lang="de-DE" sz="950" dirty="0">
                <a:solidFill>
                  <a:srgbClr val="64748B"/>
                </a:solidFill>
              </a:rPr>
              <a:t> honest </a:t>
            </a:r>
            <a:r>
              <a:rPr lang="de-DE" sz="950" dirty="0" err="1">
                <a:solidFill>
                  <a:srgbClr val="64748B"/>
                </a:solidFill>
              </a:rPr>
              <a:t>clients</a:t>
            </a:r>
            <a:r>
              <a:rPr lang="de-DE" sz="950" dirty="0">
                <a:solidFill>
                  <a:srgbClr val="64748B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F6D2-9FD8-B7E2-7209-95CD644B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10AF4C-8A82-FD00-F8D2-91F0BE51A60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741E25-0B39-7197-334B-1307FC500FB5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FLTrust</a:t>
            </a:r>
            <a:r>
              <a:rPr lang="en-US" sz="2200" b="1" dirty="0">
                <a:solidFill>
                  <a:srgbClr val="FFFFFF"/>
                </a:solidFill>
              </a:rPr>
              <a:t> Trust Scores</a:t>
            </a:r>
            <a:endParaRPr lang="en-US" sz="22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A428EDF-342A-3F2F-0D75-85EEADBA58E7}"/>
              </a:ext>
            </a:extLst>
          </p:cNvPr>
          <p:cNvSpPr/>
          <p:nvPr/>
        </p:nvSpPr>
        <p:spPr>
          <a:xfrm>
            <a:off x="365760" y="1211580"/>
            <a:ext cx="8412480" cy="3154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b="1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2A76A0C-0ADC-EB03-F1C4-61A9CEF11B4D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Security and Privacy in Federated Learning  ·  Jonas Müller, Rebekka Schnoor</a:t>
            </a:r>
            <a:endParaRPr lang="en-US" sz="9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5E9BDD07-C7B6-D1F5-3015-8BF9D5A28166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Effect of differential privacy (ε budget) on model accuracy across training rounds.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9FF23F0-65CA-7658-756A-D72FC5DD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2" y="846779"/>
            <a:ext cx="5963194" cy="20382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8DEC022-7726-6386-7BAD-5810D631F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617" y="1380442"/>
            <a:ext cx="6446766" cy="28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5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Microsoft Office PowerPoint</Application>
  <PresentationFormat>On-screen Show (16:9)</PresentationFormat>
  <Paragraphs>199</Paragraphs>
  <Slides>19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Presentation - Privacy-Robustness-Performance Trilemma in FL</dc:title>
  <dc:subject>PptxGenJS Presentation</dc:subject>
  <dc:creator>Jonas Müller, Rebekka Schnoor</dc:creator>
  <cp:lastModifiedBy>Jonas Müller</cp:lastModifiedBy>
  <cp:revision>59</cp:revision>
  <dcterms:created xsi:type="dcterms:W3CDTF">2026-06-25T01:21:58Z</dcterms:created>
  <dcterms:modified xsi:type="dcterms:W3CDTF">2026-06-25T08:56:12Z</dcterms:modified>
</cp:coreProperties>
</file>