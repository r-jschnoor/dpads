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Folie mittels Klicken </a:t>
            </a: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verschieben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</a:t>
            </a: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Klicken bearbeiten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38C205B-F036-47DF-BCEB-E32DEB3EA435}" type="slidenum"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de-D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2D481A1-75C6-416A-92DB-B4620EC1FEB1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CDA6937-E355-49AA-B2B5-808E0702997D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EC4CA85-1191-41CD-9E2B-5D542CBEB6FD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1F8E664-578B-48A6-BFB9-E91FA85F76D6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8E94518-B9A3-4B5D-9A6F-40072FD4A892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A45B4C0-6F6D-4289-979A-E46F3D7F2649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7B330E3-BD15-4E69-B08B-008F1FB62775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488BBB5-3C96-402D-95A4-84550D0E3F07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B5A15B8-D0F5-4965-9279-2A6B32A7D40F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CF8F784-4517-407E-9CB9-28CA4F3915A6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7195EBA-0FA2-423C-A192-E407F40DF159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0FDA34F-DBB4-402D-B31E-0F1BE249143F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983DDE6-61F7-4F16-A7B9-D9A6A69C602E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3693472-F479-4FC7-8626-1471A19B69EE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FA2C931-ED53-4047-BFDE-E897328E613B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8ABC8B5-E365-4C09-A5F0-D533A22BEBD8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4A2FC16-2422-42CA-B888-769A83F490BA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09964B6-604D-498B-8B44-EF01BE733198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41EBE27-912D-4FD5-A51F-A733708C752D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&lt;Foliennummer&gt;</a:t>
            </a:fld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Format des Titeltextes </a:t>
            </a: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durch Klicken bearbeiten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b="0" lang="de-DE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Zweite Gliederungsebene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Dritte Gliederungsebene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Vierte Gliederungsebene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Fünfte Gliederungsebene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Sechste Gliederungsebene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Siebte Gliederungsebene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48640" y="100584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Intermediate Presentation</a:t>
            </a:r>
            <a:endParaRPr b="0" lang="de-D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48640" y="1417320"/>
            <a:ext cx="80463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1a2744"/>
                </a:solidFill>
                <a:effectLst/>
                <a:uFillTx/>
                <a:latin typeface="Calibri"/>
              </a:rPr>
              <a:t>Security and Privacy in</a:t>
            </a:r>
            <a:endParaRPr b="0" lang="de-DE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1a2744"/>
                </a:solidFill>
                <a:effectLst/>
                <a:uFillTx/>
                <a:latin typeface="Calibri"/>
              </a:rPr>
              <a:t>Federated Learning</a:t>
            </a:r>
            <a:endParaRPr b="0" lang="de-DE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48640" y="2971800"/>
            <a:ext cx="8046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Empirical Study of the Privacy-Robustness-Performance Trilemma</a:t>
            </a:r>
            <a:endParaRPr b="0" lang="de-DE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548640" y="3520440"/>
            <a:ext cx="8046360" cy="180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48640" y="3657600"/>
            <a:ext cx="8046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Jonas Müller  ·  Rebekka Schnoor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Master Project Seminar Data Protection and Data Security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Universität Hamburg  ·  25 June 2026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Text 1"/>
          <p:cNvSpPr/>
          <p:nvPr/>
        </p:nvSpPr>
        <p:spPr>
          <a:xfrm>
            <a:off x="365760" y="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Outline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2"/>
          <p:cNvSpPr/>
          <p:nvPr/>
        </p:nvSpPr>
        <p:spPr>
          <a:xfrm>
            <a:off x="359280" y="914400"/>
            <a:ext cx="2559960" cy="13712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Shape 3"/>
          <p:cNvSpPr/>
          <p:nvPr/>
        </p:nvSpPr>
        <p:spPr>
          <a:xfrm>
            <a:off x="523800" y="1078920"/>
            <a:ext cx="475200" cy="475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Text 4"/>
          <p:cNvSpPr/>
          <p:nvPr/>
        </p:nvSpPr>
        <p:spPr>
          <a:xfrm>
            <a:off x="523800" y="10789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01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5"/>
          <p:cNvSpPr/>
          <p:nvPr/>
        </p:nvSpPr>
        <p:spPr>
          <a:xfrm>
            <a:off x="1072440" y="1078920"/>
            <a:ext cx="169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a2744"/>
                </a:solidFill>
                <a:effectLst/>
                <a:uFillTx/>
                <a:latin typeface="Calibri"/>
              </a:rPr>
              <a:t>Accuracy Results</a:t>
            </a:r>
            <a:endParaRPr b="0" lang="de-D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6"/>
          <p:cNvSpPr/>
          <p:nvPr/>
        </p:nvSpPr>
        <p:spPr>
          <a:xfrm>
            <a:off x="523800" y="157284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Training convergence across configurations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7"/>
          <p:cNvSpPr/>
          <p:nvPr/>
        </p:nvSpPr>
        <p:spPr>
          <a:xfrm>
            <a:off x="3331080" y="914400"/>
            <a:ext cx="2559960" cy="13712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Shape 8"/>
          <p:cNvSpPr/>
          <p:nvPr/>
        </p:nvSpPr>
        <p:spPr>
          <a:xfrm>
            <a:off x="3495600" y="1078920"/>
            <a:ext cx="475200" cy="475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Text 9"/>
          <p:cNvSpPr/>
          <p:nvPr/>
        </p:nvSpPr>
        <p:spPr>
          <a:xfrm>
            <a:off x="3495600" y="10789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02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0"/>
          <p:cNvSpPr/>
          <p:nvPr/>
        </p:nvSpPr>
        <p:spPr>
          <a:xfrm>
            <a:off x="4044240" y="1078920"/>
            <a:ext cx="169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a2744"/>
                </a:solidFill>
                <a:effectLst/>
                <a:uFillTx/>
                <a:latin typeface="Calibri"/>
              </a:rPr>
              <a:t>Privacy–Performance Tradeoff (DP-SGD)</a:t>
            </a:r>
            <a:endParaRPr b="0" lang="de-D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1"/>
          <p:cNvSpPr/>
          <p:nvPr/>
        </p:nvSpPr>
        <p:spPr>
          <a:xfrm>
            <a:off x="3495600" y="157284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Showing Privacy vs Performance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2"/>
          <p:cNvSpPr/>
          <p:nvPr/>
        </p:nvSpPr>
        <p:spPr>
          <a:xfrm>
            <a:off x="6302880" y="914400"/>
            <a:ext cx="2559960" cy="13712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Shape 13"/>
          <p:cNvSpPr/>
          <p:nvPr/>
        </p:nvSpPr>
        <p:spPr>
          <a:xfrm>
            <a:off x="6467400" y="1078920"/>
            <a:ext cx="475200" cy="475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Text 14"/>
          <p:cNvSpPr/>
          <p:nvPr/>
        </p:nvSpPr>
        <p:spPr>
          <a:xfrm>
            <a:off x="6467400" y="10789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03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5"/>
          <p:cNvSpPr/>
          <p:nvPr/>
        </p:nvSpPr>
        <p:spPr>
          <a:xfrm>
            <a:off x="7016040" y="1078920"/>
            <a:ext cx="169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1a2744"/>
                </a:solidFill>
                <a:effectLst/>
                <a:uFillTx/>
                <a:latin typeface="Calibri"/>
              </a:rPr>
              <a:t>Trilemma Overview</a:t>
            </a:r>
            <a:endParaRPr b="0" lang="de-D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6"/>
          <p:cNvSpPr/>
          <p:nvPr/>
        </p:nvSpPr>
        <p:spPr>
          <a:xfrm>
            <a:off x="6467400" y="157284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de-DE" sz="10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O</a:t>
            </a: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verview over the results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7"/>
          <p:cNvSpPr/>
          <p:nvPr/>
        </p:nvSpPr>
        <p:spPr>
          <a:xfrm>
            <a:off x="359280" y="2651760"/>
            <a:ext cx="2559960" cy="13712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Shape 18"/>
          <p:cNvSpPr/>
          <p:nvPr/>
        </p:nvSpPr>
        <p:spPr>
          <a:xfrm>
            <a:off x="523800" y="2816280"/>
            <a:ext cx="475200" cy="475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Text 19"/>
          <p:cNvSpPr/>
          <p:nvPr/>
        </p:nvSpPr>
        <p:spPr>
          <a:xfrm>
            <a:off x="523800" y="28162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04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0"/>
          <p:cNvSpPr/>
          <p:nvPr/>
        </p:nvSpPr>
        <p:spPr>
          <a:xfrm>
            <a:off x="1072440" y="2816280"/>
            <a:ext cx="169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a2744"/>
                </a:solidFill>
                <a:effectLst/>
                <a:uFillTx/>
                <a:latin typeface="Calibri"/>
              </a:rPr>
              <a:t>Intermediate Evaluation</a:t>
            </a:r>
            <a:endParaRPr b="0" lang="de-D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1"/>
          <p:cNvSpPr/>
          <p:nvPr/>
        </p:nvSpPr>
        <p:spPr>
          <a:xfrm>
            <a:off x="523800" y="331020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Some intermediate results explained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2"/>
          <p:cNvSpPr/>
          <p:nvPr/>
        </p:nvSpPr>
        <p:spPr>
          <a:xfrm>
            <a:off x="3331080" y="2651760"/>
            <a:ext cx="2559960" cy="13712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Shape 23"/>
          <p:cNvSpPr/>
          <p:nvPr/>
        </p:nvSpPr>
        <p:spPr>
          <a:xfrm>
            <a:off x="3495600" y="2816280"/>
            <a:ext cx="475200" cy="475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Text 24"/>
          <p:cNvSpPr/>
          <p:nvPr/>
        </p:nvSpPr>
        <p:spPr>
          <a:xfrm>
            <a:off x="3495600" y="28162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05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5"/>
          <p:cNvSpPr/>
          <p:nvPr/>
        </p:nvSpPr>
        <p:spPr>
          <a:xfrm>
            <a:off x="4044240" y="2816280"/>
            <a:ext cx="169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300" strike="noStrike" u="none">
                <a:solidFill>
                  <a:srgbClr val="1a2744"/>
                </a:solidFill>
                <a:effectLst/>
                <a:uFillTx/>
                <a:latin typeface="Calibri"/>
              </a:rPr>
              <a:t>Challenges &amp; Next Steps</a:t>
            </a:r>
            <a:endParaRPr b="0" lang="de-D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6"/>
          <p:cNvSpPr/>
          <p:nvPr/>
        </p:nvSpPr>
        <p:spPr>
          <a:xfrm>
            <a:off x="3495600" y="331020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Stoppers and TODOs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2"/>
          <p:cNvSpPr/>
          <p:nvPr/>
        </p:nvSpPr>
        <p:spPr>
          <a:xfrm>
            <a:off x="274320" y="489204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Security and Privacy in Federated Learning  ·  Jonas Müller, Rebekka Schnoor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Text 1"/>
          <p:cNvSpPr/>
          <p:nvPr/>
        </p:nvSpPr>
        <p:spPr>
          <a:xfrm>
            <a:off x="365760" y="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Accuracy Results – Training Convergence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Training accuracy and loss over communication rounds for all 8 configurations.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4"/>
          <p:cNvSpPr/>
          <p:nvPr/>
        </p:nvSpPr>
        <p:spPr>
          <a:xfrm>
            <a:off x="365760" y="1143000"/>
            <a:ext cx="84121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28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📊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3a6e"/>
                </a:solidFill>
                <a:effectLst/>
                <a:uFillTx/>
                <a:latin typeface="Calibri"/>
              </a:rPr>
              <a:t>Accuracy &amp; Loss per Round – All Configs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Insert plot here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5"/>
          <p:cNvSpPr/>
          <p:nvPr/>
        </p:nvSpPr>
        <p:spPr>
          <a:xfrm>
            <a:off x="274320" y="489204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Security and Privacy in Federated Learning  ·  Jonas Müller, Rebekka Schnoor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Picture 7" descr=""/>
          <p:cNvPicPr/>
          <p:nvPr/>
        </p:nvPicPr>
        <p:blipFill>
          <a:blip r:embed="rId1"/>
          <a:stretch/>
        </p:blipFill>
        <p:spPr>
          <a:xfrm>
            <a:off x="0" y="1497960"/>
            <a:ext cx="7478280" cy="272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Shape 5"/>
          <p:cNvSpPr/>
          <p:nvPr/>
        </p:nvSpPr>
        <p:spPr>
          <a:xfrm>
            <a:off x="7214040" y="3108960"/>
            <a:ext cx="1828440" cy="162612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Text 6"/>
          <p:cNvSpPr/>
          <p:nvPr/>
        </p:nvSpPr>
        <p:spPr>
          <a:xfrm>
            <a:off x="7251120" y="3170880"/>
            <a:ext cx="165420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744"/>
                </a:solidFill>
                <a:effectLst/>
                <a:uFillTx/>
                <a:latin typeface="Calibri"/>
              </a:rPr>
              <a:t>Configurations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7"/>
          <p:cNvSpPr/>
          <p:nvPr/>
        </p:nvSpPr>
        <p:spPr>
          <a:xfrm>
            <a:off x="7251120" y="3304800"/>
            <a:ext cx="1654200" cy="14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9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1: Baseline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9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2: DP only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9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3: FLTrust only (label-flip)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9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4: Top-k only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9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5: DP + FL Trust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9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6: DP + Top-k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9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7: FLTrust + Top-k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900" strike="noStrike" u="none">
                <a:solidFill>
                  <a:srgbClr val="1e293b"/>
                </a:solidFill>
                <a:effectLst/>
                <a:uFillTx/>
                <a:latin typeface="Calibri"/>
              </a:rPr>
              <a:t>8: Full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5"/>
          <p:cNvSpPr/>
          <p:nvPr/>
        </p:nvSpPr>
        <p:spPr>
          <a:xfrm>
            <a:off x="7451280" y="1523880"/>
            <a:ext cx="1575720" cy="140148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Text 6"/>
          <p:cNvSpPr/>
          <p:nvPr/>
        </p:nvSpPr>
        <p:spPr>
          <a:xfrm>
            <a:off x="7488360" y="1585800"/>
            <a:ext cx="142560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744"/>
                </a:solidFill>
                <a:effectLst/>
                <a:uFillTx/>
                <a:latin typeface="Calibri"/>
              </a:rPr>
              <a:t>Parameters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7"/>
          <p:cNvSpPr/>
          <p:nvPr/>
        </p:nvSpPr>
        <p:spPr>
          <a:xfrm>
            <a:off x="7488360" y="1720080"/>
            <a:ext cx="1425600" cy="12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9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3" name="Picture 22" descr=""/>
          <p:cNvPicPr/>
          <p:nvPr/>
        </p:nvPicPr>
        <p:blipFill>
          <a:blip r:embed="rId2"/>
          <a:srcRect l="0" t="0" r="42365" b="0"/>
          <a:stretch/>
        </p:blipFill>
        <p:spPr>
          <a:xfrm>
            <a:off x="7548840" y="1829880"/>
            <a:ext cx="1380960" cy="916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Text 1"/>
          <p:cNvSpPr/>
          <p:nvPr/>
        </p:nvSpPr>
        <p:spPr>
          <a:xfrm>
            <a:off x="365760" y="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Accuracy Results – Training Convergence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Training accuracy and loss over communication rounds for all 8 configurations.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365760" y="1143000"/>
            <a:ext cx="84121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28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📊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3a6e"/>
                </a:solidFill>
                <a:effectLst/>
                <a:uFillTx/>
                <a:latin typeface="Calibri"/>
              </a:rPr>
              <a:t>Accuracy &amp; Loss per Round – All Configs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Insert plot here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274320" y="489204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Security and Privacy in Federated Learning  ·  Jonas Müller, Rebekka Schnoor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Picture 10" descr=""/>
          <p:cNvPicPr/>
          <p:nvPr/>
        </p:nvPicPr>
        <p:blipFill>
          <a:blip r:embed="rId1"/>
          <a:stretch/>
        </p:blipFill>
        <p:spPr>
          <a:xfrm>
            <a:off x="0" y="1463040"/>
            <a:ext cx="9143640" cy="2884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 1"/>
          <p:cNvSpPr/>
          <p:nvPr/>
        </p:nvSpPr>
        <p:spPr>
          <a:xfrm>
            <a:off x="365760" y="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Accuracy Results – Training Convergence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Training accuracy and loss over communication rounds.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4"/>
          <p:cNvSpPr/>
          <p:nvPr/>
        </p:nvSpPr>
        <p:spPr>
          <a:xfrm>
            <a:off x="365760" y="1143000"/>
            <a:ext cx="84121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28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📊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3a6e"/>
                </a:solidFill>
                <a:effectLst/>
                <a:uFillTx/>
                <a:latin typeface="Calibri"/>
              </a:rPr>
              <a:t>Accuracy &amp; Loss per Round – All Configs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Insert plot here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5"/>
          <p:cNvSpPr/>
          <p:nvPr/>
        </p:nvSpPr>
        <p:spPr>
          <a:xfrm>
            <a:off x="274320" y="489204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Security and Privacy in Federated Learning  ·  Jonas Müller, Rebekka Schnoor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Picture 12" descr=""/>
          <p:cNvPicPr/>
          <p:nvPr/>
        </p:nvPicPr>
        <p:blipFill>
          <a:blip r:embed="rId1"/>
          <a:stretch/>
        </p:blipFill>
        <p:spPr>
          <a:xfrm>
            <a:off x="0" y="1154160"/>
            <a:ext cx="9143640" cy="2835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 1"/>
          <p:cNvSpPr/>
          <p:nvPr/>
        </p:nvSpPr>
        <p:spPr>
          <a:xfrm>
            <a:off x="365760" y="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Accuracy Results – Training Convergence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Training accuracy and loss over communication rounds.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4"/>
          <p:cNvSpPr/>
          <p:nvPr/>
        </p:nvSpPr>
        <p:spPr>
          <a:xfrm>
            <a:off x="365760" y="1143000"/>
            <a:ext cx="84121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28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📊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3a6e"/>
                </a:solidFill>
                <a:effectLst/>
                <a:uFillTx/>
                <a:latin typeface="Calibri"/>
              </a:rPr>
              <a:t>Accuracy &amp; Loss per Round – All Configs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Insert plot here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5"/>
          <p:cNvSpPr/>
          <p:nvPr/>
        </p:nvSpPr>
        <p:spPr>
          <a:xfrm>
            <a:off x="274320" y="489204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Security and Privacy in Federated Learning  ·  Jonas Müller, Rebekka Schnoor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Picture 7" descr=""/>
          <p:cNvPicPr/>
          <p:nvPr/>
        </p:nvPicPr>
        <p:blipFill>
          <a:blip r:embed="rId1"/>
          <a:stretch/>
        </p:blipFill>
        <p:spPr>
          <a:xfrm>
            <a:off x="0" y="1143000"/>
            <a:ext cx="9143640" cy="3293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 1"/>
          <p:cNvSpPr/>
          <p:nvPr/>
        </p:nvSpPr>
        <p:spPr>
          <a:xfrm>
            <a:off x="365760" y="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Privacy–Performance Tradeoff (DP-SGD)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0" i="1" lang="en-US" sz="11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Effect of differential privacy (ε budget) on model accuracy across training rounds.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4"/>
          <p:cNvSpPr/>
          <p:nvPr/>
        </p:nvSpPr>
        <p:spPr>
          <a:xfrm>
            <a:off x="365760" y="1143000"/>
            <a:ext cx="84121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28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📊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3a6e"/>
                </a:solidFill>
                <a:effectLst/>
                <a:uFillTx/>
                <a:latin typeface="Calibri"/>
              </a:rPr>
              <a:t>Accuracy &amp; Loss per Round – All Configs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Insert plot here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5"/>
          <p:cNvSpPr/>
          <p:nvPr/>
        </p:nvSpPr>
        <p:spPr>
          <a:xfrm>
            <a:off x="274320" y="489204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Security and Privacy in Federated Learning  ·  Jonas Müller, Rebekka Schnoor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Picture 7" descr=""/>
          <p:cNvPicPr/>
          <p:nvPr/>
        </p:nvPicPr>
        <p:blipFill>
          <a:blip r:embed="rId1"/>
          <a:stretch/>
        </p:blipFill>
        <p:spPr>
          <a:xfrm>
            <a:off x="124200" y="1188720"/>
            <a:ext cx="4871880" cy="151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Picture 9" descr=""/>
          <p:cNvPicPr/>
          <p:nvPr/>
        </p:nvPicPr>
        <p:blipFill>
          <a:blip r:embed="rId2"/>
          <a:stretch/>
        </p:blipFill>
        <p:spPr>
          <a:xfrm>
            <a:off x="2160" y="1192680"/>
            <a:ext cx="9139680" cy="3018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 1"/>
          <p:cNvSpPr/>
          <p:nvPr/>
        </p:nvSpPr>
        <p:spPr>
          <a:xfrm>
            <a:off x="365760" y="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Privacy–Performance Tradeoff (DP-SGD)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Effect of differential privacy (ε budget) on model accuracy across training rounds.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3"/>
          <p:cNvSpPr/>
          <p:nvPr/>
        </p:nvSpPr>
        <p:spPr>
          <a:xfrm>
            <a:off x="365760" y="1143000"/>
            <a:ext cx="4023000" cy="3382920"/>
          </a:xfrm>
          <a:prstGeom prst="rect">
            <a:avLst/>
          </a:prstGeom>
          <a:solidFill>
            <a:srgbClr val="e8f4fd"/>
          </a:solidFill>
          <a:ln w="19050">
            <a:solidFill>
              <a:srgbClr val="0ea5e9"/>
            </a:solidFill>
            <a:prstDash val="dash"/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 4"/>
          <p:cNvSpPr/>
          <p:nvPr/>
        </p:nvSpPr>
        <p:spPr>
          <a:xfrm>
            <a:off x="365760" y="1143000"/>
            <a:ext cx="402300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28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📊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3a6e"/>
                </a:solidFill>
                <a:effectLst/>
                <a:uFillTx/>
                <a:latin typeface="Calibri"/>
              </a:rPr>
              <a:t>DP vs. No-DP: Accuracy over Rounds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Insert plot here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5"/>
          <p:cNvSpPr/>
          <p:nvPr/>
        </p:nvSpPr>
        <p:spPr>
          <a:xfrm>
            <a:off x="4754880" y="1143000"/>
            <a:ext cx="4023000" cy="3382920"/>
          </a:xfrm>
          <a:prstGeom prst="rect">
            <a:avLst/>
          </a:prstGeom>
          <a:solidFill>
            <a:srgbClr val="e8f4fd"/>
          </a:solidFill>
          <a:ln w="19050">
            <a:solidFill>
              <a:srgbClr val="0ea5e9"/>
            </a:solidFill>
            <a:prstDash val="dash"/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 6"/>
          <p:cNvSpPr/>
          <p:nvPr/>
        </p:nvSpPr>
        <p:spPr>
          <a:xfrm>
            <a:off x="4754880" y="1143000"/>
            <a:ext cx="402300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28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📊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3a6e"/>
                </a:solidFill>
                <a:effectLst/>
                <a:uFillTx/>
                <a:latin typeface="Calibri"/>
              </a:rPr>
              <a:t>Privacy Budget (ε) Accumulation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Insert plot here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274320" y="489204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Security and Privacy in Federated Learning  ·  Jonas Müller, Rebekka Schnoor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 1"/>
          <p:cNvSpPr/>
          <p:nvPr/>
        </p:nvSpPr>
        <p:spPr>
          <a:xfrm>
            <a:off x="365760" y="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Robustness Results – FLTrust vs. Label-Flip Attack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FLTrust aggregation defending against malicious clients performing label-flip attacks.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3"/>
          <p:cNvSpPr/>
          <p:nvPr/>
        </p:nvSpPr>
        <p:spPr>
          <a:xfrm>
            <a:off x="365760" y="1143000"/>
            <a:ext cx="4023000" cy="3382920"/>
          </a:xfrm>
          <a:prstGeom prst="rect">
            <a:avLst/>
          </a:prstGeom>
          <a:solidFill>
            <a:srgbClr val="e8f4fd"/>
          </a:solidFill>
          <a:ln w="19050">
            <a:solidFill>
              <a:srgbClr val="0ea5e9"/>
            </a:solidFill>
            <a:prstDash val="dash"/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 4"/>
          <p:cNvSpPr/>
          <p:nvPr/>
        </p:nvSpPr>
        <p:spPr>
          <a:xfrm>
            <a:off x="365760" y="1143000"/>
            <a:ext cx="402300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28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📊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3a6e"/>
                </a:solidFill>
                <a:effectLst/>
                <a:uFillTx/>
                <a:latin typeface="Calibri"/>
              </a:rPr>
              <a:t>Accuracy: Baseline vs. Attack vs. FLTrust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Insert plot here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5"/>
          <p:cNvSpPr/>
          <p:nvPr/>
        </p:nvSpPr>
        <p:spPr>
          <a:xfrm>
            <a:off x="4754880" y="1143000"/>
            <a:ext cx="4023000" cy="3382920"/>
          </a:xfrm>
          <a:prstGeom prst="rect">
            <a:avLst/>
          </a:prstGeom>
          <a:solidFill>
            <a:srgbClr val="e8f4fd"/>
          </a:solidFill>
          <a:ln w="19050">
            <a:solidFill>
              <a:srgbClr val="0ea5e9"/>
            </a:solidFill>
            <a:prstDash val="dash"/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 6"/>
          <p:cNvSpPr/>
          <p:nvPr/>
        </p:nvSpPr>
        <p:spPr>
          <a:xfrm>
            <a:off x="4754880" y="1143000"/>
            <a:ext cx="402300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28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📊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3a6e"/>
                </a:solidFill>
                <a:effectLst/>
                <a:uFillTx/>
                <a:latin typeface="Calibri"/>
              </a:rPr>
              <a:t>Per-Class F1 Score Comparison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Insert plot here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7"/>
          <p:cNvSpPr/>
          <p:nvPr/>
        </p:nvSpPr>
        <p:spPr>
          <a:xfrm>
            <a:off x="274320" y="489204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Security and Privacy in Federated Learning  ·  Jonas Müller, Rebekka Schnoor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 1"/>
          <p:cNvSpPr/>
          <p:nvPr/>
        </p:nvSpPr>
        <p:spPr>
          <a:xfrm>
            <a:off x="365760" y="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Compression Results – Top-k Gradient Sparsification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Top-k compression retains only the k% largest gradient values per round.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3"/>
          <p:cNvSpPr/>
          <p:nvPr/>
        </p:nvSpPr>
        <p:spPr>
          <a:xfrm>
            <a:off x="365760" y="1143000"/>
            <a:ext cx="4023000" cy="3382920"/>
          </a:xfrm>
          <a:prstGeom prst="rect">
            <a:avLst/>
          </a:prstGeom>
          <a:solidFill>
            <a:srgbClr val="e8f4fd"/>
          </a:solidFill>
          <a:ln w="19050">
            <a:solidFill>
              <a:srgbClr val="0ea5e9"/>
            </a:solidFill>
            <a:prstDash val="dash"/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 4"/>
          <p:cNvSpPr/>
          <p:nvPr/>
        </p:nvSpPr>
        <p:spPr>
          <a:xfrm>
            <a:off x="365760" y="1143000"/>
            <a:ext cx="402300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28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📊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3a6e"/>
                </a:solidFill>
                <a:effectLst/>
                <a:uFillTx/>
                <a:latin typeface="Calibri"/>
              </a:rPr>
              <a:t>Accuracy: Full vs. Top-k Compressed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Insert plot here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5"/>
          <p:cNvSpPr/>
          <p:nvPr/>
        </p:nvSpPr>
        <p:spPr>
          <a:xfrm>
            <a:off x="4754880" y="1143000"/>
            <a:ext cx="4023000" cy="3382920"/>
          </a:xfrm>
          <a:prstGeom prst="rect">
            <a:avLst/>
          </a:prstGeom>
          <a:solidFill>
            <a:srgbClr val="e8f4fd"/>
          </a:solidFill>
          <a:ln w="19050">
            <a:solidFill>
              <a:srgbClr val="0ea5e9"/>
            </a:solidFill>
            <a:prstDash val="dash"/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4754880" y="1143000"/>
            <a:ext cx="402300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28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📊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3a6e"/>
                </a:solidFill>
                <a:effectLst/>
                <a:uFillTx/>
                <a:latin typeface="Calibri"/>
              </a:rPr>
              <a:t>Loss Convergence Rate Comparison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Insert plot here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274320" y="489204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Security and Privacy in Federated Learning  ·  Jonas Müller, Rebekka Schnoor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365760" y="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Trilemma Overview – All 8 Configurations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Radar charts summarising the privacy–robustness–performance balance per configuration.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4"/>
          <p:cNvSpPr/>
          <p:nvPr/>
        </p:nvSpPr>
        <p:spPr>
          <a:xfrm>
            <a:off x="365760" y="1143000"/>
            <a:ext cx="530316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28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📊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3a6e"/>
                </a:solidFill>
                <a:effectLst/>
                <a:uFillTx/>
                <a:latin typeface="Calibri"/>
              </a:rPr>
              <a:t>Radar Chart – Privacy / Robustness / Performance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Insert plot here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6"/>
          <p:cNvSpPr/>
          <p:nvPr/>
        </p:nvSpPr>
        <p:spPr>
          <a:xfrm>
            <a:off x="6400800" y="11448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744"/>
                </a:solidFill>
                <a:effectLst/>
                <a:uFillTx/>
                <a:latin typeface="Calibri"/>
              </a:rPr>
              <a:t>Configurations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8"/>
          <p:cNvSpPr/>
          <p:nvPr/>
        </p:nvSpPr>
        <p:spPr>
          <a:xfrm>
            <a:off x="274320" y="489204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Security and Privacy in Federated Learning  ·  Jonas Müller, Rebekka Schnoor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Picture 11" descr=""/>
          <p:cNvPicPr/>
          <p:nvPr/>
        </p:nvPicPr>
        <p:blipFill>
          <a:blip r:embed="rId1"/>
          <a:stretch/>
        </p:blipFill>
        <p:spPr>
          <a:xfrm>
            <a:off x="424440" y="685800"/>
            <a:ext cx="8164080" cy="4263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365760" y="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Trilemma Overview – All 8 Configurations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Analysis of Trilemma Radar Chart.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4"/>
          <p:cNvSpPr/>
          <p:nvPr/>
        </p:nvSpPr>
        <p:spPr>
          <a:xfrm>
            <a:off x="365760" y="1143000"/>
            <a:ext cx="402300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28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📊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3a6e"/>
                </a:solidFill>
                <a:effectLst/>
                <a:uFillTx/>
                <a:latin typeface="Calibri"/>
              </a:rPr>
              <a:t>Accuracy: Full vs. Top-k Compressed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Insert plot here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7"/>
          <p:cNvSpPr/>
          <p:nvPr/>
        </p:nvSpPr>
        <p:spPr>
          <a:xfrm>
            <a:off x="274320" y="489204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Security and Privacy in Federated Learning  ·  Jonas Müller, Rebekka Schnoor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4"/>
          <p:cNvSpPr/>
          <p:nvPr/>
        </p:nvSpPr>
        <p:spPr>
          <a:xfrm>
            <a:off x="365760" y="1143000"/>
            <a:ext cx="4023000" cy="33829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Picture 14" descr=""/>
          <p:cNvPicPr/>
          <p:nvPr/>
        </p:nvPicPr>
        <p:blipFill>
          <a:blip r:embed="rId1"/>
          <a:stretch/>
        </p:blipFill>
        <p:spPr>
          <a:xfrm>
            <a:off x="5153400" y="1042200"/>
            <a:ext cx="3369960" cy="358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9"/>
          <p:cNvSpPr/>
          <p:nvPr/>
        </p:nvSpPr>
        <p:spPr>
          <a:xfrm>
            <a:off x="529200" y="1357560"/>
            <a:ext cx="315432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Some Takeaways</a:t>
            </a:r>
            <a:endParaRPr b="0" lang="de-DE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0"/>
          <p:cNvSpPr/>
          <p:nvPr/>
        </p:nvSpPr>
        <p:spPr>
          <a:xfrm>
            <a:off x="529200" y="1851840"/>
            <a:ext cx="3219480" cy="15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2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- Overall decent scores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2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- Tradeoffs visible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2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- Privacy 100 % is hard (+ FLTrust issue)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 1"/>
          <p:cNvSpPr/>
          <p:nvPr/>
        </p:nvSpPr>
        <p:spPr>
          <a:xfrm>
            <a:off x="365760" y="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Intermediate Evaluation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 6"/>
          <p:cNvSpPr/>
          <p:nvPr/>
        </p:nvSpPr>
        <p:spPr>
          <a:xfrm>
            <a:off x="6400800" y="11448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744"/>
                </a:solidFill>
                <a:effectLst/>
                <a:uFillTx/>
                <a:latin typeface="Calibri"/>
              </a:rPr>
              <a:t>Configurations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8"/>
          <p:cNvSpPr/>
          <p:nvPr/>
        </p:nvSpPr>
        <p:spPr>
          <a:xfrm>
            <a:off x="274320" y="489204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Security and Privacy in Federated Learning  ·  Jonas Müller, Rebekka Schnoor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Picture 5" descr=""/>
          <p:cNvPicPr/>
          <p:nvPr/>
        </p:nvPicPr>
        <p:blipFill>
          <a:blip r:embed="rId1"/>
          <a:stretch/>
        </p:blipFill>
        <p:spPr>
          <a:xfrm>
            <a:off x="274320" y="685800"/>
            <a:ext cx="8595000" cy="4248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 1"/>
          <p:cNvSpPr/>
          <p:nvPr/>
        </p:nvSpPr>
        <p:spPr>
          <a:xfrm>
            <a:off x="365760" y="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Intermediate Evaluation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 6"/>
          <p:cNvSpPr/>
          <p:nvPr/>
        </p:nvSpPr>
        <p:spPr>
          <a:xfrm>
            <a:off x="6400800" y="11448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744"/>
                </a:solidFill>
                <a:effectLst/>
                <a:uFillTx/>
                <a:latin typeface="Calibri"/>
              </a:rPr>
              <a:t>Configurations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8"/>
          <p:cNvSpPr/>
          <p:nvPr/>
        </p:nvSpPr>
        <p:spPr>
          <a:xfrm>
            <a:off x="274320" y="489204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Security and Privacy in Federated Learning  ·  Jonas Müller, Rebekka Schnoor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Picture 5" descr=""/>
          <p:cNvPicPr/>
          <p:nvPr/>
        </p:nvPicPr>
        <p:blipFill>
          <a:blip r:embed="rId1"/>
          <a:stretch/>
        </p:blipFill>
        <p:spPr>
          <a:xfrm>
            <a:off x="274320" y="685800"/>
            <a:ext cx="8595000" cy="424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Rectangle 6"/>
          <p:cNvSpPr/>
          <p:nvPr/>
        </p:nvSpPr>
        <p:spPr>
          <a:xfrm>
            <a:off x="2441880" y="3907800"/>
            <a:ext cx="1951200" cy="167040"/>
          </a:xfrm>
          <a:prstGeom prst="rect">
            <a:avLst/>
          </a:prstGeom>
          <a:noFill/>
          <a:ln w="28575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accent2"/>
              </a:solidFill>
              <a:effectLst/>
              <a:uFillTx/>
              <a:latin typeface="Calibri"/>
            </a:endParaRPr>
          </a:p>
        </p:txBody>
      </p:sp>
      <p:sp>
        <p:nvSpPr>
          <p:cNvPr id="132" name="Rectangle 10"/>
          <p:cNvSpPr/>
          <p:nvPr/>
        </p:nvSpPr>
        <p:spPr>
          <a:xfrm>
            <a:off x="3417480" y="3007800"/>
            <a:ext cx="180000" cy="1812960"/>
          </a:xfrm>
          <a:prstGeom prst="rect">
            <a:avLst/>
          </a:prstGeom>
          <a:noFill/>
          <a:ln w="28575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accent2"/>
              </a:solidFill>
              <a:effectLst/>
              <a:uFillTx/>
              <a:latin typeface="Calibri"/>
            </a:endParaRPr>
          </a:p>
        </p:txBody>
      </p:sp>
      <p:sp>
        <p:nvSpPr>
          <p:cNvPr id="133" name="Rectangle 12"/>
          <p:cNvSpPr/>
          <p:nvPr/>
        </p:nvSpPr>
        <p:spPr>
          <a:xfrm>
            <a:off x="6725160" y="3901320"/>
            <a:ext cx="1951200" cy="167040"/>
          </a:xfrm>
          <a:prstGeom prst="rect">
            <a:avLst/>
          </a:prstGeom>
          <a:noFill/>
          <a:ln w="28575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accent2"/>
              </a:solidFill>
              <a:effectLst/>
              <a:uFillTx/>
              <a:latin typeface="Calibri"/>
            </a:endParaRPr>
          </a:p>
        </p:txBody>
      </p:sp>
      <p:sp>
        <p:nvSpPr>
          <p:cNvPr id="134" name="Rectangle 14"/>
          <p:cNvSpPr/>
          <p:nvPr/>
        </p:nvSpPr>
        <p:spPr>
          <a:xfrm>
            <a:off x="7700760" y="3001320"/>
            <a:ext cx="180000" cy="1812960"/>
          </a:xfrm>
          <a:prstGeom prst="rect">
            <a:avLst/>
          </a:prstGeom>
          <a:noFill/>
          <a:ln w="28575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accent2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16"/>
          <p:cNvSpPr/>
          <p:nvPr/>
        </p:nvSpPr>
        <p:spPr>
          <a:xfrm>
            <a:off x="2441880" y="1875960"/>
            <a:ext cx="1951200" cy="167040"/>
          </a:xfrm>
          <a:prstGeom prst="rect">
            <a:avLst/>
          </a:prstGeom>
          <a:noFill/>
          <a:ln w="28575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accent2"/>
              </a:solidFill>
              <a:effectLst/>
              <a:uFillTx/>
              <a:latin typeface="Calibri"/>
            </a:endParaRPr>
          </a:p>
        </p:txBody>
      </p:sp>
      <p:sp>
        <p:nvSpPr>
          <p:cNvPr id="136" name="Rectangle 18"/>
          <p:cNvSpPr/>
          <p:nvPr/>
        </p:nvSpPr>
        <p:spPr>
          <a:xfrm>
            <a:off x="3417480" y="975600"/>
            <a:ext cx="180000" cy="1812960"/>
          </a:xfrm>
          <a:prstGeom prst="rect">
            <a:avLst/>
          </a:prstGeom>
          <a:noFill/>
          <a:ln w="28575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accent2"/>
              </a:solidFill>
              <a:effectLst/>
              <a:uFillTx/>
              <a:latin typeface="Calibri"/>
            </a:endParaRPr>
          </a:p>
        </p:txBody>
      </p:sp>
      <p:sp>
        <p:nvSpPr>
          <p:cNvPr id="137" name="Rectangle 20"/>
          <p:cNvSpPr/>
          <p:nvPr/>
        </p:nvSpPr>
        <p:spPr>
          <a:xfrm>
            <a:off x="297000" y="3894840"/>
            <a:ext cx="1951200" cy="167040"/>
          </a:xfrm>
          <a:prstGeom prst="rect">
            <a:avLst/>
          </a:prstGeom>
          <a:noFill/>
          <a:ln w="28575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accent2"/>
              </a:solidFill>
              <a:effectLst/>
              <a:uFillTx/>
              <a:latin typeface="Calibri"/>
            </a:endParaRPr>
          </a:p>
        </p:txBody>
      </p:sp>
      <p:sp>
        <p:nvSpPr>
          <p:cNvPr id="138" name="Rectangle 22"/>
          <p:cNvSpPr/>
          <p:nvPr/>
        </p:nvSpPr>
        <p:spPr>
          <a:xfrm>
            <a:off x="1272960" y="2994840"/>
            <a:ext cx="180000" cy="1812960"/>
          </a:xfrm>
          <a:prstGeom prst="rect">
            <a:avLst/>
          </a:prstGeom>
          <a:noFill/>
          <a:ln w="28575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accent2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 1"/>
          <p:cNvSpPr/>
          <p:nvPr/>
        </p:nvSpPr>
        <p:spPr>
          <a:xfrm>
            <a:off x="365760" y="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Intermediate Evaluation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 6"/>
          <p:cNvSpPr/>
          <p:nvPr/>
        </p:nvSpPr>
        <p:spPr>
          <a:xfrm>
            <a:off x="6400800" y="11448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744"/>
                </a:solidFill>
                <a:effectLst/>
                <a:uFillTx/>
                <a:latin typeface="Calibri"/>
              </a:rPr>
              <a:t>Configurations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8"/>
          <p:cNvSpPr/>
          <p:nvPr/>
        </p:nvSpPr>
        <p:spPr>
          <a:xfrm>
            <a:off x="274320" y="489204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Security and Privacy in Federated Learning  ·  Jonas Müller, Rebekka Schnoor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Picture 5" descr=""/>
          <p:cNvPicPr/>
          <p:nvPr/>
        </p:nvPicPr>
        <p:blipFill>
          <a:blip r:embed="rId1"/>
          <a:stretch/>
        </p:blipFill>
        <p:spPr>
          <a:xfrm>
            <a:off x="0" y="585720"/>
            <a:ext cx="9143640" cy="3971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365760" y="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Intermediate Evaluation – Config 1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365760" y="1143000"/>
            <a:ext cx="530316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28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📊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3a6e"/>
                </a:solidFill>
                <a:effectLst/>
                <a:uFillTx/>
                <a:latin typeface="Calibri"/>
              </a:rPr>
              <a:t>Radar Chart – Privacy / Robustness / Performance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Insert plot here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6"/>
          <p:cNvSpPr/>
          <p:nvPr/>
        </p:nvSpPr>
        <p:spPr>
          <a:xfrm>
            <a:off x="6400800" y="11448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744"/>
                </a:solidFill>
                <a:effectLst/>
                <a:uFillTx/>
                <a:latin typeface="Calibri"/>
              </a:rPr>
              <a:t>Configurations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8"/>
          <p:cNvSpPr/>
          <p:nvPr/>
        </p:nvSpPr>
        <p:spPr>
          <a:xfrm>
            <a:off x="274320" y="489204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Security and Privacy in Federated Learning  ·  Jonas Müller, Rebekka Schnoor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Picture 6" descr=""/>
          <p:cNvPicPr/>
          <p:nvPr/>
        </p:nvPicPr>
        <p:blipFill>
          <a:blip r:embed="rId1"/>
          <a:stretch/>
        </p:blipFill>
        <p:spPr>
          <a:xfrm>
            <a:off x="0" y="1293120"/>
            <a:ext cx="9143640" cy="2991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 1"/>
          <p:cNvSpPr/>
          <p:nvPr/>
        </p:nvSpPr>
        <p:spPr>
          <a:xfrm>
            <a:off x="365760" y="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Intermediate Evaluation – Config 8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 4"/>
          <p:cNvSpPr/>
          <p:nvPr/>
        </p:nvSpPr>
        <p:spPr>
          <a:xfrm>
            <a:off x="365760" y="1143000"/>
            <a:ext cx="530316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28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📊</a:t>
            </a: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3a6e"/>
                </a:solidFill>
                <a:effectLst/>
                <a:uFillTx/>
                <a:latin typeface="Calibri"/>
              </a:rPr>
              <a:t>Radar Chart – Privacy / Robustness / Performance</a:t>
            </a:r>
            <a:endParaRPr b="0" lang="de-DE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de-DE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Insert plot here</a:t>
            </a:r>
            <a:endParaRPr b="0" lang="de-DE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6"/>
          <p:cNvSpPr/>
          <p:nvPr/>
        </p:nvSpPr>
        <p:spPr>
          <a:xfrm>
            <a:off x="6400800" y="11448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744"/>
                </a:solidFill>
                <a:effectLst/>
                <a:uFillTx/>
                <a:latin typeface="Calibri"/>
              </a:rPr>
              <a:t>Configurations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8"/>
          <p:cNvSpPr/>
          <p:nvPr/>
        </p:nvSpPr>
        <p:spPr>
          <a:xfrm>
            <a:off x="274320" y="489204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Security and Privacy in Federated Learning  ·  Jonas Müller, Rebekka Schnoor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" name="Picture 6" descr=""/>
          <p:cNvPicPr/>
          <p:nvPr/>
        </p:nvPicPr>
        <p:blipFill>
          <a:blip r:embed="rId1"/>
          <a:stretch/>
        </p:blipFill>
        <p:spPr>
          <a:xfrm>
            <a:off x="0" y="1293120"/>
            <a:ext cx="9143640" cy="2991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365760" y="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Challenges &amp; Next Steps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"/>
          <p:cNvSpPr/>
          <p:nvPr/>
        </p:nvSpPr>
        <p:spPr>
          <a:xfrm>
            <a:off x="320040" y="82296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c0392b"/>
                </a:solidFill>
                <a:effectLst/>
                <a:uFillTx/>
                <a:latin typeface="Calibri"/>
              </a:rPr>
              <a:t>Hardships</a:t>
            </a:r>
            <a:endParaRPr b="0" lang="de-D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3"/>
          <p:cNvSpPr/>
          <p:nvPr/>
        </p:nvSpPr>
        <p:spPr>
          <a:xfrm>
            <a:off x="320040" y="1188720"/>
            <a:ext cx="3840120" cy="7542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 4"/>
          <p:cNvSpPr/>
          <p:nvPr/>
        </p:nvSpPr>
        <p:spPr>
          <a:xfrm>
            <a:off x="457200" y="1280160"/>
            <a:ext cx="45684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⚠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914400" y="1280160"/>
            <a:ext cx="315432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744"/>
                </a:solidFill>
                <a:effectLst/>
                <a:uFillTx/>
                <a:latin typeface="Calibri"/>
              </a:rPr>
              <a:t>Resources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6"/>
          <p:cNvSpPr/>
          <p:nvPr/>
        </p:nvSpPr>
        <p:spPr>
          <a:xfrm>
            <a:off x="914400" y="1463040"/>
            <a:ext cx="315432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de-DE" sz="95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- L</a:t>
            </a: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aptop is too weak for training</a:t>
            </a:r>
            <a:endParaRPr b="0" lang="de-DE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- Desktop struggles</a:t>
            </a:r>
            <a:endParaRPr b="0" lang="de-DE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7"/>
          <p:cNvSpPr/>
          <p:nvPr/>
        </p:nvSpPr>
        <p:spPr>
          <a:xfrm>
            <a:off x="320040" y="2096640"/>
            <a:ext cx="3840120" cy="7542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 8"/>
          <p:cNvSpPr/>
          <p:nvPr/>
        </p:nvSpPr>
        <p:spPr>
          <a:xfrm>
            <a:off x="457200" y="2188080"/>
            <a:ext cx="45684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⚠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9"/>
          <p:cNvSpPr/>
          <p:nvPr/>
        </p:nvSpPr>
        <p:spPr>
          <a:xfrm>
            <a:off x="914400" y="2188080"/>
            <a:ext cx="315432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100" strike="noStrike" u="none">
                <a:solidFill>
                  <a:srgbClr val="1a2744"/>
                </a:solidFill>
                <a:effectLst/>
                <a:uFillTx/>
                <a:latin typeface="Calibri"/>
              </a:rPr>
              <a:t>Stateless Clients (Privacy / Implementation)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0"/>
          <p:cNvSpPr/>
          <p:nvPr/>
        </p:nvSpPr>
        <p:spPr>
          <a:xfrm>
            <a:off x="914400" y="2370960"/>
            <a:ext cx="315432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Flower rebuilds clients each round</a:t>
            </a:r>
            <a:endParaRPr b="0" lang="de-DE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-&gt; How do we persist privacy budget?</a:t>
            </a:r>
            <a:endParaRPr b="0" lang="de-DE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1"/>
          <p:cNvSpPr/>
          <p:nvPr/>
        </p:nvSpPr>
        <p:spPr>
          <a:xfrm>
            <a:off x="320040" y="3029040"/>
            <a:ext cx="3840120" cy="7542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 12"/>
          <p:cNvSpPr/>
          <p:nvPr/>
        </p:nvSpPr>
        <p:spPr>
          <a:xfrm>
            <a:off x="457200" y="3120480"/>
            <a:ext cx="45684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⚠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3"/>
          <p:cNvSpPr/>
          <p:nvPr/>
        </p:nvSpPr>
        <p:spPr>
          <a:xfrm>
            <a:off x="914400" y="3120480"/>
            <a:ext cx="315432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744"/>
                </a:solidFill>
                <a:effectLst/>
                <a:uFillTx/>
                <a:latin typeface="Calibri"/>
              </a:rPr>
              <a:t>FLTrust root dataset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4"/>
          <p:cNvSpPr/>
          <p:nvPr/>
        </p:nvSpPr>
        <p:spPr>
          <a:xfrm>
            <a:off x="914400" y="3303360"/>
            <a:ext cx="315432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de-DE" sz="95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T</a:t>
            </a: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he root dataset for FLTrust needs to be representative</a:t>
            </a:r>
            <a:endParaRPr b="0" lang="de-DE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5"/>
          <p:cNvSpPr/>
          <p:nvPr/>
        </p:nvSpPr>
        <p:spPr>
          <a:xfrm>
            <a:off x="4983480" y="82296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ea5e9"/>
                </a:solidFill>
                <a:effectLst/>
                <a:uFillTx/>
                <a:latin typeface="Calibri"/>
              </a:rPr>
              <a:t>Next Steps</a:t>
            </a:r>
            <a:endParaRPr b="0" lang="de-DE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6"/>
          <p:cNvSpPr/>
          <p:nvPr/>
        </p:nvSpPr>
        <p:spPr>
          <a:xfrm>
            <a:off x="4983480" y="1188720"/>
            <a:ext cx="3840120" cy="10512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 17"/>
          <p:cNvSpPr/>
          <p:nvPr/>
        </p:nvSpPr>
        <p:spPr>
          <a:xfrm>
            <a:off x="5120640" y="12801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→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8"/>
          <p:cNvSpPr/>
          <p:nvPr/>
        </p:nvSpPr>
        <p:spPr>
          <a:xfrm>
            <a:off x="5577840" y="1280160"/>
            <a:ext cx="3154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744"/>
                </a:solidFill>
                <a:effectLst/>
                <a:uFillTx/>
                <a:latin typeface="Calibri"/>
              </a:rPr>
              <a:t>CIFAR-10 &amp; ResNet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9"/>
          <p:cNvSpPr/>
          <p:nvPr/>
        </p:nvSpPr>
        <p:spPr>
          <a:xfrm>
            <a:off x="5577840" y="160020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Scale experiments to harder dataset and deeper model.</a:t>
            </a:r>
            <a:endParaRPr b="0" lang="de-DE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0"/>
          <p:cNvSpPr/>
          <p:nvPr/>
        </p:nvSpPr>
        <p:spPr>
          <a:xfrm>
            <a:off x="4983480" y="2377440"/>
            <a:ext cx="3840120" cy="10512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 21"/>
          <p:cNvSpPr/>
          <p:nvPr/>
        </p:nvSpPr>
        <p:spPr>
          <a:xfrm>
            <a:off x="5120640" y="24688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→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2"/>
          <p:cNvSpPr/>
          <p:nvPr/>
        </p:nvSpPr>
        <p:spPr>
          <a:xfrm>
            <a:off x="5577840" y="2468880"/>
            <a:ext cx="3154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744"/>
                </a:solidFill>
                <a:effectLst/>
                <a:uFillTx/>
                <a:latin typeface="Calibri"/>
              </a:rPr>
              <a:t>Full 8-Config Run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3"/>
          <p:cNvSpPr/>
          <p:nvPr/>
        </p:nvSpPr>
        <p:spPr>
          <a:xfrm>
            <a:off x="5577840" y="278892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Run complete experiment matrix with meaningful parameters + Plotting</a:t>
            </a:r>
            <a:endParaRPr b="0" lang="de-DE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4"/>
          <p:cNvSpPr/>
          <p:nvPr/>
        </p:nvSpPr>
        <p:spPr>
          <a:xfrm>
            <a:off x="4983480" y="3566160"/>
            <a:ext cx="3840120" cy="10512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 25"/>
          <p:cNvSpPr/>
          <p:nvPr/>
        </p:nvSpPr>
        <p:spPr>
          <a:xfrm>
            <a:off x="5120640" y="36576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→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6"/>
          <p:cNvSpPr/>
          <p:nvPr/>
        </p:nvSpPr>
        <p:spPr>
          <a:xfrm>
            <a:off x="5577840" y="3657600"/>
            <a:ext cx="3154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744"/>
                </a:solidFill>
                <a:effectLst/>
                <a:uFillTx/>
                <a:latin typeface="Calibri"/>
              </a:rPr>
              <a:t>BLADES Baseline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7"/>
          <p:cNvSpPr/>
          <p:nvPr/>
        </p:nvSpPr>
        <p:spPr>
          <a:xfrm>
            <a:off x="5577840" y="397764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Validate results against reference BLADES framework.</a:t>
            </a:r>
            <a:endParaRPr b="0" lang="de-DE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-&gt; Potential problem since BLADES might not offer exactly what’s needed.</a:t>
            </a:r>
            <a:endParaRPr b="0" lang="de-DE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28"/>
          <p:cNvSpPr/>
          <p:nvPr/>
        </p:nvSpPr>
        <p:spPr>
          <a:xfrm>
            <a:off x="4572000" y="822960"/>
            <a:ext cx="360" cy="384048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 29"/>
          <p:cNvSpPr/>
          <p:nvPr/>
        </p:nvSpPr>
        <p:spPr>
          <a:xfrm>
            <a:off x="274320" y="489204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Security and Privacy in Federated Learning  ·  Jonas Müller, Rebekka Schnoor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1"/>
          <p:cNvSpPr/>
          <p:nvPr/>
        </p:nvSpPr>
        <p:spPr>
          <a:xfrm>
            <a:off x="320040" y="3966840"/>
            <a:ext cx="3840120" cy="7542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 12"/>
          <p:cNvSpPr/>
          <p:nvPr/>
        </p:nvSpPr>
        <p:spPr>
          <a:xfrm>
            <a:off x="457200" y="4058280"/>
            <a:ext cx="45684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⚠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3"/>
          <p:cNvSpPr/>
          <p:nvPr/>
        </p:nvSpPr>
        <p:spPr>
          <a:xfrm>
            <a:off x="914400" y="4058280"/>
            <a:ext cx="315432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744"/>
                </a:solidFill>
                <a:effectLst/>
                <a:uFillTx/>
                <a:latin typeface="Calibri"/>
              </a:rPr>
              <a:t>FLTrust Trust Scores (Implementation)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4"/>
          <p:cNvSpPr/>
          <p:nvPr/>
        </p:nvSpPr>
        <p:spPr>
          <a:xfrm>
            <a:off x="914400" y="4241160"/>
            <a:ext cx="315432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de-DE" sz="95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The FLTrust Trust Scores are too good for malicious clients.</a:t>
            </a:r>
            <a:br>
              <a:rPr sz="950"/>
            </a:br>
            <a:r>
              <a:rPr b="0" lang="de-DE" sz="95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Also, mostly too low for honest clients.</a:t>
            </a:r>
            <a:endParaRPr b="0" lang="de-DE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365760" y="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FLTrust Trust Scores</a:t>
            </a:r>
            <a:endParaRPr b="0" lang="de-DE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4"/>
          <p:cNvSpPr/>
          <p:nvPr/>
        </p:nvSpPr>
        <p:spPr>
          <a:xfrm>
            <a:off x="365760" y="1211760"/>
            <a:ext cx="8412120" cy="31543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27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1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 29"/>
          <p:cNvSpPr/>
          <p:nvPr/>
        </p:nvSpPr>
        <p:spPr>
          <a:xfrm>
            <a:off x="274320" y="489204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Security and Privacy in Federated Learning  ·  Jonas Müller, Rebekka Schnoor</a:t>
            </a:r>
            <a:endParaRPr b="0" lang="de-DE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Effect of differential privacy (ε budget) on model accuracy across training rounds.</a:t>
            </a:r>
            <a:endParaRPr b="0" lang="de-DE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8" name="Picture 37" descr=""/>
          <p:cNvPicPr/>
          <p:nvPr/>
        </p:nvPicPr>
        <p:blipFill>
          <a:blip r:embed="rId1"/>
          <a:stretch/>
        </p:blipFill>
        <p:spPr>
          <a:xfrm>
            <a:off x="424440" y="846720"/>
            <a:ext cx="5962680" cy="20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9" name="Picture 46" descr=""/>
          <p:cNvPicPr/>
          <p:nvPr/>
        </p:nvPicPr>
        <p:blipFill>
          <a:blip r:embed="rId2"/>
          <a:stretch/>
        </p:blipFill>
        <p:spPr>
          <a:xfrm>
            <a:off x="1348560" y="1380600"/>
            <a:ext cx="6446520" cy="281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LibreOffice/25.2.3.2$Linux_X86_64 LibreOffice_project/520$Build-2</Application>
  <AppVersion>15.0000</AppVersion>
  <Words>906</Words>
  <Paragraphs>199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2026-06-25T01:21:58Z</dcterms:created>
  <dc:creator>Jonas Müller, Rebekka Schnoor</dc:creator>
  <dc:description/>
  <dc:language>de-DE</dc:language>
  <cp:lastModifiedBy/>
  <dcterms:modified xsi:type="dcterms:W3CDTF">2026-06-25T11:15:00Z</dcterms:modified>
  <cp:revision>60</cp:revision>
  <dc:subject>PptxGenJS Presentation</dc:subject>
  <dc:title>Intermediate Presentation - Privacy-Robustness-Performance Trilemma in FL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</vt:i4>
  </property>
  <property fmtid="{D5CDD505-2E9C-101B-9397-08002B2CF9AE}" pid="3" name="Notes">
    <vt:i4>19</vt:i4>
  </property>
  <property fmtid="{D5CDD505-2E9C-101B-9397-08002B2CF9AE}" pid="4" name="PresentationFormat">
    <vt:lpwstr>On-screen Show (16:9)</vt:lpwstr>
  </property>
  <property fmtid="{D5CDD505-2E9C-101B-9397-08002B2CF9AE}" pid="5" name="Slides">
    <vt:i4>19</vt:i4>
  </property>
</Properties>
</file>