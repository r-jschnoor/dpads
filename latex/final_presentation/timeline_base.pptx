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" y="666750"/>
            <a:ext cx="17602200" cy="6453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808080"/>
                </a:solidFill>
                <a:latin typeface="Calibri"/>
              </a:rPr>
              <a:t>FL-Trilemma: Project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1388194"/>
            <a:ext cx="17602200" cy="3476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0">
                <a:solidFill>
                  <a:srgbClr val="6B7280"/>
                </a:solidFill>
                <a:latin typeface="Calibri"/>
              </a:rPr>
              <a:t>From kick-off to final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4000" y="3000000"/>
            <a:ext cx="16764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4B5563"/>
                </a:solidFill>
                <a:latin typeface="Calibri"/>
              </a:rPr>
              <a:t>Jonas Müller  ·  Rebekka Schnoor</a:t>
            </a:r>
          </a:p>
        </p:txBody>
      </p:sp>
      <p:cxnSp>
        <p:nvCxnSpPr>
          <p:cNvPr id="5" name="divider_title"/>
          <p:cNvCxnSpPr/>
          <p:nvPr/>
        </p:nvCxnSpPr>
        <p:spPr>
          <a:xfrm>
            <a:off x="1143000" y="1905000"/>
            <a:ext cx="16002000" cy="0"/>
          </a:xfrm>
          <a:prstGeom prst="line">
            <a:avLst/>
          </a:prstGeom>
          <a:ln w="19050">
            <a:solidFill>
              <a:srgbClr val="B3B3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logo_title" descr="uh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0" y="571500"/>
            <a:ext cx="2857500" cy="1183517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_m0"/>
          <p:cNvSpPr txBox="1"/>
          <p:nvPr/>
        </p:nvSpPr>
        <p:spPr>
          <a:xfrm>
            <a:off x="1143000" y="666750"/>
            <a:ext cx="17602200" cy="6453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808080"/>
                </a:solidFill>
                <a:latin typeface="Calibri"/>
              </a:rPr>
              <a:t>FL-Trilemma: Project Timeline</a:t>
            </a:r>
          </a:p>
        </p:txBody>
      </p:sp>
      <p:sp>
        <p:nvSpPr>
          <p:cNvPr id="3" name="subtitle_m0"/>
          <p:cNvSpPr txBox="1"/>
          <p:nvPr/>
        </p:nvSpPr>
        <p:spPr>
          <a:xfrm>
            <a:off x="1143000" y="1388194"/>
            <a:ext cx="17602200" cy="3476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0">
                <a:solidFill>
                  <a:srgbClr val="6B7280"/>
                </a:solidFill>
                <a:latin typeface="Calibri"/>
              </a:rPr>
              <a:t>From kick-off to final presentation</a:t>
            </a:r>
          </a:p>
        </p:txBody>
      </p:sp>
      <p:cxnSp>
        <p:nvCxnSpPr>
          <p:cNvPr id="4" name="divider_m0"/>
          <p:cNvCxnSpPr/>
          <p:nvPr/>
        </p:nvCxnSpPr>
        <p:spPr>
          <a:xfrm>
            <a:off x="1143000" y="1905000"/>
            <a:ext cx="16002000" cy="0"/>
          </a:xfrm>
          <a:prstGeom prst="line">
            <a:avLst/>
          </a:prstGeom>
          <a:ln w="19050">
            <a:solidFill>
              <a:srgbClr val="B3B3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ontent_pill_m0"/>
          <p:cNvSpPr/>
          <p:nvPr/>
        </p:nvSpPr>
        <p:spPr>
          <a:xfrm>
            <a:off x="1524000" y="2190750"/>
            <a:ext cx="1650000" cy="376163"/>
          </a:xfrm>
          <a:prstGeom prst="roundRect">
            <a:avLst>
              <a:gd name="adj" fmla="val 50000"/>
            </a:avLst>
          </a:prstGeom>
          <a:solidFill>
            <a:srgbClr val="C9E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 wrap="none"/>
          <a:lstStyle/>
          <a:p>
            <a:pPr algn="ctr"/>
            <a:r>
              <a:rPr sz="1800" b="1">
                <a:solidFill>
                  <a:srgbClr val="325786"/>
                </a:solidFill>
                <a:latin typeface="Calibri"/>
              </a:rPr>
              <a:t>09.04.2026</a:t>
            </a:r>
          </a:p>
        </p:txBody>
      </p:sp>
      <p:sp>
        <p:nvSpPr>
          <p:cNvPr id="6" name="content_headline_m0"/>
          <p:cNvSpPr txBox="1"/>
          <p:nvPr/>
        </p:nvSpPr>
        <p:spPr>
          <a:xfrm>
            <a:off x="1524000" y="2738252"/>
            <a:ext cx="11525250" cy="4786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023"/>
                </a:solidFill>
                <a:latin typeface="Calibri"/>
              </a:rPr>
              <a:t>Project Kick-off</a:t>
            </a:r>
          </a:p>
        </p:txBody>
      </p:sp>
      <p:sp>
        <p:nvSpPr>
          <p:cNvPr id="7" name="content_bullets_m0"/>
          <p:cNvSpPr txBox="1"/>
          <p:nvPr/>
        </p:nvSpPr>
        <p:spPr>
          <a:xfrm>
            <a:off x="1524000" y="3293009"/>
            <a:ext cx="11525250" cy="3761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100" b="1">
                <a:solidFill>
                  <a:srgbClr val="C1212A"/>
                </a:solidFill>
                <a:latin typeface="Calibri"/>
              </a:rPr>
              <a:t>-  </a:t>
            </a:r>
            <a:r>
              <a:rPr sz="2100">
                <a:solidFill>
                  <a:srgbClr val="325786"/>
                </a:solidFill>
                <a:latin typeface="Calibri"/>
              </a:rPr>
              <a:t>Master Project Seminar Data Protection and Data Security begins</a:t>
            </a:r>
          </a:p>
        </p:txBody>
      </p:sp>
      <p:sp>
        <p:nvSpPr>
          <p:cNvPr id="8" name="!!tl_track"/>
          <p:cNvSpPr/>
          <p:nvPr/>
        </p:nvSpPr>
        <p:spPr>
          <a:xfrm>
            <a:off x="1905000" y="5695838"/>
            <a:ext cx="14478000" cy="37951"/>
          </a:xfrm>
          <a:prstGeom prst="roundRect">
            <a:avLst>
              <a:gd name="adj" fmla="val 50000"/>
            </a:avLst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tl_fill"/>
          <p:cNvSpPr/>
          <p:nvPr/>
        </p:nvSpPr>
        <p:spPr>
          <a:xfrm>
            <a:off x="1905000" y="5695838"/>
            <a:ext cx="1" cy="37951"/>
          </a:xfrm>
          <a:prstGeom prst="roundRect">
            <a:avLst>
              <a:gd name="adj" fmla="val 50000"/>
            </a:avLst>
          </a:prstGeom>
          <a:solidFill>
            <a:srgbClr val="3257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tl_dot_1"/>
          <p:cNvSpPr/>
          <p:nvPr/>
        </p:nvSpPr>
        <p:spPr>
          <a:xfrm>
            <a:off x="1771650" y="5581650"/>
            <a:ext cx="266700" cy="266700"/>
          </a:xfrm>
          <a:prstGeom prst="ellipse">
            <a:avLst/>
          </a:prstGeom>
          <a:solidFill>
            <a:srgbClr val="3257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bl_1_s0"/>
          <p:cNvSpPr txBox="1"/>
          <p:nvPr/>
        </p:nvSpPr>
        <p:spPr>
          <a:xfrm>
            <a:off x="133350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F2023"/>
                </a:solidFill>
                <a:latin typeface="Calibri"/>
              </a:rPr>
              <a:t>09.04.2026</a:t>
            </a:r>
          </a:p>
        </p:txBody>
      </p:sp>
      <p:sp>
        <p:nvSpPr>
          <p:cNvPr id="12" name="!!tl_dot_2"/>
          <p:cNvSpPr/>
          <p:nvPr/>
        </p:nvSpPr>
        <p:spPr>
          <a:xfrm>
            <a:off x="363855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bl_2_s0"/>
          <p:cNvSpPr txBox="1"/>
          <p:nvPr/>
        </p:nvSpPr>
        <p:spPr>
          <a:xfrm>
            <a:off x="314325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Calibri"/>
              </a:rPr>
              <a:t>16.04.2026</a:t>
            </a:r>
          </a:p>
        </p:txBody>
      </p:sp>
      <p:sp>
        <p:nvSpPr>
          <p:cNvPr id="14" name="!!tl_dot_3"/>
          <p:cNvSpPr/>
          <p:nvPr/>
        </p:nvSpPr>
        <p:spPr>
          <a:xfrm>
            <a:off x="544830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lbl_3_s0"/>
          <p:cNvSpPr txBox="1"/>
          <p:nvPr/>
        </p:nvSpPr>
        <p:spPr>
          <a:xfrm>
            <a:off x="495300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Calibri"/>
              </a:rPr>
              <a:t>30.04.2026</a:t>
            </a:r>
          </a:p>
        </p:txBody>
      </p:sp>
      <p:sp>
        <p:nvSpPr>
          <p:cNvPr id="16" name="!!tl_dot_4"/>
          <p:cNvSpPr/>
          <p:nvPr/>
        </p:nvSpPr>
        <p:spPr>
          <a:xfrm>
            <a:off x="725805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bl_4_s0"/>
          <p:cNvSpPr txBox="1"/>
          <p:nvPr/>
        </p:nvSpPr>
        <p:spPr>
          <a:xfrm>
            <a:off x="676275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Calibri"/>
              </a:rPr>
              <a:t>~21.05.2026</a:t>
            </a:r>
          </a:p>
        </p:txBody>
      </p:sp>
      <p:sp>
        <p:nvSpPr>
          <p:cNvPr id="18" name="!!tl_dot_5"/>
          <p:cNvSpPr/>
          <p:nvPr/>
        </p:nvSpPr>
        <p:spPr>
          <a:xfrm>
            <a:off x="906780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lbl_5_s0"/>
          <p:cNvSpPr txBox="1"/>
          <p:nvPr/>
        </p:nvSpPr>
        <p:spPr>
          <a:xfrm>
            <a:off x="857250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Calibri"/>
              </a:rPr>
              <a:t>18.06.2026</a:t>
            </a:r>
          </a:p>
        </p:txBody>
      </p:sp>
      <p:sp>
        <p:nvSpPr>
          <p:cNvPr id="20" name="!!tl_dot_6"/>
          <p:cNvSpPr/>
          <p:nvPr/>
        </p:nvSpPr>
        <p:spPr>
          <a:xfrm>
            <a:off x="1087755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lbl_6_s0"/>
          <p:cNvSpPr txBox="1"/>
          <p:nvPr/>
        </p:nvSpPr>
        <p:spPr>
          <a:xfrm>
            <a:off x="1038225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Calibri"/>
              </a:rPr>
              <a:t>25.06.2026</a:t>
            </a:r>
          </a:p>
        </p:txBody>
      </p:sp>
      <p:sp>
        <p:nvSpPr>
          <p:cNvPr id="22" name="!!tl_dot_7"/>
          <p:cNvSpPr/>
          <p:nvPr/>
        </p:nvSpPr>
        <p:spPr>
          <a:xfrm>
            <a:off x="1268730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lbl_7_s0"/>
          <p:cNvSpPr txBox="1"/>
          <p:nvPr/>
        </p:nvSpPr>
        <p:spPr>
          <a:xfrm>
            <a:off x="1219200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Calibri"/>
              </a:rPr>
              <a:t>09.07.2026</a:t>
            </a:r>
          </a:p>
        </p:txBody>
      </p:sp>
      <p:sp>
        <p:nvSpPr>
          <p:cNvPr id="24" name="!!tl_dot_8"/>
          <p:cNvSpPr/>
          <p:nvPr/>
        </p:nvSpPr>
        <p:spPr>
          <a:xfrm>
            <a:off x="1449705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lbl_8_s0"/>
          <p:cNvSpPr txBox="1"/>
          <p:nvPr/>
        </p:nvSpPr>
        <p:spPr>
          <a:xfrm>
            <a:off x="1400175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Calibri"/>
              </a:rPr>
              <a:t>16.07.2026</a:t>
            </a:r>
          </a:p>
        </p:txBody>
      </p:sp>
      <p:sp>
        <p:nvSpPr>
          <p:cNvPr id="26" name="!!tl_dot_9"/>
          <p:cNvSpPr/>
          <p:nvPr/>
        </p:nvSpPr>
        <p:spPr>
          <a:xfrm>
            <a:off x="1630680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lbl_9_s0"/>
          <p:cNvSpPr txBox="1"/>
          <p:nvPr/>
        </p:nvSpPr>
        <p:spPr>
          <a:xfrm>
            <a:off x="1581150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Calibri"/>
              </a:rPr>
              <a:t>20.07.2026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_m1"/>
          <p:cNvSpPr txBox="1"/>
          <p:nvPr/>
        </p:nvSpPr>
        <p:spPr>
          <a:xfrm>
            <a:off x="1143000" y="666750"/>
            <a:ext cx="17602200" cy="6453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808080"/>
                </a:solidFill>
                <a:latin typeface="Calibri"/>
              </a:rPr>
              <a:t>FL-Trilemma: Project Timeline</a:t>
            </a:r>
          </a:p>
        </p:txBody>
      </p:sp>
      <p:sp>
        <p:nvSpPr>
          <p:cNvPr id="3" name="subtitle_m1"/>
          <p:cNvSpPr txBox="1"/>
          <p:nvPr/>
        </p:nvSpPr>
        <p:spPr>
          <a:xfrm>
            <a:off x="1143000" y="1388194"/>
            <a:ext cx="17602200" cy="3476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0">
                <a:solidFill>
                  <a:srgbClr val="6B7280"/>
                </a:solidFill>
                <a:latin typeface="Calibri"/>
              </a:rPr>
              <a:t>From kick-off to final presentation</a:t>
            </a:r>
          </a:p>
        </p:txBody>
      </p:sp>
      <p:cxnSp>
        <p:nvCxnSpPr>
          <p:cNvPr id="4" name="divider_m1"/>
          <p:cNvCxnSpPr/>
          <p:nvPr/>
        </p:nvCxnSpPr>
        <p:spPr>
          <a:xfrm>
            <a:off x="1143000" y="1905000"/>
            <a:ext cx="16002000" cy="0"/>
          </a:xfrm>
          <a:prstGeom prst="line">
            <a:avLst/>
          </a:prstGeom>
          <a:ln w="19050">
            <a:solidFill>
              <a:srgbClr val="B3B3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ontent_pill_m1"/>
          <p:cNvSpPr/>
          <p:nvPr/>
        </p:nvSpPr>
        <p:spPr>
          <a:xfrm>
            <a:off x="1524000" y="6667500"/>
            <a:ext cx="1650000" cy="376163"/>
          </a:xfrm>
          <a:prstGeom prst="roundRect">
            <a:avLst>
              <a:gd name="adj" fmla="val 50000"/>
            </a:avLst>
          </a:prstGeom>
          <a:solidFill>
            <a:srgbClr val="C9E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 wrap="none"/>
          <a:lstStyle/>
          <a:p>
            <a:pPr algn="ctr"/>
            <a:r>
              <a:rPr sz="1800" b="1">
                <a:solidFill>
                  <a:srgbClr val="325786"/>
                </a:solidFill>
                <a:latin typeface="Calibri"/>
              </a:rPr>
              <a:t>16.04.2026</a:t>
            </a:r>
          </a:p>
        </p:txBody>
      </p:sp>
      <p:sp>
        <p:nvSpPr>
          <p:cNvPr id="6" name="content_headline_m1"/>
          <p:cNvSpPr txBox="1"/>
          <p:nvPr/>
        </p:nvSpPr>
        <p:spPr>
          <a:xfrm>
            <a:off x="1524000" y="7215002"/>
            <a:ext cx="11525250" cy="4786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023"/>
                </a:solidFill>
                <a:latin typeface="Calibri"/>
              </a:rPr>
              <a:t>Schedule &amp; Topic Distribution</a:t>
            </a:r>
          </a:p>
        </p:txBody>
      </p:sp>
      <p:sp>
        <p:nvSpPr>
          <p:cNvPr id="7" name="content_bullets_m1"/>
          <p:cNvSpPr txBox="1"/>
          <p:nvPr/>
        </p:nvSpPr>
        <p:spPr>
          <a:xfrm>
            <a:off x="1524000" y="7769759"/>
            <a:ext cx="11525250" cy="3761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100" b="1">
                <a:solidFill>
                  <a:srgbClr val="C1212A"/>
                </a:solidFill>
                <a:latin typeface="Calibri"/>
              </a:rPr>
              <a:t>-  </a:t>
            </a:r>
            <a:r>
              <a:rPr sz="2100">
                <a:solidFill>
                  <a:srgbClr val="325786"/>
                </a:solidFill>
                <a:latin typeface="Calibri"/>
              </a:rPr>
              <a:t>Presentation of project schedule and topic distribution</a:t>
            </a:r>
          </a:p>
        </p:txBody>
      </p:sp>
      <p:sp>
        <p:nvSpPr>
          <p:cNvPr id="8" name="!!tl_track"/>
          <p:cNvSpPr/>
          <p:nvPr/>
        </p:nvSpPr>
        <p:spPr>
          <a:xfrm>
            <a:off x="1905000" y="5695838"/>
            <a:ext cx="14478000" cy="37951"/>
          </a:xfrm>
          <a:prstGeom prst="roundRect">
            <a:avLst>
              <a:gd name="adj" fmla="val 50000"/>
            </a:avLst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tl_fill"/>
          <p:cNvSpPr/>
          <p:nvPr/>
        </p:nvSpPr>
        <p:spPr>
          <a:xfrm>
            <a:off x="1905000" y="5695838"/>
            <a:ext cx="1809750" cy="37951"/>
          </a:xfrm>
          <a:prstGeom prst="roundRect">
            <a:avLst>
              <a:gd name="adj" fmla="val 50000"/>
            </a:avLst>
          </a:prstGeom>
          <a:solidFill>
            <a:srgbClr val="3257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tl_dot_1"/>
          <p:cNvSpPr/>
          <p:nvPr/>
        </p:nvSpPr>
        <p:spPr>
          <a:xfrm>
            <a:off x="182880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bl_1_s1"/>
          <p:cNvSpPr txBox="1"/>
          <p:nvPr/>
        </p:nvSpPr>
        <p:spPr>
          <a:xfrm>
            <a:off x="133350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Calibri"/>
              </a:rPr>
              <a:t>09.04.2026</a:t>
            </a:r>
          </a:p>
        </p:txBody>
      </p:sp>
      <p:sp>
        <p:nvSpPr>
          <p:cNvPr id="12" name="!!tl_dot_2"/>
          <p:cNvSpPr/>
          <p:nvPr/>
        </p:nvSpPr>
        <p:spPr>
          <a:xfrm>
            <a:off x="3581400" y="5581650"/>
            <a:ext cx="266700" cy="266700"/>
          </a:xfrm>
          <a:prstGeom prst="ellipse">
            <a:avLst/>
          </a:prstGeom>
          <a:solidFill>
            <a:srgbClr val="3257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bl_2_s1"/>
          <p:cNvSpPr txBox="1"/>
          <p:nvPr/>
        </p:nvSpPr>
        <p:spPr>
          <a:xfrm>
            <a:off x="314325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F2023"/>
                </a:solidFill>
                <a:latin typeface="Calibri"/>
              </a:rPr>
              <a:t>16.04.2026</a:t>
            </a:r>
          </a:p>
        </p:txBody>
      </p:sp>
      <p:sp>
        <p:nvSpPr>
          <p:cNvPr id="14" name="!!tl_dot_3"/>
          <p:cNvSpPr/>
          <p:nvPr/>
        </p:nvSpPr>
        <p:spPr>
          <a:xfrm>
            <a:off x="544830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lbl_3_s1"/>
          <p:cNvSpPr txBox="1"/>
          <p:nvPr/>
        </p:nvSpPr>
        <p:spPr>
          <a:xfrm>
            <a:off x="495300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Calibri"/>
              </a:rPr>
              <a:t>30.04.2026</a:t>
            </a:r>
          </a:p>
        </p:txBody>
      </p:sp>
      <p:sp>
        <p:nvSpPr>
          <p:cNvPr id="16" name="!!tl_dot_4"/>
          <p:cNvSpPr/>
          <p:nvPr/>
        </p:nvSpPr>
        <p:spPr>
          <a:xfrm>
            <a:off x="725805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bl_4_s1"/>
          <p:cNvSpPr txBox="1"/>
          <p:nvPr/>
        </p:nvSpPr>
        <p:spPr>
          <a:xfrm>
            <a:off x="676275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Calibri"/>
              </a:rPr>
              <a:t>~21.05.2026</a:t>
            </a:r>
          </a:p>
        </p:txBody>
      </p:sp>
      <p:sp>
        <p:nvSpPr>
          <p:cNvPr id="18" name="!!tl_dot_5"/>
          <p:cNvSpPr/>
          <p:nvPr/>
        </p:nvSpPr>
        <p:spPr>
          <a:xfrm>
            <a:off x="906780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lbl_5_s1"/>
          <p:cNvSpPr txBox="1"/>
          <p:nvPr/>
        </p:nvSpPr>
        <p:spPr>
          <a:xfrm>
            <a:off x="857250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Calibri"/>
              </a:rPr>
              <a:t>18.06.2026</a:t>
            </a:r>
          </a:p>
        </p:txBody>
      </p:sp>
      <p:sp>
        <p:nvSpPr>
          <p:cNvPr id="20" name="!!tl_dot_6"/>
          <p:cNvSpPr/>
          <p:nvPr/>
        </p:nvSpPr>
        <p:spPr>
          <a:xfrm>
            <a:off x="1087755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lbl_6_s1"/>
          <p:cNvSpPr txBox="1"/>
          <p:nvPr/>
        </p:nvSpPr>
        <p:spPr>
          <a:xfrm>
            <a:off x="1038225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Calibri"/>
              </a:rPr>
              <a:t>25.06.2026</a:t>
            </a:r>
          </a:p>
        </p:txBody>
      </p:sp>
      <p:sp>
        <p:nvSpPr>
          <p:cNvPr id="22" name="!!tl_dot_7"/>
          <p:cNvSpPr/>
          <p:nvPr/>
        </p:nvSpPr>
        <p:spPr>
          <a:xfrm>
            <a:off x="1268730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lbl_7_s1"/>
          <p:cNvSpPr txBox="1"/>
          <p:nvPr/>
        </p:nvSpPr>
        <p:spPr>
          <a:xfrm>
            <a:off x="1219200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Calibri"/>
              </a:rPr>
              <a:t>09.07.2026</a:t>
            </a:r>
          </a:p>
        </p:txBody>
      </p:sp>
      <p:sp>
        <p:nvSpPr>
          <p:cNvPr id="24" name="!!tl_dot_8"/>
          <p:cNvSpPr/>
          <p:nvPr/>
        </p:nvSpPr>
        <p:spPr>
          <a:xfrm>
            <a:off x="1449705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lbl_8_s1"/>
          <p:cNvSpPr txBox="1"/>
          <p:nvPr/>
        </p:nvSpPr>
        <p:spPr>
          <a:xfrm>
            <a:off x="1400175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Calibri"/>
              </a:rPr>
              <a:t>16.07.2026</a:t>
            </a:r>
          </a:p>
        </p:txBody>
      </p:sp>
      <p:sp>
        <p:nvSpPr>
          <p:cNvPr id="26" name="!!tl_dot_9"/>
          <p:cNvSpPr/>
          <p:nvPr/>
        </p:nvSpPr>
        <p:spPr>
          <a:xfrm>
            <a:off x="1630680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lbl_9_s1"/>
          <p:cNvSpPr txBox="1"/>
          <p:nvPr/>
        </p:nvSpPr>
        <p:spPr>
          <a:xfrm>
            <a:off x="1581150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Calibri"/>
              </a:rPr>
              <a:t>20.07.2026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_m2"/>
          <p:cNvSpPr txBox="1"/>
          <p:nvPr/>
        </p:nvSpPr>
        <p:spPr>
          <a:xfrm>
            <a:off x="1143000" y="666750"/>
            <a:ext cx="17602200" cy="6453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808080"/>
                </a:solidFill>
                <a:latin typeface="Calibri"/>
              </a:rPr>
              <a:t>FL-Trilemma: Project Timeline</a:t>
            </a:r>
          </a:p>
        </p:txBody>
      </p:sp>
      <p:sp>
        <p:nvSpPr>
          <p:cNvPr id="3" name="subtitle_m2"/>
          <p:cNvSpPr txBox="1"/>
          <p:nvPr/>
        </p:nvSpPr>
        <p:spPr>
          <a:xfrm>
            <a:off x="1143000" y="1388194"/>
            <a:ext cx="17602200" cy="3476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0">
                <a:solidFill>
                  <a:srgbClr val="6B7280"/>
                </a:solidFill>
                <a:latin typeface="Calibri"/>
              </a:rPr>
              <a:t>From kick-off to final presentation</a:t>
            </a:r>
          </a:p>
        </p:txBody>
      </p:sp>
      <p:cxnSp>
        <p:nvCxnSpPr>
          <p:cNvPr id="4" name="divider_m2"/>
          <p:cNvCxnSpPr/>
          <p:nvPr/>
        </p:nvCxnSpPr>
        <p:spPr>
          <a:xfrm>
            <a:off x="1143000" y="1905000"/>
            <a:ext cx="16002000" cy="0"/>
          </a:xfrm>
          <a:prstGeom prst="line">
            <a:avLst/>
          </a:prstGeom>
          <a:ln w="19050">
            <a:solidFill>
              <a:srgbClr val="B3B3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ontent_pill_m2"/>
          <p:cNvSpPr/>
          <p:nvPr/>
        </p:nvSpPr>
        <p:spPr>
          <a:xfrm>
            <a:off x="1524000" y="2190750"/>
            <a:ext cx="1650000" cy="376163"/>
          </a:xfrm>
          <a:prstGeom prst="roundRect">
            <a:avLst>
              <a:gd name="adj" fmla="val 50000"/>
            </a:avLst>
          </a:prstGeom>
          <a:solidFill>
            <a:srgbClr val="C9E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 wrap="none"/>
          <a:lstStyle/>
          <a:p>
            <a:pPr algn="ctr"/>
            <a:r>
              <a:rPr sz="1800" b="1">
                <a:solidFill>
                  <a:srgbClr val="325786"/>
                </a:solidFill>
                <a:latin typeface="Calibri"/>
              </a:rPr>
              <a:t>30.04.2026</a:t>
            </a:r>
          </a:p>
        </p:txBody>
      </p:sp>
      <p:sp>
        <p:nvSpPr>
          <p:cNvPr id="6" name="content_headline_m2"/>
          <p:cNvSpPr txBox="1"/>
          <p:nvPr/>
        </p:nvSpPr>
        <p:spPr>
          <a:xfrm>
            <a:off x="1524000" y="2738252"/>
            <a:ext cx="11525250" cy="4786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023"/>
                </a:solidFill>
                <a:latin typeface="Calibri"/>
              </a:rPr>
              <a:t>Small Presentations on Potential Topics</a:t>
            </a:r>
          </a:p>
        </p:txBody>
      </p:sp>
      <p:sp>
        <p:nvSpPr>
          <p:cNvPr id="7" name="content_bullets_m2"/>
          <p:cNvSpPr txBox="1"/>
          <p:nvPr/>
        </p:nvSpPr>
        <p:spPr>
          <a:xfrm>
            <a:off x="1524000" y="3293009"/>
            <a:ext cx="11525250" cy="7523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100" b="1">
                <a:solidFill>
                  <a:srgbClr val="C1212A"/>
                </a:solidFill>
                <a:latin typeface="Calibri"/>
              </a:rPr>
              <a:t>-  </a:t>
            </a:r>
            <a:r>
              <a:rPr sz="2100">
                <a:solidFill>
                  <a:srgbClr val="325786"/>
                </a:solidFill>
                <a:latin typeface="Calibri"/>
              </a:rPr>
              <a:t>DFL.tex - Security and Privacy Concerns in Federated Learning: An Introduction</a:t>
            </a:r>
          </a:p>
          <a:p>
            <a:pPr>
              <a:spcAft>
                <a:spcPts val="600"/>
              </a:spcAft>
            </a:pPr>
            <a:r>
              <a:rPr sz="2100" b="1">
                <a:solidFill>
                  <a:srgbClr val="C1212A"/>
                </a:solidFill>
                <a:latin typeface="Calibri"/>
              </a:rPr>
              <a:t>-  </a:t>
            </a:r>
            <a:r>
              <a:rPr sz="2100">
                <a:solidFill>
                  <a:srgbClr val="325786"/>
                </a:solidFill>
                <a:latin typeface="Calibri"/>
              </a:rPr>
              <a:t>SMPC.tex - Introduction to Secure Multi-Party Computation</a:t>
            </a:r>
          </a:p>
        </p:txBody>
      </p:sp>
      <p:sp>
        <p:nvSpPr>
          <p:cNvPr id="8" name="!!tl_track"/>
          <p:cNvSpPr/>
          <p:nvPr/>
        </p:nvSpPr>
        <p:spPr>
          <a:xfrm>
            <a:off x="1905000" y="5695838"/>
            <a:ext cx="14478000" cy="37951"/>
          </a:xfrm>
          <a:prstGeom prst="roundRect">
            <a:avLst>
              <a:gd name="adj" fmla="val 50000"/>
            </a:avLst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tl_fill"/>
          <p:cNvSpPr/>
          <p:nvPr/>
        </p:nvSpPr>
        <p:spPr>
          <a:xfrm>
            <a:off x="1905000" y="5695838"/>
            <a:ext cx="3619500" cy="37951"/>
          </a:xfrm>
          <a:prstGeom prst="roundRect">
            <a:avLst>
              <a:gd name="adj" fmla="val 50000"/>
            </a:avLst>
          </a:prstGeom>
          <a:solidFill>
            <a:srgbClr val="3257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tl_dot_1"/>
          <p:cNvSpPr/>
          <p:nvPr/>
        </p:nvSpPr>
        <p:spPr>
          <a:xfrm>
            <a:off x="182880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bl_1_s2"/>
          <p:cNvSpPr txBox="1"/>
          <p:nvPr/>
        </p:nvSpPr>
        <p:spPr>
          <a:xfrm>
            <a:off x="133350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Calibri"/>
              </a:rPr>
              <a:t>09.04.2026</a:t>
            </a:r>
          </a:p>
        </p:txBody>
      </p:sp>
      <p:sp>
        <p:nvSpPr>
          <p:cNvPr id="12" name="!!tl_dot_2"/>
          <p:cNvSpPr/>
          <p:nvPr/>
        </p:nvSpPr>
        <p:spPr>
          <a:xfrm>
            <a:off x="363855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bl_2_s2"/>
          <p:cNvSpPr txBox="1"/>
          <p:nvPr/>
        </p:nvSpPr>
        <p:spPr>
          <a:xfrm>
            <a:off x="314325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Calibri"/>
              </a:rPr>
              <a:t>16.04.2026</a:t>
            </a:r>
          </a:p>
        </p:txBody>
      </p:sp>
      <p:sp>
        <p:nvSpPr>
          <p:cNvPr id="14" name="!!tl_dot_3"/>
          <p:cNvSpPr/>
          <p:nvPr/>
        </p:nvSpPr>
        <p:spPr>
          <a:xfrm>
            <a:off x="5391150" y="5581650"/>
            <a:ext cx="266700" cy="266700"/>
          </a:xfrm>
          <a:prstGeom prst="ellipse">
            <a:avLst/>
          </a:prstGeom>
          <a:solidFill>
            <a:srgbClr val="3257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lbl_3_s2"/>
          <p:cNvSpPr txBox="1"/>
          <p:nvPr/>
        </p:nvSpPr>
        <p:spPr>
          <a:xfrm>
            <a:off x="495300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F2023"/>
                </a:solidFill>
                <a:latin typeface="Calibri"/>
              </a:rPr>
              <a:t>30.04.2026</a:t>
            </a:r>
          </a:p>
        </p:txBody>
      </p:sp>
      <p:sp>
        <p:nvSpPr>
          <p:cNvPr id="16" name="!!tl_dot_4"/>
          <p:cNvSpPr/>
          <p:nvPr/>
        </p:nvSpPr>
        <p:spPr>
          <a:xfrm>
            <a:off x="725805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bl_4_s2"/>
          <p:cNvSpPr txBox="1"/>
          <p:nvPr/>
        </p:nvSpPr>
        <p:spPr>
          <a:xfrm>
            <a:off x="676275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Calibri"/>
              </a:rPr>
              <a:t>~21.05.2026</a:t>
            </a:r>
          </a:p>
        </p:txBody>
      </p:sp>
      <p:sp>
        <p:nvSpPr>
          <p:cNvPr id="18" name="!!tl_dot_5"/>
          <p:cNvSpPr/>
          <p:nvPr/>
        </p:nvSpPr>
        <p:spPr>
          <a:xfrm>
            <a:off x="906780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lbl_5_s2"/>
          <p:cNvSpPr txBox="1"/>
          <p:nvPr/>
        </p:nvSpPr>
        <p:spPr>
          <a:xfrm>
            <a:off x="857250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Calibri"/>
              </a:rPr>
              <a:t>18.06.2026</a:t>
            </a:r>
          </a:p>
        </p:txBody>
      </p:sp>
      <p:sp>
        <p:nvSpPr>
          <p:cNvPr id="20" name="!!tl_dot_6"/>
          <p:cNvSpPr/>
          <p:nvPr/>
        </p:nvSpPr>
        <p:spPr>
          <a:xfrm>
            <a:off x="1087755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lbl_6_s2"/>
          <p:cNvSpPr txBox="1"/>
          <p:nvPr/>
        </p:nvSpPr>
        <p:spPr>
          <a:xfrm>
            <a:off x="1038225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Calibri"/>
              </a:rPr>
              <a:t>25.06.2026</a:t>
            </a:r>
          </a:p>
        </p:txBody>
      </p:sp>
      <p:sp>
        <p:nvSpPr>
          <p:cNvPr id="22" name="!!tl_dot_7"/>
          <p:cNvSpPr/>
          <p:nvPr/>
        </p:nvSpPr>
        <p:spPr>
          <a:xfrm>
            <a:off x="1268730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lbl_7_s2"/>
          <p:cNvSpPr txBox="1"/>
          <p:nvPr/>
        </p:nvSpPr>
        <p:spPr>
          <a:xfrm>
            <a:off x="1219200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Calibri"/>
              </a:rPr>
              <a:t>09.07.2026</a:t>
            </a:r>
          </a:p>
        </p:txBody>
      </p:sp>
      <p:sp>
        <p:nvSpPr>
          <p:cNvPr id="24" name="!!tl_dot_8"/>
          <p:cNvSpPr/>
          <p:nvPr/>
        </p:nvSpPr>
        <p:spPr>
          <a:xfrm>
            <a:off x="1449705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lbl_8_s2"/>
          <p:cNvSpPr txBox="1"/>
          <p:nvPr/>
        </p:nvSpPr>
        <p:spPr>
          <a:xfrm>
            <a:off x="1400175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Calibri"/>
              </a:rPr>
              <a:t>16.07.2026</a:t>
            </a:r>
          </a:p>
        </p:txBody>
      </p:sp>
      <p:sp>
        <p:nvSpPr>
          <p:cNvPr id="26" name="!!tl_dot_9"/>
          <p:cNvSpPr/>
          <p:nvPr/>
        </p:nvSpPr>
        <p:spPr>
          <a:xfrm>
            <a:off x="1630680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lbl_9_s2"/>
          <p:cNvSpPr txBox="1"/>
          <p:nvPr/>
        </p:nvSpPr>
        <p:spPr>
          <a:xfrm>
            <a:off x="1581150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Calibri"/>
              </a:rPr>
              <a:t>20.07.2026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_m3"/>
          <p:cNvSpPr txBox="1"/>
          <p:nvPr/>
        </p:nvSpPr>
        <p:spPr>
          <a:xfrm>
            <a:off x="1143000" y="666750"/>
            <a:ext cx="17602200" cy="6453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808080"/>
                </a:solidFill>
                <a:latin typeface="Calibri"/>
              </a:rPr>
              <a:t>FL-Trilemma: Project Timeline</a:t>
            </a:r>
          </a:p>
        </p:txBody>
      </p:sp>
      <p:sp>
        <p:nvSpPr>
          <p:cNvPr id="3" name="subtitle_m3"/>
          <p:cNvSpPr txBox="1"/>
          <p:nvPr/>
        </p:nvSpPr>
        <p:spPr>
          <a:xfrm>
            <a:off x="1143000" y="1388194"/>
            <a:ext cx="17602200" cy="3476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0">
                <a:solidFill>
                  <a:srgbClr val="6B7280"/>
                </a:solidFill>
                <a:latin typeface="Calibri"/>
              </a:rPr>
              <a:t>From kick-off to final presentation</a:t>
            </a:r>
          </a:p>
        </p:txBody>
      </p:sp>
      <p:cxnSp>
        <p:nvCxnSpPr>
          <p:cNvPr id="4" name="divider_m3"/>
          <p:cNvCxnSpPr/>
          <p:nvPr/>
        </p:nvCxnSpPr>
        <p:spPr>
          <a:xfrm>
            <a:off x="1143000" y="1905000"/>
            <a:ext cx="16002000" cy="0"/>
          </a:xfrm>
          <a:prstGeom prst="line">
            <a:avLst/>
          </a:prstGeom>
          <a:ln w="19050">
            <a:solidFill>
              <a:srgbClr val="B3B3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ontent_pill_m3"/>
          <p:cNvSpPr/>
          <p:nvPr/>
        </p:nvSpPr>
        <p:spPr>
          <a:xfrm>
            <a:off x="1524000" y="6667500"/>
            <a:ext cx="1650000" cy="376163"/>
          </a:xfrm>
          <a:prstGeom prst="roundRect">
            <a:avLst>
              <a:gd name="adj" fmla="val 50000"/>
            </a:avLst>
          </a:prstGeom>
          <a:solidFill>
            <a:srgbClr val="C9E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 wrap="none"/>
          <a:lstStyle/>
          <a:p>
            <a:pPr algn="ctr"/>
            <a:r>
              <a:rPr sz="1800" b="1">
                <a:solidFill>
                  <a:srgbClr val="325786"/>
                </a:solidFill>
                <a:latin typeface="Calibri"/>
              </a:rPr>
              <a:t>~21.05.2026</a:t>
            </a:r>
          </a:p>
        </p:txBody>
      </p:sp>
      <p:sp>
        <p:nvSpPr>
          <p:cNvPr id="6" name="content_headline_m3"/>
          <p:cNvSpPr txBox="1"/>
          <p:nvPr/>
        </p:nvSpPr>
        <p:spPr>
          <a:xfrm>
            <a:off x="1524000" y="7215002"/>
            <a:ext cx="11525250" cy="4786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023"/>
                </a:solidFill>
                <a:latin typeface="Calibri"/>
              </a:rPr>
              <a:t>Lock-in: FL Trilemma</a:t>
            </a:r>
          </a:p>
        </p:txBody>
      </p:sp>
      <p:sp>
        <p:nvSpPr>
          <p:cNvPr id="7" name="content_bullets_m3"/>
          <p:cNvSpPr txBox="1"/>
          <p:nvPr/>
        </p:nvSpPr>
        <p:spPr>
          <a:xfrm>
            <a:off x="1524000" y="7769759"/>
            <a:ext cx="11525250" cy="7523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100" b="1">
                <a:solidFill>
                  <a:srgbClr val="C1212A"/>
                </a:solidFill>
                <a:latin typeface="Calibri"/>
              </a:rPr>
              <a:t>-  </a:t>
            </a:r>
            <a:r>
              <a:rPr sz="2100">
                <a:solidFill>
                  <a:srgbClr val="325786"/>
                </a:solidFill>
                <a:latin typeface="Calibri"/>
              </a:rPr>
              <a:t>Theoretical understanding of the problem space</a:t>
            </a:r>
          </a:p>
          <a:p>
            <a:pPr>
              <a:spcAft>
                <a:spcPts val="600"/>
              </a:spcAft>
            </a:pPr>
            <a:r>
              <a:rPr sz="2100" b="1">
                <a:solidFill>
                  <a:srgbClr val="C1212A"/>
                </a:solidFill>
                <a:latin typeface="Calibri"/>
              </a:rPr>
              <a:t>-  </a:t>
            </a:r>
            <a:r>
              <a:rPr sz="2100">
                <a:solidFill>
                  <a:srgbClr val="325786"/>
                </a:solidFill>
                <a:latin typeface="Calibri"/>
              </a:rPr>
              <a:t>Robust aggregation landscape reviewed: FLTrust, Krum, Trimmed Mean</a:t>
            </a:r>
          </a:p>
        </p:txBody>
      </p:sp>
      <p:sp>
        <p:nvSpPr>
          <p:cNvPr id="8" name="!!tl_track"/>
          <p:cNvSpPr/>
          <p:nvPr/>
        </p:nvSpPr>
        <p:spPr>
          <a:xfrm>
            <a:off x="1905000" y="5695838"/>
            <a:ext cx="14478000" cy="37951"/>
          </a:xfrm>
          <a:prstGeom prst="roundRect">
            <a:avLst>
              <a:gd name="adj" fmla="val 50000"/>
            </a:avLst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tl_fill"/>
          <p:cNvSpPr/>
          <p:nvPr/>
        </p:nvSpPr>
        <p:spPr>
          <a:xfrm>
            <a:off x="1905000" y="5695838"/>
            <a:ext cx="5429250" cy="37951"/>
          </a:xfrm>
          <a:prstGeom prst="roundRect">
            <a:avLst>
              <a:gd name="adj" fmla="val 50000"/>
            </a:avLst>
          </a:prstGeom>
          <a:solidFill>
            <a:srgbClr val="3257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tl_dot_1"/>
          <p:cNvSpPr/>
          <p:nvPr/>
        </p:nvSpPr>
        <p:spPr>
          <a:xfrm>
            <a:off x="182880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bl_1_s3"/>
          <p:cNvSpPr txBox="1"/>
          <p:nvPr/>
        </p:nvSpPr>
        <p:spPr>
          <a:xfrm>
            <a:off x="133350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Calibri"/>
              </a:rPr>
              <a:t>09.04.2026</a:t>
            </a:r>
          </a:p>
        </p:txBody>
      </p:sp>
      <p:sp>
        <p:nvSpPr>
          <p:cNvPr id="12" name="!!tl_dot_2"/>
          <p:cNvSpPr/>
          <p:nvPr/>
        </p:nvSpPr>
        <p:spPr>
          <a:xfrm>
            <a:off x="363855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bl_2_s3"/>
          <p:cNvSpPr txBox="1"/>
          <p:nvPr/>
        </p:nvSpPr>
        <p:spPr>
          <a:xfrm>
            <a:off x="314325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Calibri"/>
              </a:rPr>
              <a:t>16.04.2026</a:t>
            </a:r>
          </a:p>
        </p:txBody>
      </p:sp>
      <p:sp>
        <p:nvSpPr>
          <p:cNvPr id="14" name="!!tl_dot_3"/>
          <p:cNvSpPr/>
          <p:nvPr/>
        </p:nvSpPr>
        <p:spPr>
          <a:xfrm>
            <a:off x="544830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lbl_3_s3"/>
          <p:cNvSpPr txBox="1"/>
          <p:nvPr/>
        </p:nvSpPr>
        <p:spPr>
          <a:xfrm>
            <a:off x="495300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Calibri"/>
              </a:rPr>
              <a:t>30.04.2026</a:t>
            </a:r>
          </a:p>
        </p:txBody>
      </p:sp>
      <p:sp>
        <p:nvSpPr>
          <p:cNvPr id="16" name="!!tl_dot_4"/>
          <p:cNvSpPr/>
          <p:nvPr/>
        </p:nvSpPr>
        <p:spPr>
          <a:xfrm>
            <a:off x="7200900" y="5581650"/>
            <a:ext cx="266700" cy="266700"/>
          </a:xfrm>
          <a:prstGeom prst="ellipse">
            <a:avLst/>
          </a:prstGeom>
          <a:solidFill>
            <a:srgbClr val="3257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bl_4_s3"/>
          <p:cNvSpPr txBox="1"/>
          <p:nvPr/>
        </p:nvSpPr>
        <p:spPr>
          <a:xfrm>
            <a:off x="676275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F2023"/>
                </a:solidFill>
                <a:latin typeface="Calibri"/>
              </a:rPr>
              <a:t>~21.05.2026</a:t>
            </a:r>
          </a:p>
        </p:txBody>
      </p:sp>
      <p:sp>
        <p:nvSpPr>
          <p:cNvPr id="18" name="!!tl_dot_5"/>
          <p:cNvSpPr/>
          <p:nvPr/>
        </p:nvSpPr>
        <p:spPr>
          <a:xfrm>
            <a:off x="906780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lbl_5_s3"/>
          <p:cNvSpPr txBox="1"/>
          <p:nvPr/>
        </p:nvSpPr>
        <p:spPr>
          <a:xfrm>
            <a:off x="857250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Calibri"/>
              </a:rPr>
              <a:t>18.06.2026</a:t>
            </a:r>
          </a:p>
        </p:txBody>
      </p:sp>
      <p:sp>
        <p:nvSpPr>
          <p:cNvPr id="20" name="!!tl_dot_6"/>
          <p:cNvSpPr/>
          <p:nvPr/>
        </p:nvSpPr>
        <p:spPr>
          <a:xfrm>
            <a:off x="1087755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lbl_6_s3"/>
          <p:cNvSpPr txBox="1"/>
          <p:nvPr/>
        </p:nvSpPr>
        <p:spPr>
          <a:xfrm>
            <a:off x="1038225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Calibri"/>
              </a:rPr>
              <a:t>25.06.2026</a:t>
            </a:r>
          </a:p>
        </p:txBody>
      </p:sp>
      <p:sp>
        <p:nvSpPr>
          <p:cNvPr id="22" name="!!tl_dot_7"/>
          <p:cNvSpPr/>
          <p:nvPr/>
        </p:nvSpPr>
        <p:spPr>
          <a:xfrm>
            <a:off x="1268730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lbl_7_s3"/>
          <p:cNvSpPr txBox="1"/>
          <p:nvPr/>
        </p:nvSpPr>
        <p:spPr>
          <a:xfrm>
            <a:off x="1219200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Calibri"/>
              </a:rPr>
              <a:t>09.07.2026</a:t>
            </a:r>
          </a:p>
        </p:txBody>
      </p:sp>
      <p:sp>
        <p:nvSpPr>
          <p:cNvPr id="24" name="!!tl_dot_8"/>
          <p:cNvSpPr/>
          <p:nvPr/>
        </p:nvSpPr>
        <p:spPr>
          <a:xfrm>
            <a:off x="1449705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lbl_8_s3"/>
          <p:cNvSpPr txBox="1"/>
          <p:nvPr/>
        </p:nvSpPr>
        <p:spPr>
          <a:xfrm>
            <a:off x="1400175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Calibri"/>
              </a:rPr>
              <a:t>16.07.2026</a:t>
            </a:r>
          </a:p>
        </p:txBody>
      </p:sp>
      <p:sp>
        <p:nvSpPr>
          <p:cNvPr id="26" name="!!tl_dot_9"/>
          <p:cNvSpPr/>
          <p:nvPr/>
        </p:nvSpPr>
        <p:spPr>
          <a:xfrm>
            <a:off x="1630680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lbl_9_s3"/>
          <p:cNvSpPr txBox="1"/>
          <p:nvPr/>
        </p:nvSpPr>
        <p:spPr>
          <a:xfrm>
            <a:off x="1581150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Calibri"/>
              </a:rPr>
              <a:t>20.07.2026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_m4"/>
          <p:cNvSpPr txBox="1"/>
          <p:nvPr/>
        </p:nvSpPr>
        <p:spPr>
          <a:xfrm>
            <a:off x="1143000" y="666750"/>
            <a:ext cx="17602200" cy="6453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808080"/>
                </a:solidFill>
                <a:latin typeface="Calibri"/>
              </a:rPr>
              <a:t>FL-Trilemma: Project Timeline</a:t>
            </a:r>
          </a:p>
        </p:txBody>
      </p:sp>
      <p:sp>
        <p:nvSpPr>
          <p:cNvPr id="3" name="subtitle_m4"/>
          <p:cNvSpPr txBox="1"/>
          <p:nvPr/>
        </p:nvSpPr>
        <p:spPr>
          <a:xfrm>
            <a:off x="1143000" y="1388194"/>
            <a:ext cx="17602200" cy="3476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0">
                <a:solidFill>
                  <a:srgbClr val="6B7280"/>
                </a:solidFill>
                <a:latin typeface="Calibri"/>
              </a:rPr>
              <a:t>From kick-off to final presentation</a:t>
            </a:r>
          </a:p>
        </p:txBody>
      </p:sp>
      <p:cxnSp>
        <p:nvCxnSpPr>
          <p:cNvPr id="4" name="divider_m4"/>
          <p:cNvCxnSpPr/>
          <p:nvPr/>
        </p:nvCxnSpPr>
        <p:spPr>
          <a:xfrm>
            <a:off x="1143000" y="1905000"/>
            <a:ext cx="16002000" cy="0"/>
          </a:xfrm>
          <a:prstGeom prst="line">
            <a:avLst/>
          </a:prstGeom>
          <a:ln w="19050">
            <a:solidFill>
              <a:srgbClr val="B3B3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ontent_placeholder_m4"/>
          <p:cNvSpPr/>
          <p:nvPr/>
        </p:nvSpPr>
        <p:spPr>
          <a:xfrm>
            <a:off x="1524000" y="2190750"/>
            <a:ext cx="3238500" cy="2095500"/>
          </a:xfrm>
          <a:prstGeom prst="roundRect">
            <a:avLst>
              <a:gd name="adj" fmla="val 6000"/>
            </a:avLst>
          </a:prstGeom>
          <a:solidFill>
            <a:srgbClr val="EDEEF0"/>
          </a:solidFill>
          <a:ln w="1905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/>
          <a:lstStyle/>
          <a:p>
            <a:pPr algn="ctr"/>
            <a:r>
              <a:rPr sz="1100">
                <a:solidFill>
                  <a:srgbClr val="9CA3AF"/>
                </a:solidFill>
                <a:latin typeface="Consolas"/>
              </a:rPr>
              <a:t>INTERIM PRESENTATION 1 - SLIDES</a:t>
            </a:r>
          </a:p>
        </p:txBody>
      </p:sp>
      <p:sp>
        <p:nvSpPr>
          <p:cNvPr id="6" name="content_pill_m4"/>
          <p:cNvSpPr/>
          <p:nvPr/>
        </p:nvSpPr>
        <p:spPr>
          <a:xfrm>
            <a:off x="5143500" y="2190750"/>
            <a:ext cx="1650000" cy="376163"/>
          </a:xfrm>
          <a:prstGeom prst="roundRect">
            <a:avLst>
              <a:gd name="adj" fmla="val 50000"/>
            </a:avLst>
          </a:prstGeom>
          <a:solidFill>
            <a:srgbClr val="C9E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 wrap="none"/>
          <a:lstStyle/>
          <a:p>
            <a:pPr algn="ctr"/>
            <a:r>
              <a:rPr sz="1800" b="1">
                <a:solidFill>
                  <a:srgbClr val="325786"/>
                </a:solidFill>
                <a:latin typeface="Calibri"/>
              </a:rPr>
              <a:t>18.06.2026</a:t>
            </a:r>
          </a:p>
        </p:txBody>
      </p:sp>
      <p:sp>
        <p:nvSpPr>
          <p:cNvPr id="7" name="content_headline_m4"/>
          <p:cNvSpPr txBox="1"/>
          <p:nvPr/>
        </p:nvSpPr>
        <p:spPr>
          <a:xfrm>
            <a:off x="5143500" y="2738252"/>
            <a:ext cx="10001250" cy="4786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023"/>
                </a:solidFill>
                <a:latin typeface="Calibri"/>
              </a:rPr>
              <a:t>Interim Presentation 1</a:t>
            </a:r>
          </a:p>
        </p:txBody>
      </p:sp>
      <p:sp>
        <p:nvSpPr>
          <p:cNvPr id="8" name="content_bullets_m4"/>
          <p:cNvSpPr txBox="1"/>
          <p:nvPr/>
        </p:nvSpPr>
        <p:spPr>
          <a:xfrm>
            <a:off x="5143500" y="3274034"/>
            <a:ext cx="10001250" cy="3761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50" b="1">
                <a:solidFill>
                  <a:srgbClr val="C1212A"/>
                </a:solidFill>
                <a:latin typeface="Calibri"/>
              </a:rPr>
              <a:t>-  </a:t>
            </a:r>
            <a:r>
              <a:rPr sz="1950">
                <a:solidFill>
                  <a:srgbClr val="325786"/>
                </a:solidFill>
                <a:latin typeface="Calibri"/>
              </a:rPr>
              <a:t>First code foundation building up (MNIST, Flower)</a:t>
            </a:r>
          </a:p>
        </p:txBody>
      </p:sp>
      <p:sp>
        <p:nvSpPr>
          <p:cNvPr id="9" name="!!tl_track"/>
          <p:cNvSpPr/>
          <p:nvPr/>
        </p:nvSpPr>
        <p:spPr>
          <a:xfrm>
            <a:off x="1905000" y="5695838"/>
            <a:ext cx="14478000" cy="37951"/>
          </a:xfrm>
          <a:prstGeom prst="roundRect">
            <a:avLst>
              <a:gd name="adj" fmla="val 50000"/>
            </a:avLst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tl_fill"/>
          <p:cNvSpPr/>
          <p:nvPr/>
        </p:nvSpPr>
        <p:spPr>
          <a:xfrm>
            <a:off x="1905000" y="5695838"/>
            <a:ext cx="7239000" cy="37951"/>
          </a:xfrm>
          <a:prstGeom prst="roundRect">
            <a:avLst>
              <a:gd name="adj" fmla="val 50000"/>
            </a:avLst>
          </a:prstGeom>
          <a:solidFill>
            <a:srgbClr val="3257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tl_dot_1"/>
          <p:cNvSpPr/>
          <p:nvPr/>
        </p:nvSpPr>
        <p:spPr>
          <a:xfrm>
            <a:off x="182880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bl_1_s4"/>
          <p:cNvSpPr txBox="1"/>
          <p:nvPr/>
        </p:nvSpPr>
        <p:spPr>
          <a:xfrm>
            <a:off x="133350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Calibri"/>
              </a:rPr>
              <a:t>09.04.2026</a:t>
            </a:r>
          </a:p>
        </p:txBody>
      </p:sp>
      <p:sp>
        <p:nvSpPr>
          <p:cNvPr id="13" name="!!tl_dot_2"/>
          <p:cNvSpPr/>
          <p:nvPr/>
        </p:nvSpPr>
        <p:spPr>
          <a:xfrm>
            <a:off x="363855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bl_2_s4"/>
          <p:cNvSpPr txBox="1"/>
          <p:nvPr/>
        </p:nvSpPr>
        <p:spPr>
          <a:xfrm>
            <a:off x="314325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Calibri"/>
              </a:rPr>
              <a:t>16.04.2026</a:t>
            </a:r>
          </a:p>
        </p:txBody>
      </p:sp>
      <p:sp>
        <p:nvSpPr>
          <p:cNvPr id="15" name="!!tl_dot_3"/>
          <p:cNvSpPr/>
          <p:nvPr/>
        </p:nvSpPr>
        <p:spPr>
          <a:xfrm>
            <a:off x="544830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lbl_3_s4"/>
          <p:cNvSpPr txBox="1"/>
          <p:nvPr/>
        </p:nvSpPr>
        <p:spPr>
          <a:xfrm>
            <a:off x="495300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Calibri"/>
              </a:rPr>
              <a:t>30.04.2026</a:t>
            </a:r>
          </a:p>
        </p:txBody>
      </p:sp>
      <p:sp>
        <p:nvSpPr>
          <p:cNvPr id="17" name="!!tl_dot_4"/>
          <p:cNvSpPr/>
          <p:nvPr/>
        </p:nvSpPr>
        <p:spPr>
          <a:xfrm>
            <a:off x="725805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lbl_4_s4"/>
          <p:cNvSpPr txBox="1"/>
          <p:nvPr/>
        </p:nvSpPr>
        <p:spPr>
          <a:xfrm>
            <a:off x="676275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Calibri"/>
              </a:rPr>
              <a:t>~21.05.2026</a:t>
            </a:r>
          </a:p>
        </p:txBody>
      </p:sp>
      <p:sp>
        <p:nvSpPr>
          <p:cNvPr id="19" name="!!tl_dot_5"/>
          <p:cNvSpPr/>
          <p:nvPr/>
        </p:nvSpPr>
        <p:spPr>
          <a:xfrm>
            <a:off x="9010650" y="5581650"/>
            <a:ext cx="266700" cy="266700"/>
          </a:xfrm>
          <a:prstGeom prst="ellipse">
            <a:avLst/>
          </a:prstGeom>
          <a:solidFill>
            <a:srgbClr val="3257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lbl_5_s4"/>
          <p:cNvSpPr txBox="1"/>
          <p:nvPr/>
        </p:nvSpPr>
        <p:spPr>
          <a:xfrm>
            <a:off x="857250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F2023"/>
                </a:solidFill>
                <a:latin typeface="Calibri"/>
              </a:rPr>
              <a:t>18.06.2026</a:t>
            </a:r>
          </a:p>
        </p:txBody>
      </p:sp>
      <p:sp>
        <p:nvSpPr>
          <p:cNvPr id="21" name="!!tl_dot_6"/>
          <p:cNvSpPr/>
          <p:nvPr/>
        </p:nvSpPr>
        <p:spPr>
          <a:xfrm>
            <a:off x="1087755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lbl_6_s4"/>
          <p:cNvSpPr txBox="1"/>
          <p:nvPr/>
        </p:nvSpPr>
        <p:spPr>
          <a:xfrm>
            <a:off x="1038225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Calibri"/>
              </a:rPr>
              <a:t>25.06.2026</a:t>
            </a:r>
          </a:p>
        </p:txBody>
      </p:sp>
      <p:sp>
        <p:nvSpPr>
          <p:cNvPr id="23" name="!!tl_dot_7"/>
          <p:cNvSpPr/>
          <p:nvPr/>
        </p:nvSpPr>
        <p:spPr>
          <a:xfrm>
            <a:off x="1268730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lbl_7_s4"/>
          <p:cNvSpPr txBox="1"/>
          <p:nvPr/>
        </p:nvSpPr>
        <p:spPr>
          <a:xfrm>
            <a:off x="1219200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Calibri"/>
              </a:rPr>
              <a:t>09.07.2026</a:t>
            </a:r>
          </a:p>
        </p:txBody>
      </p:sp>
      <p:sp>
        <p:nvSpPr>
          <p:cNvPr id="25" name="!!tl_dot_8"/>
          <p:cNvSpPr/>
          <p:nvPr/>
        </p:nvSpPr>
        <p:spPr>
          <a:xfrm>
            <a:off x="1449705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lbl_8_s4"/>
          <p:cNvSpPr txBox="1"/>
          <p:nvPr/>
        </p:nvSpPr>
        <p:spPr>
          <a:xfrm>
            <a:off x="1400175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Calibri"/>
              </a:rPr>
              <a:t>16.07.2026</a:t>
            </a:r>
          </a:p>
        </p:txBody>
      </p:sp>
      <p:sp>
        <p:nvSpPr>
          <p:cNvPr id="27" name="!!tl_dot_9"/>
          <p:cNvSpPr/>
          <p:nvPr/>
        </p:nvSpPr>
        <p:spPr>
          <a:xfrm>
            <a:off x="1630680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lbl_9_s4"/>
          <p:cNvSpPr txBox="1"/>
          <p:nvPr/>
        </p:nvSpPr>
        <p:spPr>
          <a:xfrm>
            <a:off x="1581150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Calibri"/>
              </a:rPr>
              <a:t>20.07.2026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_m5"/>
          <p:cNvSpPr txBox="1"/>
          <p:nvPr/>
        </p:nvSpPr>
        <p:spPr>
          <a:xfrm>
            <a:off x="1143000" y="666750"/>
            <a:ext cx="17602200" cy="6453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808080"/>
                </a:solidFill>
                <a:latin typeface="Calibri"/>
              </a:rPr>
              <a:t>FL-Trilemma: Project Timeline</a:t>
            </a:r>
          </a:p>
        </p:txBody>
      </p:sp>
      <p:sp>
        <p:nvSpPr>
          <p:cNvPr id="3" name="subtitle_m5"/>
          <p:cNvSpPr txBox="1"/>
          <p:nvPr/>
        </p:nvSpPr>
        <p:spPr>
          <a:xfrm>
            <a:off x="1143000" y="1388194"/>
            <a:ext cx="17602200" cy="3476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0">
                <a:solidFill>
                  <a:srgbClr val="6B7280"/>
                </a:solidFill>
                <a:latin typeface="Calibri"/>
              </a:rPr>
              <a:t>From kick-off to final presentation</a:t>
            </a:r>
          </a:p>
        </p:txBody>
      </p:sp>
      <p:cxnSp>
        <p:nvCxnSpPr>
          <p:cNvPr id="4" name="divider_m5"/>
          <p:cNvCxnSpPr/>
          <p:nvPr/>
        </p:nvCxnSpPr>
        <p:spPr>
          <a:xfrm>
            <a:off x="1143000" y="1905000"/>
            <a:ext cx="16002000" cy="0"/>
          </a:xfrm>
          <a:prstGeom prst="line">
            <a:avLst/>
          </a:prstGeom>
          <a:ln w="19050">
            <a:solidFill>
              <a:srgbClr val="B3B3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ontent_placeholder_m5"/>
          <p:cNvSpPr/>
          <p:nvPr/>
        </p:nvSpPr>
        <p:spPr>
          <a:xfrm>
            <a:off x="1524000" y="6667500"/>
            <a:ext cx="3238500" cy="2095500"/>
          </a:xfrm>
          <a:prstGeom prst="roundRect">
            <a:avLst>
              <a:gd name="adj" fmla="val 6000"/>
            </a:avLst>
          </a:prstGeom>
          <a:solidFill>
            <a:srgbClr val="EDEEF0"/>
          </a:solidFill>
          <a:ln w="1905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/>
          <a:lstStyle/>
          <a:p>
            <a:pPr algn="ctr"/>
            <a:r>
              <a:rPr sz="1100">
                <a:solidFill>
                  <a:srgbClr val="9CA3AF"/>
                </a:solidFill>
                <a:latin typeface="Consolas"/>
              </a:rPr>
              <a:t>INTERIM PRESENTATION 2 - SLIDES</a:t>
            </a:r>
          </a:p>
        </p:txBody>
      </p:sp>
      <p:sp>
        <p:nvSpPr>
          <p:cNvPr id="6" name="content_pill_m5"/>
          <p:cNvSpPr/>
          <p:nvPr/>
        </p:nvSpPr>
        <p:spPr>
          <a:xfrm>
            <a:off x="5143500" y="6667500"/>
            <a:ext cx="1650000" cy="376163"/>
          </a:xfrm>
          <a:prstGeom prst="roundRect">
            <a:avLst>
              <a:gd name="adj" fmla="val 50000"/>
            </a:avLst>
          </a:prstGeom>
          <a:solidFill>
            <a:srgbClr val="C9E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 wrap="none"/>
          <a:lstStyle/>
          <a:p>
            <a:pPr algn="ctr"/>
            <a:r>
              <a:rPr sz="1800" b="1">
                <a:solidFill>
                  <a:srgbClr val="325786"/>
                </a:solidFill>
                <a:latin typeface="Calibri"/>
              </a:rPr>
              <a:t>25.06.2026</a:t>
            </a:r>
          </a:p>
        </p:txBody>
      </p:sp>
      <p:sp>
        <p:nvSpPr>
          <p:cNvPr id="7" name="content_headline_m5"/>
          <p:cNvSpPr txBox="1"/>
          <p:nvPr/>
        </p:nvSpPr>
        <p:spPr>
          <a:xfrm>
            <a:off x="5143500" y="7215002"/>
            <a:ext cx="10001250" cy="4786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023"/>
                </a:solidFill>
                <a:latin typeface="Calibri"/>
              </a:rPr>
              <a:t>Interim Presentation 2</a:t>
            </a:r>
          </a:p>
        </p:txBody>
      </p:sp>
      <p:sp>
        <p:nvSpPr>
          <p:cNvPr id="8" name="content_bullets_m5"/>
          <p:cNvSpPr txBox="1"/>
          <p:nvPr/>
        </p:nvSpPr>
        <p:spPr>
          <a:xfrm>
            <a:off x="5143500" y="7750784"/>
            <a:ext cx="10001250" cy="7523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50" b="1">
                <a:solidFill>
                  <a:srgbClr val="C1212A"/>
                </a:solidFill>
                <a:latin typeface="Calibri"/>
              </a:rPr>
              <a:t>-  </a:t>
            </a:r>
            <a:r>
              <a:rPr sz="1950">
                <a:solidFill>
                  <a:srgbClr val="325786"/>
                </a:solidFill>
                <a:latin typeface="Calibri"/>
              </a:rPr>
              <a:t>Mechanisms implemented albeit partly flawed (DP, FLTrust, TopK)</a:t>
            </a:r>
          </a:p>
          <a:p>
            <a:pPr>
              <a:spcAft>
                <a:spcPts val="600"/>
              </a:spcAft>
            </a:pPr>
            <a:r>
              <a:rPr sz="1950" b="1">
                <a:solidFill>
                  <a:srgbClr val="C1212A"/>
                </a:solidFill>
                <a:latin typeface="Calibri"/>
              </a:rPr>
              <a:t>-  </a:t>
            </a:r>
            <a:r>
              <a:rPr sz="1950">
                <a:solidFill>
                  <a:srgbClr val="325786"/>
                </a:solidFill>
                <a:latin typeface="Calibri"/>
              </a:rPr>
              <a:t>Testing extremely slow due to missing resources</a:t>
            </a:r>
          </a:p>
        </p:txBody>
      </p:sp>
      <p:sp>
        <p:nvSpPr>
          <p:cNvPr id="9" name="!!tl_track"/>
          <p:cNvSpPr/>
          <p:nvPr/>
        </p:nvSpPr>
        <p:spPr>
          <a:xfrm>
            <a:off x="1905000" y="5695838"/>
            <a:ext cx="14478000" cy="37951"/>
          </a:xfrm>
          <a:prstGeom prst="roundRect">
            <a:avLst>
              <a:gd name="adj" fmla="val 50000"/>
            </a:avLst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tl_fill"/>
          <p:cNvSpPr/>
          <p:nvPr/>
        </p:nvSpPr>
        <p:spPr>
          <a:xfrm>
            <a:off x="1905000" y="5695838"/>
            <a:ext cx="9048750" cy="37951"/>
          </a:xfrm>
          <a:prstGeom prst="roundRect">
            <a:avLst>
              <a:gd name="adj" fmla="val 50000"/>
            </a:avLst>
          </a:prstGeom>
          <a:solidFill>
            <a:srgbClr val="3257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tl_dot_1"/>
          <p:cNvSpPr/>
          <p:nvPr/>
        </p:nvSpPr>
        <p:spPr>
          <a:xfrm>
            <a:off x="182880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bl_1_s5"/>
          <p:cNvSpPr txBox="1"/>
          <p:nvPr/>
        </p:nvSpPr>
        <p:spPr>
          <a:xfrm>
            <a:off x="133350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Calibri"/>
              </a:rPr>
              <a:t>09.04.2026</a:t>
            </a:r>
          </a:p>
        </p:txBody>
      </p:sp>
      <p:sp>
        <p:nvSpPr>
          <p:cNvPr id="13" name="!!tl_dot_2"/>
          <p:cNvSpPr/>
          <p:nvPr/>
        </p:nvSpPr>
        <p:spPr>
          <a:xfrm>
            <a:off x="363855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bl_2_s5"/>
          <p:cNvSpPr txBox="1"/>
          <p:nvPr/>
        </p:nvSpPr>
        <p:spPr>
          <a:xfrm>
            <a:off x="314325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Calibri"/>
              </a:rPr>
              <a:t>16.04.2026</a:t>
            </a:r>
          </a:p>
        </p:txBody>
      </p:sp>
      <p:sp>
        <p:nvSpPr>
          <p:cNvPr id="15" name="!!tl_dot_3"/>
          <p:cNvSpPr/>
          <p:nvPr/>
        </p:nvSpPr>
        <p:spPr>
          <a:xfrm>
            <a:off x="544830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lbl_3_s5"/>
          <p:cNvSpPr txBox="1"/>
          <p:nvPr/>
        </p:nvSpPr>
        <p:spPr>
          <a:xfrm>
            <a:off x="495300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Calibri"/>
              </a:rPr>
              <a:t>30.04.2026</a:t>
            </a:r>
          </a:p>
        </p:txBody>
      </p:sp>
      <p:sp>
        <p:nvSpPr>
          <p:cNvPr id="17" name="!!tl_dot_4"/>
          <p:cNvSpPr/>
          <p:nvPr/>
        </p:nvSpPr>
        <p:spPr>
          <a:xfrm>
            <a:off x="725805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lbl_4_s5"/>
          <p:cNvSpPr txBox="1"/>
          <p:nvPr/>
        </p:nvSpPr>
        <p:spPr>
          <a:xfrm>
            <a:off x="676275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Calibri"/>
              </a:rPr>
              <a:t>~21.05.2026</a:t>
            </a:r>
          </a:p>
        </p:txBody>
      </p:sp>
      <p:sp>
        <p:nvSpPr>
          <p:cNvPr id="19" name="!!tl_dot_5"/>
          <p:cNvSpPr/>
          <p:nvPr/>
        </p:nvSpPr>
        <p:spPr>
          <a:xfrm>
            <a:off x="906780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lbl_5_s5"/>
          <p:cNvSpPr txBox="1"/>
          <p:nvPr/>
        </p:nvSpPr>
        <p:spPr>
          <a:xfrm>
            <a:off x="857250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Calibri"/>
              </a:rPr>
              <a:t>18.06.2026</a:t>
            </a:r>
          </a:p>
        </p:txBody>
      </p:sp>
      <p:sp>
        <p:nvSpPr>
          <p:cNvPr id="21" name="!!tl_dot_6"/>
          <p:cNvSpPr/>
          <p:nvPr/>
        </p:nvSpPr>
        <p:spPr>
          <a:xfrm>
            <a:off x="10820400" y="5581650"/>
            <a:ext cx="266700" cy="266700"/>
          </a:xfrm>
          <a:prstGeom prst="ellipse">
            <a:avLst/>
          </a:prstGeom>
          <a:solidFill>
            <a:srgbClr val="3257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lbl_6_s5"/>
          <p:cNvSpPr txBox="1"/>
          <p:nvPr/>
        </p:nvSpPr>
        <p:spPr>
          <a:xfrm>
            <a:off x="1038225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F2023"/>
                </a:solidFill>
                <a:latin typeface="Calibri"/>
              </a:rPr>
              <a:t>25.06.2026</a:t>
            </a:r>
          </a:p>
        </p:txBody>
      </p:sp>
      <p:sp>
        <p:nvSpPr>
          <p:cNvPr id="23" name="!!tl_dot_7"/>
          <p:cNvSpPr/>
          <p:nvPr/>
        </p:nvSpPr>
        <p:spPr>
          <a:xfrm>
            <a:off x="1268730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lbl_7_s5"/>
          <p:cNvSpPr txBox="1"/>
          <p:nvPr/>
        </p:nvSpPr>
        <p:spPr>
          <a:xfrm>
            <a:off x="1219200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Calibri"/>
              </a:rPr>
              <a:t>09.07.2026</a:t>
            </a:r>
          </a:p>
        </p:txBody>
      </p:sp>
      <p:sp>
        <p:nvSpPr>
          <p:cNvPr id="25" name="!!tl_dot_8"/>
          <p:cNvSpPr/>
          <p:nvPr/>
        </p:nvSpPr>
        <p:spPr>
          <a:xfrm>
            <a:off x="1449705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lbl_8_s5"/>
          <p:cNvSpPr txBox="1"/>
          <p:nvPr/>
        </p:nvSpPr>
        <p:spPr>
          <a:xfrm>
            <a:off x="1400175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Calibri"/>
              </a:rPr>
              <a:t>16.07.2026</a:t>
            </a:r>
          </a:p>
        </p:txBody>
      </p:sp>
      <p:sp>
        <p:nvSpPr>
          <p:cNvPr id="27" name="!!tl_dot_9"/>
          <p:cNvSpPr/>
          <p:nvPr/>
        </p:nvSpPr>
        <p:spPr>
          <a:xfrm>
            <a:off x="1630680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lbl_9_s5"/>
          <p:cNvSpPr txBox="1"/>
          <p:nvPr/>
        </p:nvSpPr>
        <p:spPr>
          <a:xfrm>
            <a:off x="1581150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Calibri"/>
              </a:rPr>
              <a:t>20.07.2026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_m6"/>
          <p:cNvSpPr txBox="1"/>
          <p:nvPr/>
        </p:nvSpPr>
        <p:spPr>
          <a:xfrm>
            <a:off x="1143000" y="666750"/>
            <a:ext cx="17602200" cy="6453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808080"/>
                </a:solidFill>
                <a:latin typeface="Calibri"/>
              </a:rPr>
              <a:t>FL-Trilemma: Project Timeline</a:t>
            </a:r>
          </a:p>
        </p:txBody>
      </p:sp>
      <p:sp>
        <p:nvSpPr>
          <p:cNvPr id="3" name="subtitle_m6"/>
          <p:cNvSpPr txBox="1"/>
          <p:nvPr/>
        </p:nvSpPr>
        <p:spPr>
          <a:xfrm>
            <a:off x="1143000" y="1388194"/>
            <a:ext cx="17602200" cy="3476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0">
                <a:solidFill>
                  <a:srgbClr val="6B7280"/>
                </a:solidFill>
                <a:latin typeface="Calibri"/>
              </a:rPr>
              <a:t>From kick-off to final presentation</a:t>
            </a:r>
          </a:p>
        </p:txBody>
      </p:sp>
      <p:cxnSp>
        <p:nvCxnSpPr>
          <p:cNvPr id="4" name="divider_m6"/>
          <p:cNvCxnSpPr/>
          <p:nvPr/>
        </p:nvCxnSpPr>
        <p:spPr>
          <a:xfrm>
            <a:off x="1143000" y="1905000"/>
            <a:ext cx="16002000" cy="0"/>
          </a:xfrm>
          <a:prstGeom prst="line">
            <a:avLst/>
          </a:prstGeom>
          <a:ln w="19050">
            <a:solidFill>
              <a:srgbClr val="B3B3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ontent_placeholder_m6"/>
          <p:cNvSpPr/>
          <p:nvPr/>
        </p:nvSpPr>
        <p:spPr>
          <a:xfrm>
            <a:off x="1524000" y="2190750"/>
            <a:ext cx="3238500" cy="2095500"/>
          </a:xfrm>
          <a:prstGeom prst="roundRect">
            <a:avLst>
              <a:gd name="adj" fmla="val 6000"/>
            </a:avLst>
          </a:prstGeom>
          <a:solidFill>
            <a:srgbClr val="EDEEF0"/>
          </a:solidFill>
          <a:ln w="1905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/>
          <a:lstStyle/>
          <a:p>
            <a:pPr algn="ctr"/>
            <a:r>
              <a:rPr sz="1100">
                <a:solidFill>
                  <a:srgbClr val="9CA3AF"/>
                </a:solidFill>
                <a:latin typeface="Consolas"/>
              </a:rPr>
              <a:t>ACCURACY / RUNTIME CHARTS</a:t>
            </a:r>
          </a:p>
        </p:txBody>
      </p:sp>
      <p:sp>
        <p:nvSpPr>
          <p:cNvPr id="6" name="content_pill_m6"/>
          <p:cNvSpPr/>
          <p:nvPr/>
        </p:nvSpPr>
        <p:spPr>
          <a:xfrm>
            <a:off x="5143500" y="2190750"/>
            <a:ext cx="1650000" cy="376163"/>
          </a:xfrm>
          <a:prstGeom prst="roundRect">
            <a:avLst>
              <a:gd name="adj" fmla="val 50000"/>
            </a:avLst>
          </a:prstGeom>
          <a:solidFill>
            <a:srgbClr val="C9E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 wrap="none"/>
          <a:lstStyle/>
          <a:p>
            <a:pPr algn="ctr"/>
            <a:r>
              <a:rPr sz="1800" b="1">
                <a:solidFill>
                  <a:srgbClr val="325786"/>
                </a:solidFill>
                <a:latin typeface="Calibri"/>
              </a:rPr>
              <a:t>09.07.2026</a:t>
            </a:r>
          </a:p>
        </p:txBody>
      </p:sp>
      <p:sp>
        <p:nvSpPr>
          <p:cNvPr id="7" name="content_headline_m6"/>
          <p:cNvSpPr txBox="1"/>
          <p:nvPr/>
        </p:nvSpPr>
        <p:spPr>
          <a:xfrm>
            <a:off x="5143500" y="2738252"/>
            <a:ext cx="10001250" cy="4786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023"/>
                </a:solidFill>
                <a:latin typeface="Calibri"/>
              </a:rPr>
              <a:t>Unlock of Computational Resources</a:t>
            </a:r>
          </a:p>
        </p:txBody>
      </p:sp>
      <p:sp>
        <p:nvSpPr>
          <p:cNvPr id="8" name="content_bullets_m6"/>
          <p:cNvSpPr txBox="1"/>
          <p:nvPr/>
        </p:nvSpPr>
        <p:spPr>
          <a:xfrm>
            <a:off x="5143500" y="3274034"/>
            <a:ext cx="10001250" cy="11284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50" b="1">
                <a:solidFill>
                  <a:srgbClr val="C1212A"/>
                </a:solidFill>
                <a:latin typeface="Calibri"/>
              </a:rPr>
              <a:t>-  </a:t>
            </a:r>
            <a:r>
              <a:rPr sz="1950">
                <a:solidFill>
                  <a:srgbClr val="325786"/>
                </a:solidFill>
                <a:latin typeface="Calibri"/>
              </a:rPr>
              <a:t>Larger scale testing unlocked</a:t>
            </a:r>
          </a:p>
          <a:p>
            <a:pPr>
              <a:spcAft>
                <a:spcPts val="600"/>
              </a:spcAft>
            </a:pPr>
            <a:r>
              <a:rPr sz="1950" b="1">
                <a:solidFill>
                  <a:srgbClr val="C1212A"/>
                </a:solidFill>
                <a:latin typeface="Calibri"/>
              </a:rPr>
              <a:t>-  </a:t>
            </a:r>
            <a:r>
              <a:rPr sz="1950">
                <a:solidFill>
                  <a:srgbClr val="325786"/>
                </a:solidFill>
                <a:latin typeface="Calibri"/>
              </a:rPr>
              <a:t>GPU access and incrementally stable code foundation allows for CIFAR-10 testing</a:t>
            </a:r>
          </a:p>
          <a:p>
            <a:pPr>
              <a:spcAft>
                <a:spcPts val="600"/>
              </a:spcAft>
            </a:pPr>
            <a:r>
              <a:rPr sz="1950" b="1">
                <a:solidFill>
                  <a:srgbClr val="C1212A"/>
                </a:solidFill>
                <a:latin typeface="Calibri"/>
              </a:rPr>
              <a:t>-  </a:t>
            </a:r>
            <a:r>
              <a:rPr sz="1950">
                <a:solidFill>
                  <a:srgbClr val="325786"/>
                </a:solidFill>
                <a:latin typeface="Calibri"/>
              </a:rPr>
              <a:t>First results for large runs are coming through</a:t>
            </a:r>
          </a:p>
        </p:txBody>
      </p:sp>
      <p:sp>
        <p:nvSpPr>
          <p:cNvPr id="9" name="!!tl_track"/>
          <p:cNvSpPr/>
          <p:nvPr/>
        </p:nvSpPr>
        <p:spPr>
          <a:xfrm>
            <a:off x="1905000" y="5695838"/>
            <a:ext cx="14478000" cy="37951"/>
          </a:xfrm>
          <a:prstGeom prst="roundRect">
            <a:avLst>
              <a:gd name="adj" fmla="val 50000"/>
            </a:avLst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tl_fill"/>
          <p:cNvSpPr/>
          <p:nvPr/>
        </p:nvSpPr>
        <p:spPr>
          <a:xfrm>
            <a:off x="1905000" y="5695838"/>
            <a:ext cx="10858500" cy="37951"/>
          </a:xfrm>
          <a:prstGeom prst="roundRect">
            <a:avLst>
              <a:gd name="adj" fmla="val 50000"/>
            </a:avLst>
          </a:prstGeom>
          <a:solidFill>
            <a:srgbClr val="3257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tl_dot_1"/>
          <p:cNvSpPr/>
          <p:nvPr/>
        </p:nvSpPr>
        <p:spPr>
          <a:xfrm>
            <a:off x="182880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bl_1_s6"/>
          <p:cNvSpPr txBox="1"/>
          <p:nvPr/>
        </p:nvSpPr>
        <p:spPr>
          <a:xfrm>
            <a:off x="133350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Calibri"/>
              </a:rPr>
              <a:t>09.04.2026</a:t>
            </a:r>
          </a:p>
        </p:txBody>
      </p:sp>
      <p:sp>
        <p:nvSpPr>
          <p:cNvPr id="13" name="!!tl_dot_2"/>
          <p:cNvSpPr/>
          <p:nvPr/>
        </p:nvSpPr>
        <p:spPr>
          <a:xfrm>
            <a:off x="363855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bl_2_s6"/>
          <p:cNvSpPr txBox="1"/>
          <p:nvPr/>
        </p:nvSpPr>
        <p:spPr>
          <a:xfrm>
            <a:off x="314325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Calibri"/>
              </a:rPr>
              <a:t>16.04.2026</a:t>
            </a:r>
          </a:p>
        </p:txBody>
      </p:sp>
      <p:sp>
        <p:nvSpPr>
          <p:cNvPr id="15" name="!!tl_dot_3"/>
          <p:cNvSpPr/>
          <p:nvPr/>
        </p:nvSpPr>
        <p:spPr>
          <a:xfrm>
            <a:off x="544830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lbl_3_s6"/>
          <p:cNvSpPr txBox="1"/>
          <p:nvPr/>
        </p:nvSpPr>
        <p:spPr>
          <a:xfrm>
            <a:off x="495300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Calibri"/>
              </a:rPr>
              <a:t>30.04.2026</a:t>
            </a:r>
          </a:p>
        </p:txBody>
      </p:sp>
      <p:sp>
        <p:nvSpPr>
          <p:cNvPr id="17" name="!!tl_dot_4"/>
          <p:cNvSpPr/>
          <p:nvPr/>
        </p:nvSpPr>
        <p:spPr>
          <a:xfrm>
            <a:off x="725805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lbl_4_s6"/>
          <p:cNvSpPr txBox="1"/>
          <p:nvPr/>
        </p:nvSpPr>
        <p:spPr>
          <a:xfrm>
            <a:off x="676275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Calibri"/>
              </a:rPr>
              <a:t>~21.05.2026</a:t>
            </a:r>
          </a:p>
        </p:txBody>
      </p:sp>
      <p:sp>
        <p:nvSpPr>
          <p:cNvPr id="19" name="!!tl_dot_5"/>
          <p:cNvSpPr/>
          <p:nvPr/>
        </p:nvSpPr>
        <p:spPr>
          <a:xfrm>
            <a:off x="906780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lbl_5_s6"/>
          <p:cNvSpPr txBox="1"/>
          <p:nvPr/>
        </p:nvSpPr>
        <p:spPr>
          <a:xfrm>
            <a:off x="857250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Calibri"/>
              </a:rPr>
              <a:t>18.06.2026</a:t>
            </a:r>
          </a:p>
        </p:txBody>
      </p:sp>
      <p:sp>
        <p:nvSpPr>
          <p:cNvPr id="21" name="!!tl_dot_6"/>
          <p:cNvSpPr/>
          <p:nvPr/>
        </p:nvSpPr>
        <p:spPr>
          <a:xfrm>
            <a:off x="1087755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lbl_6_s6"/>
          <p:cNvSpPr txBox="1"/>
          <p:nvPr/>
        </p:nvSpPr>
        <p:spPr>
          <a:xfrm>
            <a:off x="1038225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Calibri"/>
              </a:rPr>
              <a:t>25.06.2026</a:t>
            </a:r>
          </a:p>
        </p:txBody>
      </p:sp>
      <p:sp>
        <p:nvSpPr>
          <p:cNvPr id="23" name="!!tl_dot_7"/>
          <p:cNvSpPr/>
          <p:nvPr/>
        </p:nvSpPr>
        <p:spPr>
          <a:xfrm>
            <a:off x="12630150" y="5581650"/>
            <a:ext cx="266700" cy="266700"/>
          </a:xfrm>
          <a:prstGeom prst="ellipse">
            <a:avLst/>
          </a:prstGeom>
          <a:solidFill>
            <a:srgbClr val="3257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lbl_7_s6"/>
          <p:cNvSpPr txBox="1"/>
          <p:nvPr/>
        </p:nvSpPr>
        <p:spPr>
          <a:xfrm>
            <a:off x="1219200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F2023"/>
                </a:solidFill>
                <a:latin typeface="Calibri"/>
              </a:rPr>
              <a:t>09.07.2026</a:t>
            </a:r>
          </a:p>
        </p:txBody>
      </p:sp>
      <p:sp>
        <p:nvSpPr>
          <p:cNvPr id="25" name="!!tl_dot_8"/>
          <p:cNvSpPr/>
          <p:nvPr/>
        </p:nvSpPr>
        <p:spPr>
          <a:xfrm>
            <a:off x="1449705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lbl_8_s6"/>
          <p:cNvSpPr txBox="1"/>
          <p:nvPr/>
        </p:nvSpPr>
        <p:spPr>
          <a:xfrm>
            <a:off x="1400175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Calibri"/>
              </a:rPr>
              <a:t>16.07.2026</a:t>
            </a:r>
          </a:p>
        </p:txBody>
      </p:sp>
      <p:sp>
        <p:nvSpPr>
          <p:cNvPr id="27" name="!!tl_dot_9"/>
          <p:cNvSpPr/>
          <p:nvPr/>
        </p:nvSpPr>
        <p:spPr>
          <a:xfrm>
            <a:off x="1630680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lbl_9_s6"/>
          <p:cNvSpPr txBox="1"/>
          <p:nvPr/>
        </p:nvSpPr>
        <p:spPr>
          <a:xfrm>
            <a:off x="1581150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Calibri"/>
              </a:rPr>
              <a:t>20.07.2026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_m7"/>
          <p:cNvSpPr txBox="1"/>
          <p:nvPr/>
        </p:nvSpPr>
        <p:spPr>
          <a:xfrm>
            <a:off x="1143000" y="666750"/>
            <a:ext cx="17602200" cy="6453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808080"/>
                </a:solidFill>
                <a:latin typeface="Calibri"/>
              </a:rPr>
              <a:t>FL-Trilemma: Project Timeline</a:t>
            </a:r>
          </a:p>
        </p:txBody>
      </p:sp>
      <p:sp>
        <p:nvSpPr>
          <p:cNvPr id="3" name="subtitle_m7"/>
          <p:cNvSpPr txBox="1"/>
          <p:nvPr/>
        </p:nvSpPr>
        <p:spPr>
          <a:xfrm>
            <a:off x="1143000" y="1388194"/>
            <a:ext cx="17602200" cy="3476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0">
                <a:solidFill>
                  <a:srgbClr val="6B7280"/>
                </a:solidFill>
                <a:latin typeface="Calibri"/>
              </a:rPr>
              <a:t>From kick-off to final presentation</a:t>
            </a:r>
          </a:p>
        </p:txBody>
      </p:sp>
      <p:cxnSp>
        <p:nvCxnSpPr>
          <p:cNvPr id="4" name="divider_m7"/>
          <p:cNvCxnSpPr/>
          <p:nvPr/>
        </p:nvCxnSpPr>
        <p:spPr>
          <a:xfrm>
            <a:off x="1143000" y="1905000"/>
            <a:ext cx="16002000" cy="0"/>
          </a:xfrm>
          <a:prstGeom prst="line">
            <a:avLst/>
          </a:prstGeom>
          <a:ln w="19050">
            <a:solidFill>
              <a:srgbClr val="B3B3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ontent_pill_m7"/>
          <p:cNvSpPr/>
          <p:nvPr/>
        </p:nvSpPr>
        <p:spPr>
          <a:xfrm>
            <a:off x="1524000" y="6667500"/>
            <a:ext cx="1650000" cy="376163"/>
          </a:xfrm>
          <a:prstGeom prst="roundRect">
            <a:avLst>
              <a:gd name="adj" fmla="val 50000"/>
            </a:avLst>
          </a:prstGeom>
          <a:solidFill>
            <a:srgbClr val="C9E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 wrap="none"/>
          <a:lstStyle/>
          <a:p>
            <a:pPr algn="ctr"/>
            <a:r>
              <a:rPr sz="1800" b="1">
                <a:solidFill>
                  <a:srgbClr val="325786"/>
                </a:solidFill>
                <a:latin typeface="Calibri"/>
              </a:rPr>
              <a:t>16.07.2026</a:t>
            </a:r>
          </a:p>
        </p:txBody>
      </p:sp>
      <p:sp>
        <p:nvSpPr>
          <p:cNvPr id="6" name="content_headline_m7"/>
          <p:cNvSpPr txBox="1"/>
          <p:nvPr/>
        </p:nvSpPr>
        <p:spPr>
          <a:xfrm>
            <a:off x="1524000" y="7215002"/>
            <a:ext cx="11525250" cy="4786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023"/>
                </a:solidFill>
                <a:latin typeface="Calibri"/>
              </a:rPr>
              <a:t>Final Report Submission</a:t>
            </a:r>
          </a:p>
        </p:txBody>
      </p:sp>
      <p:sp>
        <p:nvSpPr>
          <p:cNvPr id="7" name="content_bullets_m7"/>
          <p:cNvSpPr txBox="1"/>
          <p:nvPr/>
        </p:nvSpPr>
        <p:spPr>
          <a:xfrm>
            <a:off x="1524000" y="7769759"/>
            <a:ext cx="11525250" cy="3761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100" b="1">
                <a:solidFill>
                  <a:srgbClr val="C1212A"/>
                </a:solidFill>
                <a:latin typeface="Calibri"/>
              </a:rPr>
              <a:t>-  </a:t>
            </a:r>
            <a:r>
              <a:rPr sz="2100">
                <a:solidFill>
                  <a:srgbClr val="325786"/>
                </a:solidFill>
                <a:latin typeface="Calibri"/>
              </a:rPr>
              <a:t>Written report on the Privacy-Robustness-Performance Trilemma due</a:t>
            </a:r>
          </a:p>
        </p:txBody>
      </p:sp>
      <p:sp>
        <p:nvSpPr>
          <p:cNvPr id="8" name="!!tl_track"/>
          <p:cNvSpPr/>
          <p:nvPr/>
        </p:nvSpPr>
        <p:spPr>
          <a:xfrm>
            <a:off x="1905000" y="5695838"/>
            <a:ext cx="14478000" cy="37951"/>
          </a:xfrm>
          <a:prstGeom prst="roundRect">
            <a:avLst>
              <a:gd name="adj" fmla="val 50000"/>
            </a:avLst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tl_fill"/>
          <p:cNvSpPr/>
          <p:nvPr/>
        </p:nvSpPr>
        <p:spPr>
          <a:xfrm>
            <a:off x="1905000" y="5695838"/>
            <a:ext cx="12668250" cy="37951"/>
          </a:xfrm>
          <a:prstGeom prst="roundRect">
            <a:avLst>
              <a:gd name="adj" fmla="val 50000"/>
            </a:avLst>
          </a:prstGeom>
          <a:solidFill>
            <a:srgbClr val="3257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tl_dot_1"/>
          <p:cNvSpPr/>
          <p:nvPr/>
        </p:nvSpPr>
        <p:spPr>
          <a:xfrm>
            <a:off x="182880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bl_1_s7"/>
          <p:cNvSpPr txBox="1"/>
          <p:nvPr/>
        </p:nvSpPr>
        <p:spPr>
          <a:xfrm>
            <a:off x="133350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Calibri"/>
              </a:rPr>
              <a:t>09.04.2026</a:t>
            </a:r>
          </a:p>
        </p:txBody>
      </p:sp>
      <p:sp>
        <p:nvSpPr>
          <p:cNvPr id="12" name="!!tl_dot_2"/>
          <p:cNvSpPr/>
          <p:nvPr/>
        </p:nvSpPr>
        <p:spPr>
          <a:xfrm>
            <a:off x="363855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bl_2_s7"/>
          <p:cNvSpPr txBox="1"/>
          <p:nvPr/>
        </p:nvSpPr>
        <p:spPr>
          <a:xfrm>
            <a:off x="314325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Calibri"/>
              </a:rPr>
              <a:t>16.04.2026</a:t>
            </a:r>
          </a:p>
        </p:txBody>
      </p:sp>
      <p:sp>
        <p:nvSpPr>
          <p:cNvPr id="14" name="!!tl_dot_3"/>
          <p:cNvSpPr/>
          <p:nvPr/>
        </p:nvSpPr>
        <p:spPr>
          <a:xfrm>
            <a:off x="544830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lbl_3_s7"/>
          <p:cNvSpPr txBox="1"/>
          <p:nvPr/>
        </p:nvSpPr>
        <p:spPr>
          <a:xfrm>
            <a:off x="495300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Calibri"/>
              </a:rPr>
              <a:t>30.04.2026</a:t>
            </a:r>
          </a:p>
        </p:txBody>
      </p:sp>
      <p:sp>
        <p:nvSpPr>
          <p:cNvPr id="16" name="!!tl_dot_4"/>
          <p:cNvSpPr/>
          <p:nvPr/>
        </p:nvSpPr>
        <p:spPr>
          <a:xfrm>
            <a:off x="725805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bl_4_s7"/>
          <p:cNvSpPr txBox="1"/>
          <p:nvPr/>
        </p:nvSpPr>
        <p:spPr>
          <a:xfrm>
            <a:off x="676275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Calibri"/>
              </a:rPr>
              <a:t>~21.05.2026</a:t>
            </a:r>
          </a:p>
        </p:txBody>
      </p:sp>
      <p:sp>
        <p:nvSpPr>
          <p:cNvPr id="18" name="!!tl_dot_5"/>
          <p:cNvSpPr/>
          <p:nvPr/>
        </p:nvSpPr>
        <p:spPr>
          <a:xfrm>
            <a:off x="906780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lbl_5_s7"/>
          <p:cNvSpPr txBox="1"/>
          <p:nvPr/>
        </p:nvSpPr>
        <p:spPr>
          <a:xfrm>
            <a:off x="857250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Calibri"/>
              </a:rPr>
              <a:t>18.06.2026</a:t>
            </a:r>
          </a:p>
        </p:txBody>
      </p:sp>
      <p:sp>
        <p:nvSpPr>
          <p:cNvPr id="20" name="!!tl_dot_6"/>
          <p:cNvSpPr/>
          <p:nvPr/>
        </p:nvSpPr>
        <p:spPr>
          <a:xfrm>
            <a:off x="1087755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lbl_6_s7"/>
          <p:cNvSpPr txBox="1"/>
          <p:nvPr/>
        </p:nvSpPr>
        <p:spPr>
          <a:xfrm>
            <a:off x="1038225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Calibri"/>
              </a:rPr>
              <a:t>25.06.2026</a:t>
            </a:r>
          </a:p>
        </p:txBody>
      </p:sp>
      <p:sp>
        <p:nvSpPr>
          <p:cNvPr id="22" name="!!tl_dot_7"/>
          <p:cNvSpPr/>
          <p:nvPr/>
        </p:nvSpPr>
        <p:spPr>
          <a:xfrm>
            <a:off x="1268730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lbl_7_s7"/>
          <p:cNvSpPr txBox="1"/>
          <p:nvPr/>
        </p:nvSpPr>
        <p:spPr>
          <a:xfrm>
            <a:off x="1219200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Calibri"/>
              </a:rPr>
              <a:t>09.07.2026</a:t>
            </a:r>
          </a:p>
        </p:txBody>
      </p:sp>
      <p:sp>
        <p:nvSpPr>
          <p:cNvPr id="24" name="!!tl_dot_8"/>
          <p:cNvSpPr/>
          <p:nvPr/>
        </p:nvSpPr>
        <p:spPr>
          <a:xfrm>
            <a:off x="14439900" y="5581650"/>
            <a:ext cx="266700" cy="266700"/>
          </a:xfrm>
          <a:prstGeom prst="ellipse">
            <a:avLst/>
          </a:prstGeom>
          <a:solidFill>
            <a:srgbClr val="3257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lbl_8_s7"/>
          <p:cNvSpPr txBox="1"/>
          <p:nvPr/>
        </p:nvSpPr>
        <p:spPr>
          <a:xfrm>
            <a:off x="1400175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F2023"/>
                </a:solidFill>
                <a:latin typeface="Calibri"/>
              </a:rPr>
              <a:t>16.07.2026</a:t>
            </a:r>
          </a:p>
        </p:txBody>
      </p:sp>
      <p:sp>
        <p:nvSpPr>
          <p:cNvPr id="26" name="!!tl_dot_9"/>
          <p:cNvSpPr/>
          <p:nvPr/>
        </p:nvSpPr>
        <p:spPr>
          <a:xfrm>
            <a:off x="1630680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lbl_9_s7"/>
          <p:cNvSpPr txBox="1"/>
          <p:nvPr/>
        </p:nvSpPr>
        <p:spPr>
          <a:xfrm>
            <a:off x="1581150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Calibri"/>
              </a:rPr>
              <a:t>20.07.2026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_m8"/>
          <p:cNvSpPr txBox="1"/>
          <p:nvPr/>
        </p:nvSpPr>
        <p:spPr>
          <a:xfrm>
            <a:off x="1143000" y="666750"/>
            <a:ext cx="17602200" cy="6453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808080"/>
                </a:solidFill>
                <a:latin typeface="Calibri"/>
              </a:rPr>
              <a:t>FL-Trilemma: Project Timeline</a:t>
            </a:r>
          </a:p>
        </p:txBody>
      </p:sp>
      <p:sp>
        <p:nvSpPr>
          <p:cNvPr id="3" name="subtitle_m8"/>
          <p:cNvSpPr txBox="1"/>
          <p:nvPr/>
        </p:nvSpPr>
        <p:spPr>
          <a:xfrm>
            <a:off x="1143000" y="1388194"/>
            <a:ext cx="17602200" cy="3476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0">
                <a:solidFill>
                  <a:srgbClr val="6B7280"/>
                </a:solidFill>
                <a:latin typeface="Calibri"/>
              </a:rPr>
              <a:t>From kick-off to final presentation</a:t>
            </a:r>
          </a:p>
        </p:txBody>
      </p:sp>
      <p:cxnSp>
        <p:nvCxnSpPr>
          <p:cNvPr id="4" name="divider_m8"/>
          <p:cNvCxnSpPr/>
          <p:nvPr/>
        </p:nvCxnSpPr>
        <p:spPr>
          <a:xfrm>
            <a:off x="1143000" y="1905000"/>
            <a:ext cx="16002000" cy="0"/>
          </a:xfrm>
          <a:prstGeom prst="line">
            <a:avLst/>
          </a:prstGeom>
          <a:ln w="19050">
            <a:solidFill>
              <a:srgbClr val="B3B3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ontent_placeholder_m8"/>
          <p:cNvSpPr/>
          <p:nvPr/>
        </p:nvSpPr>
        <p:spPr>
          <a:xfrm>
            <a:off x="1524000" y="2190750"/>
            <a:ext cx="3238500" cy="2095500"/>
          </a:xfrm>
          <a:prstGeom prst="roundRect">
            <a:avLst>
              <a:gd name="adj" fmla="val 6000"/>
            </a:avLst>
          </a:prstGeom>
          <a:solidFill>
            <a:srgbClr val="EDEEF0"/>
          </a:solidFill>
          <a:ln w="1905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/>
          <a:lstStyle/>
          <a:p>
            <a:pPr algn="ctr"/>
            <a:r>
              <a:rPr sz="1100">
                <a:solidFill>
                  <a:srgbClr val="9CA3AF"/>
                </a:solidFill>
                <a:latin typeface="Consolas"/>
              </a:rPr>
              <a:t>FINAL PRESENTATION - SLIDES/RESULTS</a:t>
            </a:r>
          </a:p>
        </p:txBody>
      </p:sp>
      <p:sp>
        <p:nvSpPr>
          <p:cNvPr id="6" name="content_pill_m8"/>
          <p:cNvSpPr/>
          <p:nvPr/>
        </p:nvSpPr>
        <p:spPr>
          <a:xfrm>
            <a:off x="5143500" y="2190750"/>
            <a:ext cx="1650000" cy="376163"/>
          </a:xfrm>
          <a:prstGeom prst="roundRect">
            <a:avLst>
              <a:gd name="adj" fmla="val 50000"/>
            </a:avLst>
          </a:prstGeom>
          <a:solidFill>
            <a:srgbClr val="C9E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 wrap="none"/>
          <a:lstStyle/>
          <a:p>
            <a:pPr algn="ctr"/>
            <a:r>
              <a:rPr sz="1800" b="1">
                <a:solidFill>
                  <a:srgbClr val="325786"/>
                </a:solidFill>
                <a:latin typeface="Calibri"/>
              </a:rPr>
              <a:t>20.07.2026</a:t>
            </a:r>
          </a:p>
        </p:txBody>
      </p:sp>
      <p:sp>
        <p:nvSpPr>
          <p:cNvPr id="7" name="content_headline_m8"/>
          <p:cNvSpPr txBox="1"/>
          <p:nvPr/>
        </p:nvSpPr>
        <p:spPr>
          <a:xfrm>
            <a:off x="5143500" y="2738252"/>
            <a:ext cx="10001250" cy="4786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023"/>
                </a:solidFill>
                <a:latin typeface="Calibri"/>
              </a:rPr>
              <a:t>Final Presentation</a:t>
            </a:r>
          </a:p>
        </p:txBody>
      </p:sp>
      <p:sp>
        <p:nvSpPr>
          <p:cNvPr id="8" name="content_bullets_m8"/>
          <p:cNvSpPr txBox="1"/>
          <p:nvPr/>
        </p:nvSpPr>
        <p:spPr>
          <a:xfrm>
            <a:off x="5143500" y="3274034"/>
            <a:ext cx="10001250" cy="3761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50" b="1">
                <a:solidFill>
                  <a:srgbClr val="C1212A"/>
                </a:solidFill>
                <a:latin typeface="Calibri"/>
              </a:rPr>
              <a:t>-  </a:t>
            </a:r>
            <a:r>
              <a:rPr sz="1950">
                <a:solidFill>
                  <a:srgbClr val="325786"/>
                </a:solidFill>
                <a:latin typeface="Calibri"/>
              </a:rPr>
              <a:t>Closing presentation of findings</a:t>
            </a:r>
          </a:p>
        </p:txBody>
      </p:sp>
      <p:sp>
        <p:nvSpPr>
          <p:cNvPr id="9" name="!!tl_track"/>
          <p:cNvSpPr/>
          <p:nvPr/>
        </p:nvSpPr>
        <p:spPr>
          <a:xfrm>
            <a:off x="1905000" y="5695838"/>
            <a:ext cx="14478000" cy="37951"/>
          </a:xfrm>
          <a:prstGeom prst="roundRect">
            <a:avLst>
              <a:gd name="adj" fmla="val 50000"/>
            </a:avLst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tl_fill"/>
          <p:cNvSpPr/>
          <p:nvPr/>
        </p:nvSpPr>
        <p:spPr>
          <a:xfrm>
            <a:off x="1905000" y="5695838"/>
            <a:ext cx="14478000" cy="37951"/>
          </a:xfrm>
          <a:prstGeom prst="roundRect">
            <a:avLst>
              <a:gd name="adj" fmla="val 50000"/>
            </a:avLst>
          </a:prstGeom>
          <a:solidFill>
            <a:srgbClr val="3257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tl_dot_1"/>
          <p:cNvSpPr/>
          <p:nvPr/>
        </p:nvSpPr>
        <p:spPr>
          <a:xfrm>
            <a:off x="182880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bl_1_s8"/>
          <p:cNvSpPr txBox="1"/>
          <p:nvPr/>
        </p:nvSpPr>
        <p:spPr>
          <a:xfrm>
            <a:off x="133350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Calibri"/>
              </a:rPr>
              <a:t>09.04.2026</a:t>
            </a:r>
          </a:p>
        </p:txBody>
      </p:sp>
      <p:sp>
        <p:nvSpPr>
          <p:cNvPr id="13" name="!!tl_dot_2"/>
          <p:cNvSpPr/>
          <p:nvPr/>
        </p:nvSpPr>
        <p:spPr>
          <a:xfrm>
            <a:off x="363855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bl_2_s8"/>
          <p:cNvSpPr txBox="1"/>
          <p:nvPr/>
        </p:nvSpPr>
        <p:spPr>
          <a:xfrm>
            <a:off x="314325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Calibri"/>
              </a:rPr>
              <a:t>16.04.2026</a:t>
            </a:r>
          </a:p>
        </p:txBody>
      </p:sp>
      <p:sp>
        <p:nvSpPr>
          <p:cNvPr id="15" name="!!tl_dot_3"/>
          <p:cNvSpPr/>
          <p:nvPr/>
        </p:nvSpPr>
        <p:spPr>
          <a:xfrm>
            <a:off x="544830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lbl_3_s8"/>
          <p:cNvSpPr txBox="1"/>
          <p:nvPr/>
        </p:nvSpPr>
        <p:spPr>
          <a:xfrm>
            <a:off x="495300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Calibri"/>
              </a:rPr>
              <a:t>30.04.2026</a:t>
            </a:r>
          </a:p>
        </p:txBody>
      </p:sp>
      <p:sp>
        <p:nvSpPr>
          <p:cNvPr id="17" name="!!tl_dot_4"/>
          <p:cNvSpPr/>
          <p:nvPr/>
        </p:nvSpPr>
        <p:spPr>
          <a:xfrm>
            <a:off x="725805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lbl_4_s8"/>
          <p:cNvSpPr txBox="1"/>
          <p:nvPr/>
        </p:nvSpPr>
        <p:spPr>
          <a:xfrm>
            <a:off x="676275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Calibri"/>
              </a:rPr>
              <a:t>~21.05.2026</a:t>
            </a:r>
          </a:p>
        </p:txBody>
      </p:sp>
      <p:sp>
        <p:nvSpPr>
          <p:cNvPr id="19" name="!!tl_dot_5"/>
          <p:cNvSpPr/>
          <p:nvPr/>
        </p:nvSpPr>
        <p:spPr>
          <a:xfrm>
            <a:off x="906780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lbl_5_s8"/>
          <p:cNvSpPr txBox="1"/>
          <p:nvPr/>
        </p:nvSpPr>
        <p:spPr>
          <a:xfrm>
            <a:off x="857250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Calibri"/>
              </a:rPr>
              <a:t>18.06.2026</a:t>
            </a:r>
          </a:p>
        </p:txBody>
      </p:sp>
      <p:sp>
        <p:nvSpPr>
          <p:cNvPr id="21" name="!!tl_dot_6"/>
          <p:cNvSpPr/>
          <p:nvPr/>
        </p:nvSpPr>
        <p:spPr>
          <a:xfrm>
            <a:off x="1087755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lbl_6_s8"/>
          <p:cNvSpPr txBox="1"/>
          <p:nvPr/>
        </p:nvSpPr>
        <p:spPr>
          <a:xfrm>
            <a:off x="1038225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Calibri"/>
              </a:rPr>
              <a:t>25.06.2026</a:t>
            </a:r>
          </a:p>
        </p:txBody>
      </p:sp>
      <p:sp>
        <p:nvSpPr>
          <p:cNvPr id="23" name="!!tl_dot_7"/>
          <p:cNvSpPr/>
          <p:nvPr/>
        </p:nvSpPr>
        <p:spPr>
          <a:xfrm>
            <a:off x="1268730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lbl_7_s8"/>
          <p:cNvSpPr txBox="1"/>
          <p:nvPr/>
        </p:nvSpPr>
        <p:spPr>
          <a:xfrm>
            <a:off x="1219200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Calibri"/>
              </a:rPr>
              <a:t>09.07.2026</a:t>
            </a:r>
          </a:p>
        </p:txBody>
      </p:sp>
      <p:sp>
        <p:nvSpPr>
          <p:cNvPr id="25" name="!!tl_dot_8"/>
          <p:cNvSpPr/>
          <p:nvPr/>
        </p:nvSpPr>
        <p:spPr>
          <a:xfrm>
            <a:off x="1449705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lbl_8_s8"/>
          <p:cNvSpPr txBox="1"/>
          <p:nvPr/>
        </p:nvSpPr>
        <p:spPr>
          <a:xfrm>
            <a:off x="1400175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Calibri"/>
              </a:rPr>
              <a:t>16.07.2026</a:t>
            </a:r>
          </a:p>
        </p:txBody>
      </p:sp>
      <p:sp>
        <p:nvSpPr>
          <p:cNvPr id="27" name="!!tl_dot_9"/>
          <p:cNvSpPr/>
          <p:nvPr/>
        </p:nvSpPr>
        <p:spPr>
          <a:xfrm>
            <a:off x="16249650" y="5581650"/>
            <a:ext cx="266700" cy="266700"/>
          </a:xfrm>
          <a:prstGeom prst="ellipse">
            <a:avLst/>
          </a:prstGeom>
          <a:solidFill>
            <a:srgbClr val="3257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lbl_9_s8"/>
          <p:cNvSpPr txBox="1"/>
          <p:nvPr/>
        </p:nvSpPr>
        <p:spPr>
          <a:xfrm>
            <a:off x="1581150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F2023"/>
                </a:solidFill>
                <a:latin typeface="Calibri"/>
              </a:rPr>
              <a:t>20.07.2026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