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700000"/>
            <a:ext cx="77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650000"/>
            <a:ext cx="77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3150000"/>
            <a:ext cx="7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Arial"/>
              </a:rPr>
              <a:t>Jonas Müller  ·  Rebekka Schnoor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09.04.2026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77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Project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77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Master Project Seminar Data Protection and Data Security begins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5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09.04.2026</a:t>
            </a:r>
          </a:p>
        </p:txBody>
      </p:sp>
      <p:sp>
        <p:nvSpPr>
          <p:cNvPr id="8" name="Oval 7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0" name="Oval 9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2" name="Oval 11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4" name="Oval 13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6" name="Oval 15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8" name="Oval 17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0" name="Oval 19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2" name="Oval 21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01 / 09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16.04.2026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77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Schedule &amp; Topic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77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Presentation of project schedule and topic distribution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8" name="Oval 7"/>
          <p:cNvSpPr/>
          <p:nvPr/>
        </p:nvSpPr>
        <p:spPr>
          <a:xfrm>
            <a:off x="1538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16.04.2026</a:t>
            </a:r>
          </a:p>
        </p:txBody>
      </p:sp>
      <p:sp>
        <p:nvSpPr>
          <p:cNvPr id="10" name="Oval 9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2" name="Oval 11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4" name="Oval 13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6" name="Oval 15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8" name="Oval 17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0" name="Oval 19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2" name="Oval 21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02 / 09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30.04.2026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77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Small Presentations on Potential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77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DFL.tex - Security and Privacy Concerns in Federated Learning: An Introduction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SMPC.tex - Introduction to Secure Multi-Party Computation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8" name="Oval 7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0" name="Oval 9"/>
          <p:cNvSpPr/>
          <p:nvPr/>
        </p:nvSpPr>
        <p:spPr>
          <a:xfrm>
            <a:off x="2531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30.04.2026</a:t>
            </a:r>
          </a:p>
        </p:txBody>
      </p:sp>
      <p:sp>
        <p:nvSpPr>
          <p:cNvPr id="12" name="Oval 11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4" name="Oval 13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6" name="Oval 15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8" name="Oval 17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0" name="Oval 19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2" name="Oval 21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03 / 09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~21.05.2026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77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Lock-in: FL Trilemma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77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Theoretical understanding of the problem space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Robust aggregation landscape reviewed: FLTrust, Krum, Trimmed Mean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8" name="Oval 7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0" name="Oval 9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2" name="Oval 11"/>
          <p:cNvSpPr/>
          <p:nvPr/>
        </p:nvSpPr>
        <p:spPr>
          <a:xfrm>
            <a:off x="3524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~21.05.2026</a:t>
            </a:r>
          </a:p>
        </p:txBody>
      </p:sp>
      <p:sp>
        <p:nvSpPr>
          <p:cNvPr id="14" name="Oval 13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6" name="Oval 15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8" name="Oval 17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0" name="Oval 19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2" name="Oval 21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04 / 09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18.06.2026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4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Interim Presentation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46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First code foundation building up (MNIST, Flower)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50000" y="550000"/>
            <a:ext cx="2900000" cy="19000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1 - SLIDES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9" name="Oval 8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1" name="Oval 10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3" name="Oval 12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5" name="Oval 14"/>
          <p:cNvSpPr/>
          <p:nvPr/>
        </p:nvSpPr>
        <p:spPr>
          <a:xfrm>
            <a:off x="4517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18.06.2026</a:t>
            </a:r>
          </a:p>
        </p:txBody>
      </p:sp>
      <p:sp>
        <p:nvSpPr>
          <p:cNvPr id="17" name="Oval 16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9" name="Oval 18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1" name="Oval 20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3" name="Oval 22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05 / 09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25.06.2026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4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Interim Presentation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46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Mechanisms implemented albeit partly flawed (DP, FLTrust, TopK)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Testing extremely slow due to missing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50000" y="550000"/>
            <a:ext cx="2900000" cy="19000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2 - SLIDES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9" name="Oval 8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1" name="Oval 10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3" name="Oval 12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5" name="Oval 14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7" name="Oval 16"/>
          <p:cNvSpPr/>
          <p:nvPr/>
        </p:nvSpPr>
        <p:spPr>
          <a:xfrm>
            <a:off x="5510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25.06.2026</a:t>
            </a:r>
          </a:p>
        </p:txBody>
      </p:sp>
      <p:sp>
        <p:nvSpPr>
          <p:cNvPr id="19" name="Oval 18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1" name="Oval 20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3" name="Oval 22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06 / 09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09.07.2026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4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Unlock of Computational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46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Larger scale testing unlocked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GPU access and incrementally stable code foundation allows for CIFAR-10 testing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First results for large runs are coming 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50000" y="550000"/>
            <a:ext cx="2900000" cy="19000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ACCURACY / RUNTIME CHARTS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9" name="Oval 8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1" name="Oval 10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3" name="Oval 12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5" name="Oval 14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7" name="Oval 16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9" name="Oval 18"/>
          <p:cNvSpPr/>
          <p:nvPr/>
        </p:nvSpPr>
        <p:spPr>
          <a:xfrm>
            <a:off x="6503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09.07.2026</a:t>
            </a:r>
          </a:p>
        </p:txBody>
      </p:sp>
      <p:sp>
        <p:nvSpPr>
          <p:cNvPr id="21" name="Oval 20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3" name="Oval 22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07 / 09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16.07.2026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77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Final Report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7700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Written report on the Privacy-Robustness-Performance Trilemma due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8" name="Oval 7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0" name="Oval 9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2" name="Oval 11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4" name="Oval 13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6" name="Oval 15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8" name="Oval 17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0" name="Oval 19"/>
          <p:cNvSpPr/>
          <p:nvPr/>
        </p:nvSpPr>
        <p:spPr>
          <a:xfrm>
            <a:off x="7496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16.07.2026</a:t>
            </a:r>
          </a:p>
        </p:txBody>
      </p:sp>
      <p:sp>
        <p:nvSpPr>
          <p:cNvPr id="22" name="Oval 21"/>
          <p:cNvSpPr/>
          <p:nvPr/>
        </p:nvSpPr>
        <p:spPr>
          <a:xfrm>
            <a:off x="8509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08 / 09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0000" y="500000"/>
            <a:ext cx="1400000" cy="31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 wrap="none"/>
          <a:lstStyle/>
          <a:p>
            <a:pPr algn="ctr"/>
            <a:r>
              <a:rPr sz="1300" b="1">
                <a:solidFill>
                  <a:srgbClr val="245C9E"/>
                </a:solidFill>
                <a:latin typeface="Arial"/>
              </a:rPr>
              <a:t>20.07.2026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930000"/>
            <a:ext cx="4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023"/>
                </a:solidFill>
                <a:latin typeface="Arial"/>
              </a:rPr>
              <a:t>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50000"/>
            <a:ext cx="46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5C9E"/>
                </a:solidFill>
                <a:latin typeface="Arial"/>
              </a:rPr>
              <a:t>-  </a:t>
            </a:r>
            <a:r>
              <a:rPr sz="1400">
                <a:solidFill>
                  <a:srgbClr val="4B5563"/>
                </a:solidFill>
                <a:latin typeface="Arial"/>
              </a:rPr>
              <a:t>Closing presentation of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50000" y="550000"/>
            <a:ext cx="2900000" cy="19000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FINAL PRESENTATION - SLIDES/RESULTS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4550000"/>
            <a:ext cx="79440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5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9" name="Oval 8"/>
          <p:cNvSpPr/>
          <p:nvPr/>
        </p:nvSpPr>
        <p:spPr>
          <a:xfrm>
            <a:off x="1558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1" name="Oval 10"/>
          <p:cNvSpPr/>
          <p:nvPr/>
        </p:nvSpPr>
        <p:spPr>
          <a:xfrm>
            <a:off x="2551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6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3" name="Oval 12"/>
          <p:cNvSpPr/>
          <p:nvPr/>
        </p:nvSpPr>
        <p:spPr>
          <a:xfrm>
            <a:off x="3544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9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5" name="Oval 14"/>
          <p:cNvSpPr/>
          <p:nvPr/>
        </p:nvSpPr>
        <p:spPr>
          <a:xfrm>
            <a:off x="4537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2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7" name="Oval 16"/>
          <p:cNvSpPr/>
          <p:nvPr/>
        </p:nvSpPr>
        <p:spPr>
          <a:xfrm>
            <a:off x="5530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19" name="Oval 18"/>
          <p:cNvSpPr/>
          <p:nvPr/>
        </p:nvSpPr>
        <p:spPr>
          <a:xfrm>
            <a:off x="6523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8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1" name="Oval 20"/>
          <p:cNvSpPr/>
          <p:nvPr/>
        </p:nvSpPr>
        <p:spPr>
          <a:xfrm>
            <a:off x="7516000" y="4515000"/>
            <a:ext cx="70000" cy="7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1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3" name="Oval 22"/>
          <p:cNvSpPr/>
          <p:nvPr/>
        </p:nvSpPr>
        <p:spPr>
          <a:xfrm>
            <a:off x="8489000" y="4495000"/>
            <a:ext cx="110000" cy="1100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4000" y="4640000"/>
            <a:ext cx="100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F2023"/>
                </a:solidFill>
                <a:latin typeface="Arial"/>
              </a:rPr>
              <a:t>20.07.2026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4870000"/>
            <a:ext cx="9144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09 / 09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