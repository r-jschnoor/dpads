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notesSlides/notesSlide7.xml" ContentType="application/vnd.openxmlformats-officedocument.presentationml.notesSlide+xml"/>
  <Override PartName="/ppt/diagrams/data4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diagrams/data5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69" r:id="rId3"/>
    <p:sldId id="270" r:id="rId4"/>
    <p:sldId id="271" r:id="rId5"/>
    <p:sldId id="272" r:id="rId6"/>
    <p:sldId id="273" r:id="rId7"/>
    <p:sldId id="274" r:id="rId8"/>
    <p:sldId id="275" r:id="rId9"/>
    <p:sldId id="276" r:id="rId10"/>
    <p:sldId id="277" r:id="rId11"/>
    <p:sldId id="257" r:id="rId12"/>
    <p:sldId id="258" r:id="rId13"/>
    <p:sldId id="259" r:id="rId14"/>
    <p:sldId id="261" r:id="rId15"/>
    <p:sldId id="262" r:id="rId16"/>
    <p:sldId id="263" r:id="rId17"/>
    <p:sldId id="264" r:id="rId18"/>
    <p:sldId id="283" r:id="rId19"/>
    <p:sldId id="278" r:id="rId20"/>
    <p:sldId id="279" r:id="rId21"/>
    <p:sldId id="280" r:id="rId22"/>
    <p:sldId id="282" r:id="rId23"/>
    <p:sldId id="285" r:id="rId24"/>
    <p:sldId id="265" r:id="rId25"/>
    <p:sldId id="266" r:id="rId26"/>
    <p:sldId id="267" r:id="rId27"/>
    <p:sldId id="268" r:id="rId28"/>
    <p:sldId id="284" r:id="rId29"/>
  </p:sldIdLst>
  <p:sldSz cx="9144000" cy="5143500" type="screen16x9"/>
  <p:notesSz cx="6858000" cy="9144000"/>
  <p:defaultTextStyle>
    <a:defPPr>
      <a:defRPr lang="en-US"/>
    </a:defPPr>
    <a:lvl1pPr marL="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200" d="100"/>
          <a:sy n="200" d="100"/>
        </p:scale>
        <p:origin x="654" y="15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diagrams/_rels/data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image" Target="../media/image5.png"/></Relationships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diagrams/_rels/data5.xml.rels><?xml version="1.0" encoding="UTF-8" standalone="yes"?>
<Relationships xmlns="http://schemas.openxmlformats.org/package/2006/relationships"><Relationship Id="rId1" Type="http://schemas.openxmlformats.org/officeDocument/2006/relationships/image" Target="../media/image18.svg"/></Relationships>
</file>

<file path=ppt/diagrams/_rels/drawing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diagrams/_rels/drawing4.xml.rels><?xml version="1.0" encoding="UTF-8" standalone="yes"?>
<Relationships xmlns="http://schemas.openxmlformats.org/package/2006/relationships"><Relationship Id="rId1" Type="http://schemas.openxmlformats.org/officeDocument/2006/relationships/image" Target="../media/image18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5">
  <dgm:title val=""/>
  <dgm:desc val=""/>
  <dgm:catLst>
    <dgm:cat type="accent1" pri="11500"/>
  </dgm:catLst>
  <dgm:styleLbl name="node0">
    <dgm:fillClrLst meth="cycle"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1">
        <a:alpha val="90000"/>
      </a:schemeClr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alpha val="90000"/>
      </a:schemeClr>
      <a:schemeClr val="accent1">
        <a:alpha val="5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/>
    <dgm:txEffectClrLst/>
  </dgm:styleLbl>
  <dgm:styleLbl name="lnNode1">
    <dgm:fillClrLst>
      <a:schemeClr val="accent1">
        <a:shade val="90000"/>
      </a:schemeClr>
      <a:schemeClr val="accent1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  <a:alpha val="90000"/>
      </a:schemeClr>
      <a:schemeClr val="accent1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bgSibTrans2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/>
    <dgm:txEffectClrLst/>
  </dgm:styleLbl>
  <dgm:styleLbl name="sibTrans1D1">
    <dgm:fillClrLst>
      <a:schemeClr val="accent1">
        <a:shade val="90000"/>
      </a:schemeClr>
      <a:schemeClr val="accent1">
        <a:tint val="50000"/>
      </a:schemeClr>
    </dgm:fillClrLst>
    <dgm:linClrLst>
      <a:schemeClr val="accent1">
        <a:shade val="90000"/>
      </a:schemeClr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alpha val="90000"/>
      </a:schemeClr>
      <a:schemeClr val="accent1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1">
        <a:alpha val="90000"/>
        <a:tint val="40000"/>
      </a:schemeClr>
      <a:schemeClr val="accent1">
        <a:alpha val="5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70B75B4-4418-4536-91DD-3B60740F33A4}" type="doc">
      <dgm:prSet loTypeId="urn:microsoft.com/office/officeart/2016/7/layout/VerticalSolidActionList" loCatId="List" qsTypeId="urn:microsoft.com/office/officeart/2005/8/quickstyle/simple1#4" qsCatId="simple" csTypeId="urn:microsoft.com/office/officeart/2005/8/colors/accent0_3" csCatId="mainScheme" phldr="1"/>
      <dgm:spPr bwMode="auto"/>
      <dgm:t>
        <a:bodyPr/>
        <a:lstStyle/>
        <a:p>
          <a:pPr>
            <a:defRPr/>
          </a:pPr>
          <a:endParaRPr lang="en-US"/>
        </a:p>
      </dgm:t>
    </dgm:pt>
    <dgm:pt modelId="{31AECC0A-4921-4F18-8409-B7E6F57B13BC}">
      <dgm:prSet/>
      <dgm:spPr bwMode="auto"/>
      <dgm:t>
        <a:bodyPr/>
        <a:lstStyle/>
        <a:p>
          <a:pPr>
            <a:defRPr/>
          </a:pPr>
          <a:r>
            <a:rPr lang="de-DE"/>
            <a:t>Differential Privacy SGD</a:t>
          </a:r>
          <a:endParaRPr lang="en-US"/>
        </a:p>
      </dgm:t>
    </dgm:pt>
    <dgm:pt modelId="{01E367EB-7B95-4C92-8736-74504BA4E713}" type="parTrans" cxnId="{4D62C4A1-5ABC-47A0-87DB-AA11E51B7ED3}">
      <dgm:prSet/>
      <dgm:spPr bwMode="auto"/>
      <dgm:t>
        <a:bodyPr/>
        <a:lstStyle/>
        <a:p>
          <a:pPr>
            <a:defRPr/>
          </a:pPr>
          <a:endParaRPr lang="en-US"/>
        </a:p>
      </dgm:t>
    </dgm:pt>
    <dgm:pt modelId="{B6084F43-082D-4591-B15E-B1A6006C1C50}" type="sibTrans" cxnId="{4D62C4A1-5ABC-47A0-87DB-AA11E51B7ED3}">
      <dgm:prSet/>
      <dgm:spPr bwMode="auto"/>
      <dgm:t>
        <a:bodyPr/>
        <a:lstStyle/>
        <a:p>
          <a:pPr>
            <a:defRPr/>
          </a:pPr>
          <a:endParaRPr lang="en-US"/>
        </a:p>
      </dgm:t>
    </dgm:pt>
    <dgm:pt modelId="{B45F4F2F-DB28-4C3D-9593-B79879EEC34B}">
      <dgm:prSet/>
      <dgm:spPr bwMode="auto"/>
      <dgm:t>
        <a:bodyPr/>
        <a:lstStyle/>
        <a:p>
          <a:pPr>
            <a:defRPr/>
          </a:pPr>
          <a:r>
            <a:rPr lang="de-DE"/>
            <a:t>Locally clip per-sample gradients and add calibrated Gaussian noise</a:t>
          </a:r>
          <a:endParaRPr lang="en-US"/>
        </a:p>
      </dgm:t>
    </dgm:pt>
    <dgm:pt modelId="{03BC8542-8A83-4235-9FB9-9C00EDAA01CD}" type="parTrans" cxnId="{43B13B84-9B0B-45A7-9424-DC78A5F19DB2}">
      <dgm:prSet/>
      <dgm:spPr bwMode="auto"/>
      <dgm:t>
        <a:bodyPr/>
        <a:lstStyle/>
        <a:p>
          <a:pPr>
            <a:defRPr/>
          </a:pPr>
          <a:endParaRPr lang="en-US"/>
        </a:p>
      </dgm:t>
    </dgm:pt>
    <dgm:pt modelId="{F77354D6-7333-4308-B53B-A6BC953BB1C3}" type="sibTrans" cxnId="{43B13B84-9B0B-45A7-9424-DC78A5F19DB2}">
      <dgm:prSet/>
      <dgm:spPr bwMode="auto"/>
      <dgm:t>
        <a:bodyPr/>
        <a:lstStyle/>
        <a:p>
          <a:pPr>
            <a:defRPr/>
          </a:pPr>
          <a:endParaRPr lang="en-US"/>
        </a:p>
      </dgm:t>
    </dgm:pt>
    <dgm:pt modelId="{3887EB7A-CF5E-4EAC-AB87-5804078A878E}">
      <dgm:prSet/>
      <dgm:spPr bwMode="auto"/>
      <dgm:t>
        <a:bodyPr/>
        <a:lstStyle/>
        <a:p>
          <a:pPr>
            <a:defRPr/>
          </a:pPr>
          <a:r>
            <a:rPr lang="de-DE"/>
            <a:t>Top-k sparsification</a:t>
          </a:r>
          <a:endParaRPr lang="en-US"/>
        </a:p>
      </dgm:t>
    </dgm:pt>
    <dgm:pt modelId="{4B4B4E79-B3AD-42F8-9122-F5D4C3751F2B}" type="parTrans" cxnId="{BECE310D-081D-4DAB-803D-A447096D0DA8}">
      <dgm:prSet/>
      <dgm:spPr bwMode="auto"/>
      <dgm:t>
        <a:bodyPr/>
        <a:lstStyle/>
        <a:p>
          <a:pPr>
            <a:defRPr/>
          </a:pPr>
          <a:endParaRPr lang="en-US"/>
        </a:p>
      </dgm:t>
    </dgm:pt>
    <dgm:pt modelId="{B6542134-BADB-4F09-952F-5774B86D1FAF}" type="sibTrans" cxnId="{BECE310D-081D-4DAB-803D-A447096D0DA8}">
      <dgm:prSet/>
      <dgm:spPr bwMode="auto"/>
      <dgm:t>
        <a:bodyPr/>
        <a:lstStyle/>
        <a:p>
          <a:pPr>
            <a:defRPr/>
          </a:pPr>
          <a:endParaRPr lang="en-US"/>
        </a:p>
      </dgm:t>
    </dgm:pt>
    <dgm:pt modelId="{133E19AC-7B65-44D5-BC59-B44BDCA5CEEF}">
      <dgm:prSet/>
      <dgm:spPr bwMode="auto"/>
      <dgm:t>
        <a:bodyPr/>
        <a:lstStyle/>
        <a:p>
          <a:pPr>
            <a:defRPr/>
          </a:pPr>
          <a:r>
            <a:rPr lang="de-DE"/>
            <a:t>Transmit only </a:t>
          </a:r>
          <a:r>
            <a:rPr lang="de-DE" i="1"/>
            <a:t>k</a:t>
          </a:r>
          <a:r>
            <a:rPr lang="de-DE"/>
            <a:t> largest gradient components</a:t>
          </a:r>
          <a:endParaRPr lang="en-US"/>
        </a:p>
      </dgm:t>
    </dgm:pt>
    <dgm:pt modelId="{562B4DCE-9FDF-4175-8B3B-B8CD16F4F9E5}" type="parTrans" cxnId="{D11D9859-71E7-466D-975F-11B6FC6780E6}">
      <dgm:prSet/>
      <dgm:spPr bwMode="auto"/>
      <dgm:t>
        <a:bodyPr/>
        <a:lstStyle/>
        <a:p>
          <a:pPr>
            <a:defRPr/>
          </a:pPr>
          <a:endParaRPr lang="en-US"/>
        </a:p>
      </dgm:t>
    </dgm:pt>
    <dgm:pt modelId="{75731E9A-CBE8-4A62-B029-6C3960B651C0}" type="sibTrans" cxnId="{D11D9859-71E7-466D-975F-11B6FC6780E6}">
      <dgm:prSet/>
      <dgm:spPr bwMode="auto"/>
      <dgm:t>
        <a:bodyPr/>
        <a:lstStyle/>
        <a:p>
          <a:pPr>
            <a:defRPr/>
          </a:pPr>
          <a:endParaRPr lang="en-US"/>
        </a:p>
      </dgm:t>
    </dgm:pt>
    <dgm:pt modelId="{09333A97-4D05-445C-8683-21AFFDA72ED1}">
      <dgm:prSet phldrT="[Text]" phldr="0"/>
      <dgm:spPr bwMode="auto"/>
      <dgm:t>
        <a:bodyPr/>
        <a:lstStyle/>
        <a:p>
          <a:pPr rtl="0">
            <a:defRPr/>
          </a:pPr>
          <a:r>
            <a:rPr lang="de-DE" sz="1100">
              <a:latin typeface="Calibri"/>
            </a:rPr>
            <a:t>FLTrust</a:t>
          </a:r>
          <a:endParaRPr lang="en-US" sz="1100">
            <a:latin typeface="Calibri"/>
          </a:endParaRPr>
        </a:p>
      </dgm:t>
    </dgm:pt>
    <dgm:pt modelId="{F62B6691-55B8-4A81-BA00-1F90DBA219D9}" type="parTrans" cxnId="{310E79B5-D1BD-4FF1-8B9E-BDD2A7F0BEC6}">
      <dgm:prSet/>
      <dgm:spPr bwMode="auto"/>
      <dgm:t>
        <a:bodyPr/>
        <a:lstStyle/>
        <a:p>
          <a:endParaRPr lang="de-DE"/>
        </a:p>
      </dgm:t>
    </dgm:pt>
    <dgm:pt modelId="{54535B3F-C87E-4554-BC95-C03DFF917AA8}" type="sibTrans" cxnId="{310E79B5-D1BD-4FF1-8B9E-BDD2A7F0BEC6}">
      <dgm:prSet/>
      <dgm:spPr bwMode="auto"/>
      <dgm:t>
        <a:bodyPr/>
        <a:lstStyle/>
        <a:p>
          <a:endParaRPr lang="de-DE"/>
        </a:p>
      </dgm:t>
    </dgm:pt>
    <dgm:pt modelId="{4BB0E5F9-AA2A-40C3-AEBD-221E2FB9E7C8}">
      <dgm:prSet phldrT="[Text]" phldr="0"/>
      <dgm:spPr bwMode="auto"/>
      <dgm:t>
        <a:bodyPr/>
        <a:lstStyle/>
        <a:p>
          <a:pPr>
            <a:defRPr/>
          </a:pPr>
          <a:r>
            <a:rPr lang="de-DE" sz="1100">
              <a:latin typeface="Calibri"/>
            </a:rPr>
            <a:t>Weigh client contributions based on distance to an anchor update calculated on a root dataset</a:t>
          </a:r>
          <a:endParaRPr lang="en-US" sz="1100">
            <a:latin typeface="Calibri"/>
          </a:endParaRPr>
        </a:p>
      </dgm:t>
    </dgm:pt>
    <dgm:pt modelId="{4333F92B-FDFE-4340-950A-949AEA52A7CB}" type="parTrans" cxnId="{44A121BF-9C71-408F-93ED-DA274EC1D3D6}">
      <dgm:prSet/>
      <dgm:spPr bwMode="auto"/>
      <dgm:t>
        <a:bodyPr/>
        <a:lstStyle/>
        <a:p>
          <a:endParaRPr lang="de-DE"/>
        </a:p>
      </dgm:t>
    </dgm:pt>
    <dgm:pt modelId="{CB4D4E03-8EFB-40B1-BEBB-1EE953659016}" type="sibTrans" cxnId="{44A121BF-9C71-408F-93ED-DA274EC1D3D6}">
      <dgm:prSet/>
      <dgm:spPr bwMode="auto"/>
      <dgm:t>
        <a:bodyPr/>
        <a:lstStyle/>
        <a:p>
          <a:endParaRPr lang="de-DE"/>
        </a:p>
      </dgm:t>
    </dgm:pt>
    <dgm:pt modelId="{E597A36C-4131-4F19-8F11-C3B29C6448BD}" type="pres">
      <dgm:prSet presAssocID="{270B75B4-4418-4536-91DD-3B60740F33A4}" presName="Name0" presStyleCnt="0">
        <dgm:presLayoutVars>
          <dgm:dir/>
          <dgm:animLvl val="lvl"/>
          <dgm:resizeHandles val="exact"/>
        </dgm:presLayoutVars>
      </dgm:prSet>
      <dgm:spPr bwMode="auto"/>
    </dgm:pt>
    <dgm:pt modelId="{CA566A91-D6DB-453E-A704-F43494AE8D69}" type="pres">
      <dgm:prSet presAssocID="{09333A97-4D05-445C-8683-21AFFDA72ED1}" presName="linNode" presStyleCnt="0"/>
      <dgm:spPr bwMode="auto"/>
    </dgm:pt>
    <dgm:pt modelId="{BE9CCB95-0798-4326-A742-CFE6F0A4A024}" type="pres">
      <dgm:prSet presAssocID="{09333A97-4D05-445C-8683-21AFFDA72ED1}" presName="parentText" presStyleLbl="alignNode1" presStyleIdx="0" presStyleCnt="3">
        <dgm:presLayoutVars>
          <dgm:chMax val="1"/>
          <dgm:bulletEnabled/>
        </dgm:presLayoutVars>
      </dgm:prSet>
      <dgm:spPr bwMode="auto"/>
    </dgm:pt>
    <dgm:pt modelId="{8C644B47-FFB5-48AF-BAD9-95B1B6D38D93}" type="pres">
      <dgm:prSet presAssocID="{09333A97-4D05-445C-8683-21AFFDA72ED1}" presName="descendantText" presStyleLbl="alignAccFollowNode1" presStyleIdx="0" presStyleCnt="3">
        <dgm:presLayoutVars>
          <dgm:bulletEnabled/>
        </dgm:presLayoutVars>
      </dgm:prSet>
      <dgm:spPr bwMode="auto"/>
    </dgm:pt>
    <dgm:pt modelId="{6C9E36CB-B25A-402C-B4C5-F083ECF3323D}" type="pres">
      <dgm:prSet presAssocID="{54535B3F-C87E-4554-BC95-C03DFF917AA8}" presName="sp" presStyleCnt="0"/>
      <dgm:spPr bwMode="auto"/>
    </dgm:pt>
    <dgm:pt modelId="{1089E0DD-A71F-4870-BEDC-8C41E1A1D0E8}" type="pres">
      <dgm:prSet presAssocID="{31AECC0A-4921-4F18-8409-B7E6F57B13BC}" presName="linNode" presStyleCnt="0"/>
      <dgm:spPr bwMode="auto"/>
    </dgm:pt>
    <dgm:pt modelId="{B7724C46-34AD-4936-A2CB-707A185DE5EB}" type="pres">
      <dgm:prSet presAssocID="{31AECC0A-4921-4F18-8409-B7E6F57B13BC}" presName="parentText" presStyleLbl="alignNode1" presStyleIdx="1" presStyleCnt="3">
        <dgm:presLayoutVars>
          <dgm:chMax val="1"/>
          <dgm:bulletEnabled/>
        </dgm:presLayoutVars>
      </dgm:prSet>
      <dgm:spPr bwMode="auto"/>
    </dgm:pt>
    <dgm:pt modelId="{A18CFAB1-5977-404F-8E10-7DF991A539A2}" type="pres">
      <dgm:prSet presAssocID="{31AECC0A-4921-4F18-8409-B7E6F57B13BC}" presName="descendantText" presStyleLbl="alignAccFollowNode1" presStyleIdx="1" presStyleCnt="3">
        <dgm:presLayoutVars>
          <dgm:bulletEnabled/>
        </dgm:presLayoutVars>
      </dgm:prSet>
      <dgm:spPr bwMode="auto"/>
    </dgm:pt>
    <dgm:pt modelId="{EF3FC985-3FA3-48C4-A487-164EA4C8FCCA}" type="pres">
      <dgm:prSet presAssocID="{B6084F43-082D-4591-B15E-B1A6006C1C50}" presName="sp" presStyleCnt="0"/>
      <dgm:spPr bwMode="auto"/>
    </dgm:pt>
    <dgm:pt modelId="{06EBD8CA-2D12-487A-98F4-20F7424D8034}" type="pres">
      <dgm:prSet presAssocID="{3887EB7A-CF5E-4EAC-AB87-5804078A878E}" presName="linNode" presStyleCnt="0"/>
      <dgm:spPr bwMode="auto"/>
    </dgm:pt>
    <dgm:pt modelId="{30FE7AC9-04EB-4186-8DB5-B3EA78643A74}" type="pres">
      <dgm:prSet presAssocID="{3887EB7A-CF5E-4EAC-AB87-5804078A878E}" presName="parentText" presStyleLbl="alignNode1" presStyleIdx="2" presStyleCnt="3">
        <dgm:presLayoutVars>
          <dgm:chMax val="1"/>
          <dgm:bulletEnabled/>
        </dgm:presLayoutVars>
      </dgm:prSet>
      <dgm:spPr bwMode="auto"/>
    </dgm:pt>
    <dgm:pt modelId="{F19D84E7-44C8-4A93-AFF7-5D646E150CE6}" type="pres">
      <dgm:prSet presAssocID="{3887EB7A-CF5E-4EAC-AB87-5804078A878E}" presName="descendantText" presStyleLbl="alignAccFollowNode1" presStyleIdx="2" presStyleCnt="3">
        <dgm:presLayoutVars>
          <dgm:bulletEnabled/>
        </dgm:presLayoutVars>
      </dgm:prSet>
      <dgm:spPr bwMode="auto"/>
    </dgm:pt>
  </dgm:ptLst>
  <dgm:cxnLst>
    <dgm:cxn modelId="{BECE310D-081D-4DAB-803D-A447096D0DA8}" srcId="{270B75B4-4418-4536-91DD-3B60740F33A4}" destId="{3887EB7A-CF5E-4EAC-AB87-5804078A878E}" srcOrd="2" destOrd="0" parTransId="{4B4B4E79-B3AD-42F8-9122-F5D4C3751F2B}" sibTransId="{B6542134-BADB-4F09-952F-5774B86D1FAF}"/>
    <dgm:cxn modelId="{E7609F29-30F7-46DF-B7A9-63E88C6418A2}" type="presOf" srcId="{4BB0E5F9-AA2A-40C3-AEBD-221E2FB9E7C8}" destId="{8C644B47-FFB5-48AF-BAD9-95B1B6D38D93}" srcOrd="0" destOrd="0" presId="urn:microsoft.com/office/officeart/2016/7/layout/VerticalSolidActionList"/>
    <dgm:cxn modelId="{38C4FD4F-6FEE-4AB0-BA7E-4673C10B50D1}" type="presOf" srcId="{3887EB7A-CF5E-4EAC-AB87-5804078A878E}" destId="{30FE7AC9-04EB-4186-8DB5-B3EA78643A74}" srcOrd="0" destOrd="0" presId="urn:microsoft.com/office/officeart/2016/7/layout/VerticalSolidActionList"/>
    <dgm:cxn modelId="{D11D9859-71E7-466D-975F-11B6FC6780E6}" srcId="{3887EB7A-CF5E-4EAC-AB87-5804078A878E}" destId="{133E19AC-7B65-44D5-BC59-B44BDCA5CEEF}" srcOrd="0" destOrd="0" parTransId="{562B4DCE-9FDF-4175-8B3B-B8CD16F4F9E5}" sibTransId="{75731E9A-CBE8-4A62-B029-6C3960B651C0}"/>
    <dgm:cxn modelId="{F09C7F5A-1530-4368-BAAE-A4585D70494B}" type="presOf" srcId="{09333A97-4D05-445C-8683-21AFFDA72ED1}" destId="{BE9CCB95-0798-4326-A742-CFE6F0A4A024}" srcOrd="0" destOrd="0" presId="urn:microsoft.com/office/officeart/2016/7/layout/VerticalSolidActionList"/>
    <dgm:cxn modelId="{43B13B84-9B0B-45A7-9424-DC78A5F19DB2}" srcId="{31AECC0A-4921-4F18-8409-B7E6F57B13BC}" destId="{B45F4F2F-DB28-4C3D-9593-B79879EEC34B}" srcOrd="0" destOrd="0" parTransId="{03BC8542-8A83-4235-9FB9-9C00EDAA01CD}" sibTransId="{F77354D6-7333-4308-B53B-A6BC953BB1C3}"/>
    <dgm:cxn modelId="{DA1E169B-30D6-41A0-9A43-51BF7713CC9F}" type="presOf" srcId="{B45F4F2F-DB28-4C3D-9593-B79879EEC34B}" destId="{A18CFAB1-5977-404F-8E10-7DF991A539A2}" srcOrd="0" destOrd="0" presId="urn:microsoft.com/office/officeart/2016/7/layout/VerticalSolidActionList"/>
    <dgm:cxn modelId="{4D62C4A1-5ABC-47A0-87DB-AA11E51B7ED3}" srcId="{270B75B4-4418-4536-91DD-3B60740F33A4}" destId="{31AECC0A-4921-4F18-8409-B7E6F57B13BC}" srcOrd="1" destOrd="0" parTransId="{01E367EB-7B95-4C92-8736-74504BA4E713}" sibTransId="{B6084F43-082D-4591-B15E-B1A6006C1C50}"/>
    <dgm:cxn modelId="{AF5AC0A4-0799-43BC-9873-7F9B11DFEC68}" type="presOf" srcId="{270B75B4-4418-4536-91DD-3B60740F33A4}" destId="{E597A36C-4131-4F19-8F11-C3B29C6448BD}" srcOrd="0" destOrd="0" presId="urn:microsoft.com/office/officeart/2016/7/layout/VerticalSolidActionList"/>
    <dgm:cxn modelId="{89A456A8-79AC-4705-8101-C8C8663359EF}" type="presOf" srcId="{133E19AC-7B65-44D5-BC59-B44BDCA5CEEF}" destId="{F19D84E7-44C8-4A93-AFF7-5D646E150CE6}" srcOrd="0" destOrd="0" presId="urn:microsoft.com/office/officeart/2016/7/layout/VerticalSolidActionList"/>
    <dgm:cxn modelId="{310E79B5-D1BD-4FF1-8B9E-BDD2A7F0BEC6}" srcId="{270B75B4-4418-4536-91DD-3B60740F33A4}" destId="{09333A97-4D05-445C-8683-21AFFDA72ED1}" srcOrd="0" destOrd="0" parTransId="{F62B6691-55B8-4A81-BA00-1F90DBA219D9}" sibTransId="{54535B3F-C87E-4554-BC95-C03DFF917AA8}"/>
    <dgm:cxn modelId="{44A121BF-9C71-408F-93ED-DA274EC1D3D6}" srcId="{09333A97-4D05-445C-8683-21AFFDA72ED1}" destId="{4BB0E5F9-AA2A-40C3-AEBD-221E2FB9E7C8}" srcOrd="0" destOrd="0" parTransId="{4333F92B-FDFE-4340-950A-949AEA52A7CB}" sibTransId="{CB4D4E03-8EFB-40B1-BEBB-1EE953659016}"/>
    <dgm:cxn modelId="{7EC323F4-A70D-4F4F-B944-058DAABCC441}" type="presOf" srcId="{31AECC0A-4921-4F18-8409-B7E6F57B13BC}" destId="{B7724C46-34AD-4936-A2CB-707A185DE5EB}" srcOrd="0" destOrd="0" presId="urn:microsoft.com/office/officeart/2016/7/layout/VerticalSolidActionList"/>
    <dgm:cxn modelId="{6A7B41B4-6B4D-447C-9F24-C60E7AB3D9C4}" type="presParOf" srcId="{E597A36C-4131-4F19-8F11-C3B29C6448BD}" destId="{CA566A91-D6DB-453E-A704-F43494AE8D69}" srcOrd="0" destOrd="0" presId="urn:microsoft.com/office/officeart/2016/7/layout/VerticalSolidActionList"/>
    <dgm:cxn modelId="{FCF049EE-00B4-4A6E-9C5D-18913A5003FD}" type="presParOf" srcId="{CA566A91-D6DB-453E-A704-F43494AE8D69}" destId="{BE9CCB95-0798-4326-A742-CFE6F0A4A024}" srcOrd="0" destOrd="0" presId="urn:microsoft.com/office/officeart/2016/7/layout/VerticalSolidActionList"/>
    <dgm:cxn modelId="{730CF871-67D7-4D17-AB64-ABED33923938}" type="presParOf" srcId="{CA566A91-D6DB-453E-A704-F43494AE8D69}" destId="{8C644B47-FFB5-48AF-BAD9-95B1B6D38D93}" srcOrd="1" destOrd="0" presId="urn:microsoft.com/office/officeart/2016/7/layout/VerticalSolidActionList"/>
    <dgm:cxn modelId="{07F14DB5-AD79-4D41-8430-ECA0531D9441}" type="presParOf" srcId="{E597A36C-4131-4F19-8F11-C3B29C6448BD}" destId="{6C9E36CB-B25A-402C-B4C5-F083ECF3323D}" srcOrd="1" destOrd="0" presId="urn:microsoft.com/office/officeart/2016/7/layout/VerticalSolidActionList"/>
    <dgm:cxn modelId="{29E985AD-121C-47D7-B9F2-F1379BEDF747}" type="presParOf" srcId="{E597A36C-4131-4F19-8F11-C3B29C6448BD}" destId="{1089E0DD-A71F-4870-BEDC-8C41E1A1D0E8}" srcOrd="2" destOrd="0" presId="urn:microsoft.com/office/officeart/2016/7/layout/VerticalSolidActionList"/>
    <dgm:cxn modelId="{64532807-3E5B-47F0-B1B9-A3A10EFF053E}" type="presParOf" srcId="{1089E0DD-A71F-4870-BEDC-8C41E1A1D0E8}" destId="{B7724C46-34AD-4936-A2CB-707A185DE5EB}" srcOrd="0" destOrd="0" presId="urn:microsoft.com/office/officeart/2016/7/layout/VerticalSolidActionList"/>
    <dgm:cxn modelId="{03B98A0C-7B09-4A40-8FC8-C165187CF94D}" type="presParOf" srcId="{1089E0DD-A71F-4870-BEDC-8C41E1A1D0E8}" destId="{A18CFAB1-5977-404F-8E10-7DF991A539A2}" srcOrd="1" destOrd="0" presId="urn:microsoft.com/office/officeart/2016/7/layout/VerticalSolidActionList"/>
    <dgm:cxn modelId="{4C2666B6-2BF2-49EB-9F15-0B38DFE47519}" type="presParOf" srcId="{E597A36C-4131-4F19-8F11-C3B29C6448BD}" destId="{EF3FC985-3FA3-48C4-A487-164EA4C8FCCA}" srcOrd="3" destOrd="0" presId="urn:microsoft.com/office/officeart/2016/7/layout/VerticalSolidActionList"/>
    <dgm:cxn modelId="{546957D4-F90B-4A95-AE3D-8196A4B1FA2A}" type="presParOf" srcId="{E597A36C-4131-4F19-8F11-C3B29C6448BD}" destId="{06EBD8CA-2D12-487A-98F4-20F7424D8034}" srcOrd="4" destOrd="0" presId="urn:microsoft.com/office/officeart/2016/7/layout/VerticalSolidActionList"/>
    <dgm:cxn modelId="{75ED74A3-CA6B-4FAE-9169-6D2337EE0A3B}" type="presParOf" srcId="{06EBD8CA-2D12-487A-98F4-20F7424D8034}" destId="{30FE7AC9-04EB-4186-8DB5-B3EA78643A74}" srcOrd="0" destOrd="0" presId="urn:microsoft.com/office/officeart/2016/7/layout/VerticalSolidActionList"/>
    <dgm:cxn modelId="{E94EC170-8F4E-4335-A8CD-2431637E0C59}" type="presParOf" srcId="{06EBD8CA-2D12-487A-98F4-20F7424D8034}" destId="{F19D84E7-44C8-4A93-AFF7-5D646E150CE6}" srcOrd="1" destOrd="0" presId="urn:microsoft.com/office/officeart/2016/7/layout/VerticalSolidAction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EF76F26-3412-42CA-93D2-AAA32DD20D91}" type="doc">
      <dgm:prSet loTypeId="urn:microsoft.com/office/officeart/2018/2/layout/IconLabelDescriptionList" loCatId="icon" qsTypeId="urn:microsoft.com/office/officeart/2005/8/quickstyle/simple1#5" qsCatId="simple" csTypeId="urn:microsoft.com/office/officeart/2005/8/colors/accent3_2" csCatId="accent3" phldr="1"/>
      <dgm:spPr bwMode="auto"/>
      <dgm:t>
        <a:bodyPr/>
        <a:lstStyle/>
        <a:p>
          <a:pPr>
            <a:defRPr/>
          </a:pPr>
          <a:endParaRPr lang="en-US"/>
        </a:p>
      </dgm:t>
    </dgm:pt>
    <dgm:pt modelId="{728CC77A-736E-4BBA-9F75-21F84626EFAB}">
      <dgm:prSet/>
      <dgm:spPr bwMode="auto"/>
      <dgm:t>
        <a:bodyPr vert="horz" anchor="t"/>
        <a:lstStyle/>
        <a:p>
          <a:pPr algn="l" defTabSz="1600200">
            <a:lnSpc>
              <a:spcPct val="90000"/>
            </a:lnSpc>
            <a:spcBef>
              <a:spcPts val="0"/>
            </a:spcBef>
            <a:spcAft>
              <a:spcPts val="0"/>
            </a:spcAft>
            <a:defRPr/>
          </a:pPr>
          <a:endParaRPr/>
        </a:p>
      </dgm:t>
    </dgm:pt>
    <dgm:pt modelId="{B4E16996-3450-497C-A182-C2723FB833CB}" type="parTrans" cxnId="{0C1E7973-3555-4C81-B8D7-085CB8B3D456}">
      <dgm:prSet/>
      <dgm:spPr bwMode="auto"/>
      <dgm:t>
        <a:bodyPr/>
        <a:lstStyle/>
        <a:p>
          <a:pPr>
            <a:defRPr/>
          </a:pPr>
          <a:endParaRPr lang="en-US"/>
        </a:p>
      </dgm:t>
    </dgm:pt>
    <dgm:pt modelId="{5A5C9162-0795-4597-82BD-EFB39BA33DBC}" type="sibTrans" cxnId="{0C1E7973-3555-4C81-B8D7-085CB8B3D456}">
      <dgm:prSet/>
      <dgm:spPr bwMode="auto"/>
      <dgm:t>
        <a:bodyPr/>
        <a:lstStyle/>
        <a:p>
          <a:pPr>
            <a:defRPr/>
          </a:pPr>
          <a:endParaRPr lang="en-US"/>
        </a:p>
      </dgm:t>
    </dgm:pt>
    <dgm:pt modelId="{EAF0E638-215D-4A67-A469-90C6F028508F}">
      <dgm:prSet/>
      <dgm:spPr bwMode="auto"/>
      <dgm:t>
        <a:bodyPr vert="horz" anchor="t"/>
        <a:lstStyle/>
        <a:p>
          <a:pPr algn="ctr" defTabSz="755649">
            <a:lnSpc>
              <a:spcPct val="90000"/>
            </a:lnSpc>
            <a:spcBef>
              <a:spcPts val="0"/>
            </a:spcBef>
            <a:spcAft>
              <a:spcPts val="0"/>
            </a:spcAft>
            <a:defRPr/>
          </a:pPr>
          <a:r>
            <a:rPr lang="en-US" dirty="0"/>
            <a:t>The Server is </a:t>
          </a:r>
          <a:r>
            <a:rPr lang="en-US" b="1" dirty="0"/>
            <a:t>honest</a:t>
          </a:r>
          <a:r>
            <a:rPr lang="de-DE" b="1" dirty="0"/>
            <a:t>,</a:t>
          </a:r>
          <a:r>
            <a:rPr lang="en-US" b="1" dirty="0"/>
            <a:t> but curious</a:t>
          </a:r>
          <a:endParaRPr lang="en-US" dirty="0"/>
        </a:p>
      </dgm:t>
    </dgm:pt>
    <dgm:pt modelId="{92BE87EA-E0EF-480F-B579-0878E9E1C1F9}" type="parTrans" cxnId="{E2BC7281-BC81-4A96-9B47-7B2EA946FE1A}">
      <dgm:prSet/>
      <dgm:spPr bwMode="auto"/>
      <dgm:t>
        <a:bodyPr/>
        <a:lstStyle/>
        <a:p>
          <a:pPr>
            <a:defRPr/>
          </a:pPr>
          <a:endParaRPr lang="en-US"/>
        </a:p>
      </dgm:t>
    </dgm:pt>
    <dgm:pt modelId="{9E0376D1-6F56-4893-BF65-EBC61C59C2E7}" type="sibTrans" cxnId="{E2BC7281-BC81-4A96-9B47-7B2EA946FE1A}">
      <dgm:prSet/>
      <dgm:spPr bwMode="auto"/>
      <dgm:t>
        <a:bodyPr/>
        <a:lstStyle/>
        <a:p>
          <a:pPr>
            <a:defRPr/>
          </a:pPr>
          <a:endParaRPr lang="en-US"/>
        </a:p>
      </dgm:t>
    </dgm:pt>
    <dgm:pt modelId="{C492F163-2640-4DF1-B226-161FF7CFA5E1}">
      <dgm:prSet/>
      <dgm:spPr bwMode="auto"/>
      <dgm:t>
        <a:bodyPr vert="horz" anchor="t"/>
        <a:lstStyle/>
        <a:p>
          <a:pPr algn="l" defTabSz="1600200">
            <a:lnSpc>
              <a:spcPct val="90000"/>
            </a:lnSpc>
            <a:spcBef>
              <a:spcPts val="0"/>
            </a:spcBef>
            <a:spcAft>
              <a:spcPts val="0"/>
            </a:spcAft>
            <a:defRPr/>
          </a:pPr>
          <a:endParaRPr/>
        </a:p>
      </dgm:t>
    </dgm:pt>
    <dgm:pt modelId="{C77C8B44-BDE7-48EC-B9F6-DEFC202EE0CE}" type="parTrans" cxnId="{865189B3-6C0F-463E-A0C6-C2C427AC60E2}">
      <dgm:prSet/>
      <dgm:spPr bwMode="auto"/>
      <dgm:t>
        <a:bodyPr/>
        <a:lstStyle/>
        <a:p>
          <a:pPr>
            <a:defRPr/>
          </a:pPr>
          <a:endParaRPr lang="en-US"/>
        </a:p>
      </dgm:t>
    </dgm:pt>
    <dgm:pt modelId="{62D25563-53FA-484E-BC50-D1B694792707}" type="sibTrans" cxnId="{865189B3-6C0F-463E-A0C6-C2C427AC60E2}">
      <dgm:prSet/>
      <dgm:spPr bwMode="auto"/>
      <dgm:t>
        <a:bodyPr/>
        <a:lstStyle/>
        <a:p>
          <a:pPr>
            <a:defRPr/>
          </a:pPr>
          <a:endParaRPr lang="en-US"/>
        </a:p>
      </dgm:t>
    </dgm:pt>
    <dgm:pt modelId="{2608E37F-FB36-47CC-8988-344DF62DFE12}">
      <dgm:prSet/>
      <dgm:spPr bwMode="auto"/>
      <dgm:t>
        <a:bodyPr vert="horz" anchor="t"/>
        <a:lstStyle/>
        <a:p>
          <a:pPr algn="ctr" defTabSz="755649">
            <a:lnSpc>
              <a:spcPct val="90000"/>
            </a:lnSpc>
            <a:spcBef>
              <a:spcPts val="0"/>
            </a:spcBef>
            <a:spcAft>
              <a:spcPts val="0"/>
            </a:spcAft>
            <a:defRPr/>
          </a:pPr>
          <a:r>
            <a:rPr lang="en-US" dirty="0"/>
            <a:t>Clients are </a:t>
          </a:r>
          <a:r>
            <a:rPr lang="en-US" b="1" dirty="0"/>
            <a:t>honest</a:t>
          </a:r>
          <a:endParaRPr lang="en-US" dirty="0"/>
        </a:p>
      </dgm:t>
    </dgm:pt>
    <dgm:pt modelId="{B3262584-3356-472D-BB7D-66E2C51E29CD}" type="parTrans" cxnId="{A5F39F34-3A24-4CA9-98C0-B3C1DFD298DD}">
      <dgm:prSet/>
      <dgm:spPr bwMode="auto"/>
      <dgm:t>
        <a:bodyPr/>
        <a:lstStyle/>
        <a:p>
          <a:pPr>
            <a:defRPr/>
          </a:pPr>
          <a:endParaRPr lang="en-US"/>
        </a:p>
      </dgm:t>
    </dgm:pt>
    <dgm:pt modelId="{A06F81E0-0890-423F-8CCB-5B5A2A642034}" type="sibTrans" cxnId="{A5F39F34-3A24-4CA9-98C0-B3C1DFD298DD}">
      <dgm:prSet/>
      <dgm:spPr bwMode="auto"/>
      <dgm:t>
        <a:bodyPr/>
        <a:lstStyle/>
        <a:p>
          <a:pPr>
            <a:defRPr/>
          </a:pPr>
          <a:endParaRPr lang="en-US"/>
        </a:p>
      </dgm:t>
    </dgm:pt>
    <mc:AlternateContent xmlns:mc="http://schemas.openxmlformats.org/markup-compatibility/2006">
      <mc:Choice xmlns:a14="http://schemas.microsoft.com/office/drawing/2010/main" Requires="a14">
        <dgm:pt modelId="{CDA6F5F2-C88F-4819-B9FA-82B10438691A}">
          <dgm:prSet/>
          <dgm:spPr bwMode="auto"/>
          <dgm:t>
            <a:bodyPr vert="horz" anchor="t"/>
            <a:lstStyle/>
            <a:p>
              <a:pPr algn="ctr" defTabSz="755649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14:m>
                <m:oMath xmlns:m="http://schemas.openxmlformats.org/officeDocument/2006/math">
                  <m:r>
                    <a:rPr lang="en-US" sz="1700" u="none" strike="noStrike" cap="none" spc="0">
                      <a:solidFill>
                        <a:schemeClr val="tx1"/>
                      </a:solidFill>
                      <a:latin typeface="Cambria Math"/>
                      <a:ea typeface="Cambria Math"/>
                      <a:cs typeface="Cambria Math"/>
                    </a:rPr>
                    <m:t>𝜂</m:t>
                  </m:r>
                  <m:r>
                    <a:rPr lang="en-US" sz="1700" u="none" strike="noStrike" cap="none" spc="0">
                      <a:solidFill>
                        <a:schemeClr val="tx1"/>
                      </a:solidFill>
                      <a:latin typeface="Cambria Math"/>
                      <a:ea typeface="Cambria Math"/>
                      <a:cs typeface="Cambria Math"/>
                    </a:rPr>
                    <m:t>%</m:t>
                  </m:r>
                </m:oMath>
              </a14:m>
              <a:r>
                <a:rPr lang="de-DE" dirty="0"/>
                <a:t> </a:t>
              </a:r>
              <a:r>
                <a:rPr lang="de-DE" dirty="0" err="1"/>
                <a:t>of</a:t>
              </a:r>
              <a:r>
                <a:rPr lang="de-DE" dirty="0"/>
                <a:t> </a:t>
              </a:r>
              <a:r>
                <a:rPr lang="de-DE" dirty="0" err="1"/>
                <a:t>the</a:t>
              </a:r>
              <a:r>
                <a:rPr lang="de-DE" dirty="0"/>
                <a:t> </a:t>
              </a:r>
              <a:r>
                <a:rPr lang="en-US" dirty="0"/>
                <a:t>clients are </a:t>
              </a:r>
              <a:r>
                <a:rPr lang="en-US" b="1" dirty="0"/>
                <a:t>malicious</a:t>
              </a:r>
              <a:endParaRPr lang="en-US" dirty="0"/>
            </a:p>
          </dgm:t>
        </dgm:pt>
      </mc:Choice>
      <mc:Fallback>
        <dgm:pt modelId="{CDA6F5F2-C88F-4819-B9FA-82B10438691A}">
          <dgm:prSet/>
          <dgm:spPr bwMode="auto"/>
          <dgm:t>
            <a:bodyPr vert="horz" anchor="t"/>
            <a:lstStyle/>
            <a:p>
              <a:pPr algn="ctr" defTabSz="755649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sz="1700" i="0" u="none" strike="noStrike" cap="none" spc="0">
                  <a:solidFill>
                    <a:schemeClr val="tx1"/>
                  </a:solidFill>
                  <a:latin typeface="Cambria Math"/>
                  <a:ea typeface="Cambria Math"/>
                  <a:cs typeface="Cambria Math"/>
                </a:rPr>
                <a:t>𝜂%</a:t>
              </a:r>
              <a:r>
                <a:rPr lang="de-DE" dirty="0"/>
                <a:t> </a:t>
              </a:r>
              <a:r>
                <a:rPr lang="de-DE" dirty="0" err="1"/>
                <a:t>of</a:t>
              </a:r>
              <a:r>
                <a:rPr lang="de-DE" dirty="0"/>
                <a:t> </a:t>
              </a:r>
              <a:r>
                <a:rPr lang="de-DE" dirty="0" err="1"/>
                <a:t>the</a:t>
              </a:r>
              <a:r>
                <a:rPr lang="de-DE" dirty="0"/>
                <a:t> </a:t>
              </a:r>
              <a:r>
                <a:rPr lang="en-US" dirty="0"/>
                <a:t>clients are </a:t>
              </a:r>
              <a:r>
                <a:rPr lang="en-US" b="1" dirty="0"/>
                <a:t>malicious</a:t>
              </a:r>
              <a:endParaRPr lang="en-US" dirty="0"/>
            </a:p>
          </dgm:t>
        </dgm:pt>
      </mc:Fallback>
    </mc:AlternateContent>
    <dgm:pt modelId="{A5CBECD4-3BF5-4C92-B73B-1135C167AF6C}" type="parTrans" cxnId="{E4C3EA2F-793B-4524-BBAE-509CAA4F2566}">
      <dgm:prSet/>
      <dgm:spPr bwMode="auto"/>
      <dgm:t>
        <a:bodyPr/>
        <a:lstStyle/>
        <a:p>
          <a:pPr>
            <a:defRPr/>
          </a:pPr>
          <a:endParaRPr lang="en-US"/>
        </a:p>
      </dgm:t>
    </dgm:pt>
    <dgm:pt modelId="{2E59FE6A-904B-48A5-889F-E864C070205E}" type="sibTrans" cxnId="{E4C3EA2F-793B-4524-BBAE-509CAA4F2566}">
      <dgm:prSet/>
      <dgm:spPr bwMode="auto"/>
      <dgm:t>
        <a:bodyPr/>
        <a:lstStyle/>
        <a:p>
          <a:pPr>
            <a:defRPr/>
          </a:pPr>
          <a:endParaRPr lang="en-US"/>
        </a:p>
      </dgm:t>
    </dgm:pt>
    <dgm:pt modelId="{BEBAA743-D796-4CF2-B66D-32C5A37AB105}" type="pres">
      <dgm:prSet presAssocID="{CEF76F26-3412-42CA-93D2-AAA32DD20D91}" presName="root" presStyleCnt="0">
        <dgm:presLayoutVars>
          <dgm:dir/>
          <dgm:resizeHandles val="exact"/>
        </dgm:presLayoutVars>
      </dgm:prSet>
      <dgm:spPr bwMode="auto"/>
    </dgm:pt>
    <dgm:pt modelId="{E9C46E64-4A39-454E-B45A-6C407EB25943}" type="pres">
      <dgm:prSet presAssocID="{728CC77A-736E-4BBA-9F75-21F84626EFAB}" presName="compNode" presStyleCnt="0"/>
      <dgm:spPr bwMode="auto"/>
    </dgm:pt>
    <dgm:pt modelId="{D97FAFBD-A84B-4509-9F67-5888E67A067C}" type="pres">
      <dgm:prSet presAssocID="{728CC77A-736E-4BBA-9F75-21F84626EFAB}" presName="iconRect" presStyleLbl="node1" presStyleIdx="0" presStyleCnt="2" custLinFactNeighborX="94017" custLinFactNeighborY="33400"/>
      <dgm:spPr bwMode="auto">
        <a:blipFill rotWithShape="1">
          <a:blip xmlns:r="http://schemas.openxmlformats.org/officeDocument/2006/relationships" r:embed="rId1"/>
          <a:stretch/>
        </a:blipFill>
        <a:ln>
          <a:noFill/>
        </a:ln>
      </dgm:spPr>
    </dgm:pt>
    <dgm:pt modelId="{02B7375F-1EA2-4B74-86A9-05C233830BD8}" type="pres">
      <dgm:prSet presAssocID="{728CC77A-736E-4BBA-9F75-21F84626EFAB}" presName="iconSpace" presStyleCnt="0"/>
      <dgm:spPr bwMode="auto"/>
    </dgm:pt>
    <dgm:pt modelId="{39087910-3F29-4E11-A512-FC640F1855CB}" type="pres">
      <dgm:prSet presAssocID="{728CC77A-736E-4BBA-9F75-21F84626EFAB}" presName="parTx" presStyleLbl="revTx" presStyleIdx="0" presStyleCnt="4">
        <dgm:presLayoutVars>
          <dgm:chMax val="0"/>
          <dgm:chPref val="0"/>
        </dgm:presLayoutVars>
      </dgm:prSet>
      <dgm:spPr bwMode="auto"/>
    </dgm:pt>
    <dgm:pt modelId="{E82B6773-C74E-4B6E-B662-3F9F6CE86866}" type="pres">
      <dgm:prSet presAssocID="{728CC77A-736E-4BBA-9F75-21F84626EFAB}" presName="txSpace" presStyleCnt="0"/>
      <dgm:spPr bwMode="auto"/>
    </dgm:pt>
    <dgm:pt modelId="{4FEDAA2A-B7B1-4650-AA0D-7AD7F5826766}" type="pres">
      <dgm:prSet presAssocID="{728CC77A-736E-4BBA-9F75-21F84626EFAB}" presName="desTx" presStyleLbl="revTx" presStyleIdx="1" presStyleCnt="4">
        <dgm:presLayoutVars/>
      </dgm:prSet>
      <dgm:spPr bwMode="auto"/>
    </dgm:pt>
    <dgm:pt modelId="{53053932-DE2B-4CDE-8649-EE3C3FD45702}" type="pres">
      <dgm:prSet presAssocID="{5A5C9162-0795-4597-82BD-EFB39BA33DBC}" presName="sibTrans" presStyleCnt="0"/>
      <dgm:spPr bwMode="auto"/>
    </dgm:pt>
    <dgm:pt modelId="{5D6535FE-C422-4240-B6D3-60663B17309E}" type="pres">
      <dgm:prSet presAssocID="{C492F163-2640-4DF1-B226-161FF7CFA5E1}" presName="compNode" presStyleCnt="0"/>
      <dgm:spPr bwMode="auto"/>
    </dgm:pt>
    <dgm:pt modelId="{A3D68BA3-666A-4709-99CC-0C398C9C6F6E}" type="pres">
      <dgm:prSet presAssocID="{C492F163-2640-4DF1-B226-161FF7CFA5E1}" presName="iconRect" presStyleLbl="node1" presStyleIdx="1" presStyleCnt="2" custLinFactNeighborX="94556" custLinFactNeighborY="27316"/>
      <dgm:spPr bwMode="auto">
        <a:blipFill rotWithShape="1">
          <a:blip xmlns:r="http://schemas.openxmlformats.org/officeDocument/2006/relationships" r:embed="rId2"/>
          <a:stretch/>
        </a:blipFill>
        <a:ln>
          <a:noFill/>
        </a:ln>
      </dgm:spPr>
    </dgm:pt>
    <dgm:pt modelId="{7B0A8ABF-F197-4EC3-BBE7-D3CF4539210C}" type="pres">
      <dgm:prSet presAssocID="{C492F163-2640-4DF1-B226-161FF7CFA5E1}" presName="iconSpace" presStyleCnt="0"/>
      <dgm:spPr bwMode="auto"/>
    </dgm:pt>
    <dgm:pt modelId="{A45DE040-80F8-4A94-A112-414F2EBE5D28}" type="pres">
      <dgm:prSet presAssocID="{C492F163-2640-4DF1-B226-161FF7CFA5E1}" presName="parTx" presStyleLbl="revTx" presStyleIdx="2" presStyleCnt="4">
        <dgm:presLayoutVars>
          <dgm:chMax val="0"/>
          <dgm:chPref val="0"/>
        </dgm:presLayoutVars>
      </dgm:prSet>
      <dgm:spPr bwMode="auto"/>
    </dgm:pt>
    <dgm:pt modelId="{5B04C835-8C5C-4949-88B5-28C31E627815}" type="pres">
      <dgm:prSet presAssocID="{C492F163-2640-4DF1-B226-161FF7CFA5E1}" presName="txSpace" presStyleCnt="0"/>
      <dgm:spPr bwMode="auto"/>
    </dgm:pt>
    <dgm:pt modelId="{8CF0F843-1F01-4893-A7D7-BEDFB9585EA2}" type="pres">
      <dgm:prSet presAssocID="{C492F163-2640-4DF1-B226-161FF7CFA5E1}" presName="desTx" presStyleLbl="revTx" presStyleIdx="3" presStyleCnt="4">
        <dgm:presLayoutVars/>
      </dgm:prSet>
      <dgm:spPr bwMode="auto"/>
    </dgm:pt>
  </dgm:ptLst>
  <dgm:cxnLst>
    <dgm:cxn modelId="{0482810E-1A29-4766-BD8B-DFD20BE3DF4D}" type="presOf" srcId="{728CC77A-736E-4BBA-9F75-21F84626EFAB}" destId="{39087910-3F29-4E11-A512-FC640F1855CB}" srcOrd="0" destOrd="0" presId="urn:microsoft.com/office/officeart/2018/2/layout/IconLabelDescriptionList"/>
    <dgm:cxn modelId="{E4C3EA2F-793B-4524-BBAE-509CAA4F2566}" srcId="{C492F163-2640-4DF1-B226-161FF7CFA5E1}" destId="{CDA6F5F2-C88F-4819-B9FA-82B10438691A}" srcOrd="1" destOrd="0" parTransId="{A5CBECD4-3BF5-4C92-B73B-1135C167AF6C}" sibTransId="{2E59FE6A-904B-48A5-889F-E864C070205E}"/>
    <dgm:cxn modelId="{A5F39F34-3A24-4CA9-98C0-B3C1DFD298DD}" srcId="{C492F163-2640-4DF1-B226-161FF7CFA5E1}" destId="{2608E37F-FB36-47CC-8988-344DF62DFE12}" srcOrd="0" destOrd="0" parTransId="{B3262584-3356-472D-BB7D-66E2C51E29CD}" sibTransId="{A06F81E0-0890-423F-8CCB-5B5A2A642034}"/>
    <dgm:cxn modelId="{53343049-7627-40DD-9146-2D1DCB00B505}" type="presOf" srcId="{EAF0E638-215D-4A67-A469-90C6F028508F}" destId="{4FEDAA2A-B7B1-4650-AA0D-7AD7F5826766}" srcOrd="0" destOrd="0" presId="urn:microsoft.com/office/officeart/2018/2/layout/IconLabelDescriptionList"/>
    <dgm:cxn modelId="{1E3CA16B-CECB-4C1C-AB36-31973DF03F05}" type="presOf" srcId="{C492F163-2640-4DF1-B226-161FF7CFA5E1}" destId="{A45DE040-80F8-4A94-A112-414F2EBE5D28}" srcOrd="0" destOrd="0" presId="urn:microsoft.com/office/officeart/2018/2/layout/IconLabelDescriptionList"/>
    <dgm:cxn modelId="{0C1E7973-3555-4C81-B8D7-085CB8B3D456}" srcId="{CEF76F26-3412-42CA-93D2-AAA32DD20D91}" destId="{728CC77A-736E-4BBA-9F75-21F84626EFAB}" srcOrd="0" destOrd="0" parTransId="{B4E16996-3450-497C-A182-C2723FB833CB}" sibTransId="{5A5C9162-0795-4597-82BD-EFB39BA33DBC}"/>
    <dgm:cxn modelId="{E2BC7281-BC81-4A96-9B47-7B2EA946FE1A}" srcId="{728CC77A-736E-4BBA-9F75-21F84626EFAB}" destId="{EAF0E638-215D-4A67-A469-90C6F028508F}" srcOrd="0" destOrd="0" parTransId="{92BE87EA-E0EF-480F-B579-0878E9E1C1F9}" sibTransId="{9E0376D1-6F56-4893-BF65-EBC61C59C2E7}"/>
    <dgm:cxn modelId="{C8B75083-FDE2-47E1-AAA3-5AD6F41BE8A7}" type="presOf" srcId="{CEF76F26-3412-42CA-93D2-AAA32DD20D91}" destId="{BEBAA743-D796-4CF2-B66D-32C5A37AB105}" srcOrd="0" destOrd="0" presId="urn:microsoft.com/office/officeart/2018/2/layout/IconLabelDescriptionList"/>
    <dgm:cxn modelId="{CCE57D89-DAA2-4AC4-8E2D-C28D455B83FD}" type="presOf" srcId="{2608E37F-FB36-47CC-8988-344DF62DFE12}" destId="{8CF0F843-1F01-4893-A7D7-BEDFB9585EA2}" srcOrd="0" destOrd="0" presId="urn:microsoft.com/office/officeart/2018/2/layout/IconLabelDescriptionList"/>
    <dgm:cxn modelId="{865189B3-6C0F-463E-A0C6-C2C427AC60E2}" srcId="{CEF76F26-3412-42CA-93D2-AAA32DD20D91}" destId="{C492F163-2640-4DF1-B226-161FF7CFA5E1}" srcOrd="1" destOrd="0" parTransId="{C77C8B44-BDE7-48EC-B9F6-DEFC202EE0CE}" sibTransId="{62D25563-53FA-484E-BC50-D1B694792707}"/>
    <dgm:cxn modelId="{01751EFF-A35E-45FB-98DD-62B9E512487E}" type="presOf" srcId="{CDA6F5F2-C88F-4819-B9FA-82B10438691A}" destId="{8CF0F843-1F01-4893-A7D7-BEDFB9585EA2}" srcOrd="0" destOrd="1" presId="urn:microsoft.com/office/officeart/2018/2/layout/IconLabelDescriptionList"/>
    <dgm:cxn modelId="{B093F260-6BB2-4D89-B133-E4D9E4F6C89B}" type="presParOf" srcId="{BEBAA743-D796-4CF2-B66D-32C5A37AB105}" destId="{E9C46E64-4A39-454E-B45A-6C407EB25943}" srcOrd="0" destOrd="0" presId="urn:microsoft.com/office/officeart/2018/2/layout/IconLabelDescriptionList"/>
    <dgm:cxn modelId="{5C1F6E98-097A-4DA6-8892-F369F681F627}" type="presParOf" srcId="{E9C46E64-4A39-454E-B45A-6C407EB25943}" destId="{D97FAFBD-A84B-4509-9F67-5888E67A067C}" srcOrd="0" destOrd="0" presId="urn:microsoft.com/office/officeart/2018/2/layout/IconLabelDescriptionList"/>
    <dgm:cxn modelId="{4AE9FCFA-136C-42A3-B60D-B7296CFC9037}" type="presParOf" srcId="{E9C46E64-4A39-454E-B45A-6C407EB25943}" destId="{02B7375F-1EA2-4B74-86A9-05C233830BD8}" srcOrd="1" destOrd="0" presId="urn:microsoft.com/office/officeart/2018/2/layout/IconLabelDescriptionList"/>
    <dgm:cxn modelId="{BCD8B6B9-6E41-4695-91E0-C4D601928C23}" type="presParOf" srcId="{E9C46E64-4A39-454E-B45A-6C407EB25943}" destId="{39087910-3F29-4E11-A512-FC640F1855CB}" srcOrd="2" destOrd="0" presId="urn:microsoft.com/office/officeart/2018/2/layout/IconLabelDescriptionList"/>
    <dgm:cxn modelId="{E4355159-3B00-469E-90F7-2FBB858B907A}" type="presParOf" srcId="{E9C46E64-4A39-454E-B45A-6C407EB25943}" destId="{E82B6773-C74E-4B6E-B662-3F9F6CE86866}" srcOrd="3" destOrd="0" presId="urn:microsoft.com/office/officeart/2018/2/layout/IconLabelDescriptionList"/>
    <dgm:cxn modelId="{5A6CD676-9111-4E36-816A-C547206C9393}" type="presParOf" srcId="{E9C46E64-4A39-454E-B45A-6C407EB25943}" destId="{4FEDAA2A-B7B1-4650-AA0D-7AD7F5826766}" srcOrd="4" destOrd="0" presId="urn:microsoft.com/office/officeart/2018/2/layout/IconLabelDescriptionList"/>
    <dgm:cxn modelId="{6C618C42-5BEA-40C6-A216-E5E29CF1E646}" type="presParOf" srcId="{BEBAA743-D796-4CF2-B66D-32C5A37AB105}" destId="{53053932-DE2B-4CDE-8649-EE3C3FD45702}" srcOrd="1" destOrd="0" presId="urn:microsoft.com/office/officeart/2018/2/layout/IconLabelDescriptionList"/>
    <dgm:cxn modelId="{65CA9CD7-BDAB-4585-B8AF-30652A647C69}" type="presParOf" srcId="{BEBAA743-D796-4CF2-B66D-32C5A37AB105}" destId="{5D6535FE-C422-4240-B6D3-60663B17309E}" srcOrd="2" destOrd="0" presId="urn:microsoft.com/office/officeart/2018/2/layout/IconLabelDescriptionList"/>
    <dgm:cxn modelId="{3BD98AAC-1AE5-4368-A8F1-65BE54A50D1E}" type="presParOf" srcId="{5D6535FE-C422-4240-B6D3-60663B17309E}" destId="{A3D68BA3-666A-4709-99CC-0C398C9C6F6E}" srcOrd="0" destOrd="0" presId="urn:microsoft.com/office/officeart/2018/2/layout/IconLabelDescriptionList"/>
    <dgm:cxn modelId="{EC7EF92C-8572-4353-98F5-747031CC4487}" type="presParOf" srcId="{5D6535FE-C422-4240-B6D3-60663B17309E}" destId="{7B0A8ABF-F197-4EC3-BBE7-D3CF4539210C}" srcOrd="1" destOrd="0" presId="urn:microsoft.com/office/officeart/2018/2/layout/IconLabelDescriptionList"/>
    <dgm:cxn modelId="{BB27EB91-1153-4C93-8992-B0ABF9E670D5}" type="presParOf" srcId="{5D6535FE-C422-4240-B6D3-60663B17309E}" destId="{A45DE040-80F8-4A94-A112-414F2EBE5D28}" srcOrd="2" destOrd="0" presId="urn:microsoft.com/office/officeart/2018/2/layout/IconLabelDescriptionList"/>
    <dgm:cxn modelId="{902E9207-5C7A-4DFB-9979-174E2501F24A}" type="presParOf" srcId="{5D6535FE-C422-4240-B6D3-60663B17309E}" destId="{5B04C835-8C5C-4949-88B5-28C31E627815}" srcOrd="3" destOrd="0" presId="urn:microsoft.com/office/officeart/2018/2/layout/IconLabelDescriptionList"/>
    <dgm:cxn modelId="{3D17BC12-14FA-4B6E-BA72-5A9DD44A7C71}" type="presParOf" srcId="{5D6535FE-C422-4240-B6D3-60663B17309E}" destId="{8CF0F843-1F01-4893-A7D7-BEDFB9585EA2}" srcOrd="4" destOrd="0" presId="urn:microsoft.com/office/officeart/2018/2/layout/IconLabelDescription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CEF76F26-3412-42CA-93D2-AAA32DD20D91}" type="doc">
      <dgm:prSet loTypeId="urn:microsoft.com/office/officeart/2018/2/layout/IconLabelDescriptionList" loCatId="icon" qsTypeId="urn:microsoft.com/office/officeart/2005/8/quickstyle/simple1#5" qsCatId="simple" csTypeId="urn:microsoft.com/office/officeart/2005/8/colors/accent3_2" csCatId="accent3" phldr="1"/>
      <dgm:spPr bwMode="auto"/>
      <dgm:t>
        <a:bodyPr/>
        <a:lstStyle/>
        <a:p>
          <a:pPr>
            <a:defRPr/>
          </a:pPr>
          <a:endParaRPr lang="en-US"/>
        </a:p>
      </dgm:t>
    </dgm:pt>
    <dgm:pt modelId="{728CC77A-736E-4BBA-9F75-21F84626EFAB}">
      <dgm:prSet/>
      <dgm:spPr bwMode="auto"/>
      <dgm:t>
        <a:bodyPr vert="horz" anchor="t"/>
        <a:lstStyle/>
        <a:p>
          <a:pPr algn="l" defTabSz="1600200">
            <a:lnSpc>
              <a:spcPct val="90000"/>
            </a:lnSpc>
            <a:spcBef>
              <a:spcPts val="0"/>
            </a:spcBef>
            <a:spcAft>
              <a:spcPts val="0"/>
            </a:spcAft>
            <a:defRPr/>
          </a:pPr>
          <a:endParaRPr/>
        </a:p>
      </dgm:t>
    </dgm:pt>
    <dgm:pt modelId="{B4E16996-3450-497C-A182-C2723FB833CB}" type="parTrans" cxnId="{0C1E7973-3555-4C81-B8D7-085CB8B3D456}">
      <dgm:prSet/>
      <dgm:spPr bwMode="auto"/>
      <dgm:t>
        <a:bodyPr/>
        <a:lstStyle/>
        <a:p>
          <a:pPr>
            <a:defRPr/>
          </a:pPr>
          <a:endParaRPr lang="en-US"/>
        </a:p>
      </dgm:t>
    </dgm:pt>
    <dgm:pt modelId="{5A5C9162-0795-4597-82BD-EFB39BA33DBC}" type="sibTrans" cxnId="{0C1E7973-3555-4C81-B8D7-085CB8B3D456}">
      <dgm:prSet/>
      <dgm:spPr bwMode="auto"/>
      <dgm:t>
        <a:bodyPr/>
        <a:lstStyle/>
        <a:p>
          <a:pPr>
            <a:defRPr/>
          </a:pPr>
          <a:endParaRPr lang="en-US"/>
        </a:p>
      </dgm:t>
    </dgm:pt>
    <dgm:pt modelId="{EAF0E638-215D-4A67-A469-90C6F028508F}">
      <dgm:prSet/>
      <dgm:spPr bwMode="auto"/>
      <dgm:t>
        <a:bodyPr vert="horz" anchor="t"/>
        <a:lstStyle/>
        <a:p>
          <a:pPr algn="ctr" defTabSz="755649">
            <a:lnSpc>
              <a:spcPct val="90000"/>
            </a:lnSpc>
            <a:spcBef>
              <a:spcPts val="0"/>
            </a:spcBef>
            <a:spcAft>
              <a:spcPts val="0"/>
            </a:spcAft>
            <a:defRPr/>
          </a:pPr>
          <a:r>
            <a:rPr lang="en-US" dirty="0"/>
            <a:t>The Server is </a:t>
          </a:r>
          <a:r>
            <a:rPr lang="en-US" b="1" dirty="0"/>
            <a:t>honest</a:t>
          </a:r>
          <a:r>
            <a:rPr lang="de-DE" b="1" dirty="0"/>
            <a:t>,</a:t>
          </a:r>
          <a:r>
            <a:rPr lang="en-US" b="1" dirty="0"/>
            <a:t> but curious</a:t>
          </a:r>
          <a:endParaRPr lang="en-US" dirty="0"/>
        </a:p>
      </dgm:t>
    </dgm:pt>
    <dgm:pt modelId="{92BE87EA-E0EF-480F-B579-0878E9E1C1F9}" type="parTrans" cxnId="{E2BC7281-BC81-4A96-9B47-7B2EA946FE1A}">
      <dgm:prSet/>
      <dgm:spPr bwMode="auto"/>
      <dgm:t>
        <a:bodyPr/>
        <a:lstStyle/>
        <a:p>
          <a:pPr>
            <a:defRPr/>
          </a:pPr>
          <a:endParaRPr lang="en-US"/>
        </a:p>
      </dgm:t>
    </dgm:pt>
    <dgm:pt modelId="{9E0376D1-6F56-4893-BF65-EBC61C59C2E7}" type="sibTrans" cxnId="{E2BC7281-BC81-4A96-9B47-7B2EA946FE1A}">
      <dgm:prSet/>
      <dgm:spPr bwMode="auto"/>
      <dgm:t>
        <a:bodyPr/>
        <a:lstStyle/>
        <a:p>
          <a:pPr>
            <a:defRPr/>
          </a:pPr>
          <a:endParaRPr lang="en-US"/>
        </a:p>
      </dgm:t>
    </dgm:pt>
    <dgm:pt modelId="{C492F163-2640-4DF1-B226-161FF7CFA5E1}">
      <dgm:prSet/>
      <dgm:spPr bwMode="auto"/>
      <dgm:t>
        <a:bodyPr vert="horz" anchor="t"/>
        <a:lstStyle/>
        <a:p>
          <a:pPr algn="l" defTabSz="1600200">
            <a:lnSpc>
              <a:spcPct val="90000"/>
            </a:lnSpc>
            <a:spcBef>
              <a:spcPts val="0"/>
            </a:spcBef>
            <a:spcAft>
              <a:spcPts val="0"/>
            </a:spcAft>
            <a:defRPr/>
          </a:pPr>
          <a:endParaRPr/>
        </a:p>
      </dgm:t>
    </dgm:pt>
    <dgm:pt modelId="{C77C8B44-BDE7-48EC-B9F6-DEFC202EE0CE}" type="parTrans" cxnId="{865189B3-6C0F-463E-A0C6-C2C427AC60E2}">
      <dgm:prSet/>
      <dgm:spPr bwMode="auto"/>
      <dgm:t>
        <a:bodyPr/>
        <a:lstStyle/>
        <a:p>
          <a:pPr>
            <a:defRPr/>
          </a:pPr>
          <a:endParaRPr lang="en-US"/>
        </a:p>
      </dgm:t>
    </dgm:pt>
    <dgm:pt modelId="{62D25563-53FA-484E-BC50-D1B694792707}" type="sibTrans" cxnId="{865189B3-6C0F-463E-A0C6-C2C427AC60E2}">
      <dgm:prSet/>
      <dgm:spPr bwMode="auto"/>
      <dgm:t>
        <a:bodyPr/>
        <a:lstStyle/>
        <a:p>
          <a:pPr>
            <a:defRPr/>
          </a:pPr>
          <a:endParaRPr lang="en-US"/>
        </a:p>
      </dgm:t>
    </dgm:pt>
    <dgm:pt modelId="{2608E37F-FB36-47CC-8988-344DF62DFE12}">
      <dgm:prSet/>
      <dgm:spPr bwMode="auto">
        <a:blipFill>
          <a:blip xmlns:r="http://schemas.openxmlformats.org/officeDocument/2006/relationships" r:embed="rId1"/>
          <a:stretch>
            <a:fillRect t="-18987" b="-24051"/>
          </a:stretch>
        </a:blipFill>
      </dgm:spPr>
      <dgm:t>
        <a:bodyPr/>
        <a:lstStyle/>
        <a:p>
          <a:r>
            <a:rPr lang="de-DE">
              <a:noFill/>
            </a:rPr>
            <a:t> </a:t>
          </a:r>
        </a:p>
      </dgm:t>
    </dgm:pt>
    <dgm:pt modelId="{B3262584-3356-472D-BB7D-66E2C51E29CD}" type="parTrans" cxnId="{A5F39F34-3A24-4CA9-98C0-B3C1DFD298DD}">
      <dgm:prSet/>
      <dgm:spPr bwMode="auto"/>
      <dgm:t>
        <a:bodyPr/>
        <a:lstStyle/>
        <a:p>
          <a:pPr>
            <a:defRPr/>
          </a:pPr>
          <a:endParaRPr lang="en-US"/>
        </a:p>
      </dgm:t>
    </dgm:pt>
    <dgm:pt modelId="{A06F81E0-0890-423F-8CCB-5B5A2A642034}" type="sibTrans" cxnId="{A5F39F34-3A24-4CA9-98C0-B3C1DFD298DD}">
      <dgm:prSet/>
      <dgm:spPr bwMode="auto"/>
      <dgm:t>
        <a:bodyPr/>
        <a:lstStyle/>
        <a:p>
          <a:pPr>
            <a:defRPr/>
          </a:pPr>
          <a:endParaRPr lang="en-US"/>
        </a:p>
      </dgm:t>
    </dgm:pt>
    <dgm:pt modelId="{CDA6F5F2-C88F-4819-B9FA-82B10438691A}">
      <dgm:prSet/>
      <dgm:spPr bwMode="auto"/>
      <dgm:t>
        <a:bodyPr/>
        <a:lstStyle/>
        <a:p>
          <a:r>
            <a:rPr lang="de-DE">
              <a:noFill/>
            </a:rPr>
            <a:t> </a:t>
          </a:r>
        </a:p>
      </dgm:t>
    </dgm:pt>
    <dgm:pt modelId="{A5CBECD4-3BF5-4C92-B73B-1135C167AF6C}" type="parTrans" cxnId="{E4C3EA2F-793B-4524-BBAE-509CAA4F2566}">
      <dgm:prSet/>
      <dgm:spPr bwMode="auto"/>
      <dgm:t>
        <a:bodyPr/>
        <a:lstStyle/>
        <a:p>
          <a:pPr>
            <a:defRPr/>
          </a:pPr>
          <a:endParaRPr lang="en-US"/>
        </a:p>
      </dgm:t>
    </dgm:pt>
    <dgm:pt modelId="{2E59FE6A-904B-48A5-889F-E864C070205E}" type="sibTrans" cxnId="{E4C3EA2F-793B-4524-BBAE-509CAA4F2566}">
      <dgm:prSet/>
      <dgm:spPr bwMode="auto"/>
      <dgm:t>
        <a:bodyPr/>
        <a:lstStyle/>
        <a:p>
          <a:pPr>
            <a:defRPr/>
          </a:pPr>
          <a:endParaRPr lang="en-US"/>
        </a:p>
      </dgm:t>
    </dgm:pt>
    <dgm:pt modelId="{BEBAA743-D796-4CF2-B66D-32C5A37AB105}" type="pres">
      <dgm:prSet presAssocID="{CEF76F26-3412-42CA-93D2-AAA32DD20D91}" presName="root" presStyleCnt="0">
        <dgm:presLayoutVars>
          <dgm:dir/>
          <dgm:resizeHandles val="exact"/>
        </dgm:presLayoutVars>
      </dgm:prSet>
      <dgm:spPr bwMode="auto"/>
    </dgm:pt>
    <dgm:pt modelId="{E9C46E64-4A39-454E-B45A-6C407EB25943}" type="pres">
      <dgm:prSet presAssocID="{728CC77A-736E-4BBA-9F75-21F84626EFAB}" presName="compNode" presStyleCnt="0"/>
      <dgm:spPr bwMode="auto"/>
    </dgm:pt>
    <dgm:pt modelId="{D97FAFBD-A84B-4509-9F67-5888E67A067C}" type="pres">
      <dgm:prSet presAssocID="{728CC77A-736E-4BBA-9F75-21F84626EFAB}" presName="iconRect" presStyleLbl="node1" presStyleIdx="0" presStyleCnt="2" custLinFactNeighborX="94017" custLinFactNeighborY="33400"/>
      <dgm:spPr bwMode="auto">
        <a:blipFill rotWithShape="1">
          <a:blip xmlns:r="http://schemas.openxmlformats.org/officeDocument/2006/relationships" r:embed="rId2"/>
          <a:stretch/>
        </a:blipFill>
        <a:ln>
          <a:noFill/>
        </a:ln>
      </dgm:spPr>
    </dgm:pt>
    <dgm:pt modelId="{02B7375F-1EA2-4B74-86A9-05C233830BD8}" type="pres">
      <dgm:prSet presAssocID="{728CC77A-736E-4BBA-9F75-21F84626EFAB}" presName="iconSpace" presStyleCnt="0"/>
      <dgm:spPr bwMode="auto"/>
    </dgm:pt>
    <dgm:pt modelId="{39087910-3F29-4E11-A512-FC640F1855CB}" type="pres">
      <dgm:prSet presAssocID="{728CC77A-736E-4BBA-9F75-21F84626EFAB}" presName="parTx" presStyleLbl="revTx" presStyleIdx="0" presStyleCnt="4">
        <dgm:presLayoutVars>
          <dgm:chMax val="0"/>
          <dgm:chPref val="0"/>
        </dgm:presLayoutVars>
      </dgm:prSet>
      <dgm:spPr bwMode="auto"/>
    </dgm:pt>
    <dgm:pt modelId="{E82B6773-C74E-4B6E-B662-3F9F6CE86866}" type="pres">
      <dgm:prSet presAssocID="{728CC77A-736E-4BBA-9F75-21F84626EFAB}" presName="txSpace" presStyleCnt="0"/>
      <dgm:spPr bwMode="auto"/>
    </dgm:pt>
    <dgm:pt modelId="{4FEDAA2A-B7B1-4650-AA0D-7AD7F5826766}" type="pres">
      <dgm:prSet presAssocID="{728CC77A-736E-4BBA-9F75-21F84626EFAB}" presName="desTx" presStyleLbl="revTx" presStyleIdx="1" presStyleCnt="4">
        <dgm:presLayoutVars/>
      </dgm:prSet>
      <dgm:spPr bwMode="auto"/>
    </dgm:pt>
    <dgm:pt modelId="{53053932-DE2B-4CDE-8649-EE3C3FD45702}" type="pres">
      <dgm:prSet presAssocID="{5A5C9162-0795-4597-82BD-EFB39BA33DBC}" presName="sibTrans" presStyleCnt="0"/>
      <dgm:spPr bwMode="auto"/>
    </dgm:pt>
    <dgm:pt modelId="{5D6535FE-C422-4240-B6D3-60663B17309E}" type="pres">
      <dgm:prSet presAssocID="{C492F163-2640-4DF1-B226-161FF7CFA5E1}" presName="compNode" presStyleCnt="0"/>
      <dgm:spPr bwMode="auto"/>
    </dgm:pt>
    <dgm:pt modelId="{A3D68BA3-666A-4709-99CC-0C398C9C6F6E}" type="pres">
      <dgm:prSet presAssocID="{C492F163-2640-4DF1-B226-161FF7CFA5E1}" presName="iconRect" presStyleLbl="node1" presStyleIdx="1" presStyleCnt="2" custLinFactNeighborX="94556" custLinFactNeighborY="27316"/>
      <dgm:spPr bwMode="auto">
        <a:blipFill rotWithShape="1">
          <a:blip xmlns:r="http://schemas.openxmlformats.org/officeDocument/2006/relationships" r:embed="rId3"/>
          <a:stretch/>
        </a:blipFill>
        <a:ln>
          <a:noFill/>
        </a:ln>
      </dgm:spPr>
    </dgm:pt>
    <dgm:pt modelId="{7B0A8ABF-F197-4EC3-BBE7-D3CF4539210C}" type="pres">
      <dgm:prSet presAssocID="{C492F163-2640-4DF1-B226-161FF7CFA5E1}" presName="iconSpace" presStyleCnt="0"/>
      <dgm:spPr bwMode="auto"/>
    </dgm:pt>
    <dgm:pt modelId="{A45DE040-80F8-4A94-A112-414F2EBE5D28}" type="pres">
      <dgm:prSet presAssocID="{C492F163-2640-4DF1-B226-161FF7CFA5E1}" presName="parTx" presStyleLbl="revTx" presStyleIdx="2" presStyleCnt="4">
        <dgm:presLayoutVars>
          <dgm:chMax val="0"/>
          <dgm:chPref val="0"/>
        </dgm:presLayoutVars>
      </dgm:prSet>
      <dgm:spPr bwMode="auto"/>
    </dgm:pt>
    <dgm:pt modelId="{5B04C835-8C5C-4949-88B5-28C31E627815}" type="pres">
      <dgm:prSet presAssocID="{C492F163-2640-4DF1-B226-161FF7CFA5E1}" presName="txSpace" presStyleCnt="0"/>
      <dgm:spPr bwMode="auto"/>
    </dgm:pt>
    <dgm:pt modelId="{8CF0F843-1F01-4893-A7D7-BEDFB9585EA2}" type="pres">
      <dgm:prSet presAssocID="{C492F163-2640-4DF1-B226-161FF7CFA5E1}" presName="desTx" presStyleLbl="revTx" presStyleIdx="3" presStyleCnt="4">
        <dgm:presLayoutVars/>
      </dgm:prSet>
      <dgm:spPr bwMode="auto"/>
    </dgm:pt>
  </dgm:ptLst>
  <dgm:cxnLst>
    <dgm:cxn modelId="{0482810E-1A29-4766-BD8B-DFD20BE3DF4D}" type="presOf" srcId="{728CC77A-736E-4BBA-9F75-21F84626EFAB}" destId="{39087910-3F29-4E11-A512-FC640F1855CB}" srcOrd="0" destOrd="0" presId="urn:microsoft.com/office/officeart/2018/2/layout/IconLabelDescriptionList"/>
    <dgm:cxn modelId="{E4C3EA2F-793B-4524-BBAE-509CAA4F2566}" srcId="{C492F163-2640-4DF1-B226-161FF7CFA5E1}" destId="{CDA6F5F2-C88F-4819-B9FA-82B10438691A}" srcOrd="1" destOrd="0" parTransId="{A5CBECD4-3BF5-4C92-B73B-1135C167AF6C}" sibTransId="{2E59FE6A-904B-48A5-889F-E864C070205E}"/>
    <dgm:cxn modelId="{A5F39F34-3A24-4CA9-98C0-B3C1DFD298DD}" srcId="{C492F163-2640-4DF1-B226-161FF7CFA5E1}" destId="{2608E37F-FB36-47CC-8988-344DF62DFE12}" srcOrd="0" destOrd="0" parTransId="{B3262584-3356-472D-BB7D-66E2C51E29CD}" sibTransId="{A06F81E0-0890-423F-8CCB-5B5A2A642034}"/>
    <dgm:cxn modelId="{53343049-7627-40DD-9146-2D1DCB00B505}" type="presOf" srcId="{EAF0E638-215D-4A67-A469-90C6F028508F}" destId="{4FEDAA2A-B7B1-4650-AA0D-7AD7F5826766}" srcOrd="0" destOrd="0" presId="urn:microsoft.com/office/officeart/2018/2/layout/IconLabelDescriptionList"/>
    <dgm:cxn modelId="{1E3CA16B-CECB-4C1C-AB36-31973DF03F05}" type="presOf" srcId="{C492F163-2640-4DF1-B226-161FF7CFA5E1}" destId="{A45DE040-80F8-4A94-A112-414F2EBE5D28}" srcOrd="0" destOrd="0" presId="urn:microsoft.com/office/officeart/2018/2/layout/IconLabelDescriptionList"/>
    <dgm:cxn modelId="{0C1E7973-3555-4C81-B8D7-085CB8B3D456}" srcId="{CEF76F26-3412-42CA-93D2-AAA32DD20D91}" destId="{728CC77A-736E-4BBA-9F75-21F84626EFAB}" srcOrd="0" destOrd="0" parTransId="{B4E16996-3450-497C-A182-C2723FB833CB}" sibTransId="{5A5C9162-0795-4597-82BD-EFB39BA33DBC}"/>
    <dgm:cxn modelId="{E2BC7281-BC81-4A96-9B47-7B2EA946FE1A}" srcId="{728CC77A-736E-4BBA-9F75-21F84626EFAB}" destId="{EAF0E638-215D-4A67-A469-90C6F028508F}" srcOrd="0" destOrd="0" parTransId="{92BE87EA-E0EF-480F-B579-0878E9E1C1F9}" sibTransId="{9E0376D1-6F56-4893-BF65-EBC61C59C2E7}"/>
    <dgm:cxn modelId="{C8B75083-FDE2-47E1-AAA3-5AD6F41BE8A7}" type="presOf" srcId="{CEF76F26-3412-42CA-93D2-AAA32DD20D91}" destId="{BEBAA743-D796-4CF2-B66D-32C5A37AB105}" srcOrd="0" destOrd="0" presId="urn:microsoft.com/office/officeart/2018/2/layout/IconLabelDescriptionList"/>
    <dgm:cxn modelId="{CCE57D89-DAA2-4AC4-8E2D-C28D455B83FD}" type="presOf" srcId="{2608E37F-FB36-47CC-8988-344DF62DFE12}" destId="{8CF0F843-1F01-4893-A7D7-BEDFB9585EA2}" srcOrd="0" destOrd="0" presId="urn:microsoft.com/office/officeart/2018/2/layout/IconLabelDescriptionList"/>
    <dgm:cxn modelId="{865189B3-6C0F-463E-A0C6-C2C427AC60E2}" srcId="{CEF76F26-3412-42CA-93D2-AAA32DD20D91}" destId="{C492F163-2640-4DF1-B226-161FF7CFA5E1}" srcOrd="1" destOrd="0" parTransId="{C77C8B44-BDE7-48EC-B9F6-DEFC202EE0CE}" sibTransId="{62D25563-53FA-484E-BC50-D1B694792707}"/>
    <dgm:cxn modelId="{01751EFF-A35E-45FB-98DD-62B9E512487E}" type="presOf" srcId="{CDA6F5F2-C88F-4819-B9FA-82B10438691A}" destId="{8CF0F843-1F01-4893-A7D7-BEDFB9585EA2}" srcOrd="0" destOrd="1" presId="urn:microsoft.com/office/officeart/2018/2/layout/IconLabelDescriptionList"/>
    <dgm:cxn modelId="{B093F260-6BB2-4D89-B133-E4D9E4F6C89B}" type="presParOf" srcId="{BEBAA743-D796-4CF2-B66D-32C5A37AB105}" destId="{E9C46E64-4A39-454E-B45A-6C407EB25943}" srcOrd="0" destOrd="0" presId="urn:microsoft.com/office/officeart/2018/2/layout/IconLabelDescriptionList"/>
    <dgm:cxn modelId="{5C1F6E98-097A-4DA6-8892-F369F681F627}" type="presParOf" srcId="{E9C46E64-4A39-454E-B45A-6C407EB25943}" destId="{D97FAFBD-A84B-4509-9F67-5888E67A067C}" srcOrd="0" destOrd="0" presId="urn:microsoft.com/office/officeart/2018/2/layout/IconLabelDescriptionList"/>
    <dgm:cxn modelId="{4AE9FCFA-136C-42A3-B60D-B7296CFC9037}" type="presParOf" srcId="{E9C46E64-4A39-454E-B45A-6C407EB25943}" destId="{02B7375F-1EA2-4B74-86A9-05C233830BD8}" srcOrd="1" destOrd="0" presId="urn:microsoft.com/office/officeart/2018/2/layout/IconLabelDescriptionList"/>
    <dgm:cxn modelId="{BCD8B6B9-6E41-4695-91E0-C4D601928C23}" type="presParOf" srcId="{E9C46E64-4A39-454E-B45A-6C407EB25943}" destId="{39087910-3F29-4E11-A512-FC640F1855CB}" srcOrd="2" destOrd="0" presId="urn:microsoft.com/office/officeart/2018/2/layout/IconLabelDescriptionList"/>
    <dgm:cxn modelId="{E4355159-3B00-469E-90F7-2FBB858B907A}" type="presParOf" srcId="{E9C46E64-4A39-454E-B45A-6C407EB25943}" destId="{E82B6773-C74E-4B6E-B662-3F9F6CE86866}" srcOrd="3" destOrd="0" presId="urn:microsoft.com/office/officeart/2018/2/layout/IconLabelDescriptionList"/>
    <dgm:cxn modelId="{5A6CD676-9111-4E36-816A-C547206C9393}" type="presParOf" srcId="{E9C46E64-4A39-454E-B45A-6C407EB25943}" destId="{4FEDAA2A-B7B1-4650-AA0D-7AD7F5826766}" srcOrd="4" destOrd="0" presId="urn:microsoft.com/office/officeart/2018/2/layout/IconLabelDescriptionList"/>
    <dgm:cxn modelId="{6C618C42-5BEA-40C6-A216-E5E29CF1E646}" type="presParOf" srcId="{BEBAA743-D796-4CF2-B66D-32C5A37AB105}" destId="{53053932-DE2B-4CDE-8649-EE3C3FD45702}" srcOrd="1" destOrd="0" presId="urn:microsoft.com/office/officeart/2018/2/layout/IconLabelDescriptionList"/>
    <dgm:cxn modelId="{65CA9CD7-BDAB-4585-B8AF-30652A647C69}" type="presParOf" srcId="{BEBAA743-D796-4CF2-B66D-32C5A37AB105}" destId="{5D6535FE-C422-4240-B6D3-60663B17309E}" srcOrd="2" destOrd="0" presId="urn:microsoft.com/office/officeart/2018/2/layout/IconLabelDescriptionList"/>
    <dgm:cxn modelId="{3BD98AAC-1AE5-4368-A8F1-65BE54A50D1E}" type="presParOf" srcId="{5D6535FE-C422-4240-B6D3-60663B17309E}" destId="{A3D68BA3-666A-4709-99CC-0C398C9C6F6E}" srcOrd="0" destOrd="0" presId="urn:microsoft.com/office/officeart/2018/2/layout/IconLabelDescriptionList"/>
    <dgm:cxn modelId="{EC7EF92C-8572-4353-98F5-747031CC4487}" type="presParOf" srcId="{5D6535FE-C422-4240-B6D3-60663B17309E}" destId="{7B0A8ABF-F197-4EC3-BBE7-D3CF4539210C}" srcOrd="1" destOrd="0" presId="urn:microsoft.com/office/officeart/2018/2/layout/IconLabelDescriptionList"/>
    <dgm:cxn modelId="{BB27EB91-1153-4C93-8992-B0ABF9E670D5}" type="presParOf" srcId="{5D6535FE-C422-4240-B6D3-60663B17309E}" destId="{A45DE040-80F8-4A94-A112-414F2EBE5D28}" srcOrd="2" destOrd="0" presId="urn:microsoft.com/office/officeart/2018/2/layout/IconLabelDescriptionList"/>
    <dgm:cxn modelId="{902E9207-5C7A-4DFB-9979-174E2501F24A}" type="presParOf" srcId="{5D6535FE-C422-4240-B6D3-60663B17309E}" destId="{5B04C835-8C5C-4949-88B5-28C31E627815}" srcOrd="3" destOrd="0" presId="urn:microsoft.com/office/officeart/2018/2/layout/IconLabelDescriptionList"/>
    <dgm:cxn modelId="{3D17BC12-14FA-4B6E-BA72-5A9DD44A7C71}" type="presParOf" srcId="{5D6535FE-C422-4240-B6D3-60663B17309E}" destId="{8CF0F843-1F01-4893-A7D7-BEDFB9585EA2}" srcOrd="4" destOrd="0" presId="urn:microsoft.com/office/officeart/2018/2/layout/IconLabelDescription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49F9DD40-05FD-46F0-BFDC-476947AE85B3}" type="doc">
      <dgm:prSet loTypeId="urn:microsoft.com/office/officeart/2018/2/layout/IconVerticalSolidList" loCatId="icon" qsTypeId="urn:microsoft.com/office/officeart/2005/8/quickstyle/simple1#6" qsCatId="simple" csTypeId="urn:microsoft.com/office/officeart/2005/8/colors/accent1_5" csCatId="accent1" phldr="1"/>
      <dgm:spPr bwMode="auto"/>
      <dgm:t>
        <a:bodyPr/>
        <a:lstStyle/>
        <a:p>
          <a:pPr>
            <a:defRPr/>
          </a:pPr>
          <a:endParaRPr lang="en-US"/>
        </a:p>
      </dgm:t>
    </dgm:pt>
    <dgm:pt modelId="{7F97DBC8-5131-4423-9677-AF2A35F405D9}">
      <dgm:prSet/>
      <dgm:spPr bwMode="auto"/>
      <dgm:t>
        <a:bodyPr/>
        <a:lstStyle/>
        <a:p>
          <a:pPr>
            <a:lnSpc>
              <a:spcPct val="100000"/>
            </a:lnSpc>
            <a:defRPr/>
          </a:pPr>
          <a:r>
            <a:rPr lang="en-US" b="1"/>
            <a:t>Isolation</a:t>
          </a:r>
          <a:r>
            <a:rPr lang="en-US"/>
            <a:t>: What is the </a:t>
          </a:r>
          <a:r>
            <a:rPr lang="en-US" b="1"/>
            <a:t>individual cost of each defense mechanism </a:t>
          </a:r>
          <a:r>
            <a:rPr lang="en-US"/>
            <a:t>(DP, Byzantine-robust aggregation, gradient compression) in terms of accuracy, communication overhead, and attack success rate, and do our results reproduce the published baselines?</a:t>
          </a:r>
          <a:endParaRPr/>
        </a:p>
      </dgm:t>
    </dgm:pt>
    <dgm:pt modelId="{1908C58B-7554-4496-9D0D-FB0766C29F2C}" type="parTrans" cxnId="{2B3F7AAB-4FDD-415E-8C00-F2502E4F9858}">
      <dgm:prSet/>
      <dgm:spPr bwMode="auto"/>
      <dgm:t>
        <a:bodyPr/>
        <a:lstStyle/>
        <a:p>
          <a:pPr>
            <a:defRPr/>
          </a:pPr>
          <a:endParaRPr lang="en-US"/>
        </a:p>
      </dgm:t>
    </dgm:pt>
    <dgm:pt modelId="{5FC0BE4C-836C-47A2-813E-651F4ED4458E}" type="sibTrans" cxnId="{2B3F7AAB-4FDD-415E-8C00-F2502E4F9858}">
      <dgm:prSet/>
      <dgm:spPr bwMode="auto"/>
      <dgm:t>
        <a:bodyPr/>
        <a:lstStyle/>
        <a:p>
          <a:pPr>
            <a:defRPr/>
          </a:pPr>
          <a:endParaRPr lang="en-US"/>
        </a:p>
      </dgm:t>
    </dgm:pt>
    <dgm:pt modelId="{FB4E394F-BE37-402F-80F7-116D2C9195F8}">
      <dgm:prSet/>
      <dgm:spPr bwMode="auto"/>
      <dgm:t>
        <a:bodyPr/>
        <a:lstStyle/>
        <a:p>
          <a:pPr>
            <a:lnSpc>
              <a:spcPct val="100000"/>
            </a:lnSpc>
            <a:defRPr/>
          </a:pPr>
          <a:r>
            <a:rPr lang="en-US" b="1"/>
            <a:t>Combination</a:t>
          </a:r>
          <a:r>
            <a:rPr lang="en-US"/>
            <a:t>: How do pairwise and full combinations of the three mechanisms interact? Do the costs compound additively, sub-additively, or super-additively?</a:t>
          </a:r>
          <a:endParaRPr/>
        </a:p>
      </dgm:t>
    </dgm:pt>
    <dgm:pt modelId="{2BF8E92A-8E67-4C95-9BB0-B822B3FEAF0F}" type="parTrans" cxnId="{42B464A3-3DE2-4733-BFA4-15C69D42DF00}">
      <dgm:prSet/>
      <dgm:spPr bwMode="auto"/>
      <dgm:t>
        <a:bodyPr/>
        <a:lstStyle/>
        <a:p>
          <a:pPr>
            <a:defRPr/>
          </a:pPr>
          <a:endParaRPr lang="en-US"/>
        </a:p>
      </dgm:t>
    </dgm:pt>
    <dgm:pt modelId="{E7196009-44D0-4903-804C-BEBA5D12BE59}" type="sibTrans" cxnId="{42B464A3-3DE2-4733-BFA4-15C69D42DF00}">
      <dgm:prSet/>
      <dgm:spPr bwMode="auto"/>
      <dgm:t>
        <a:bodyPr/>
        <a:lstStyle/>
        <a:p>
          <a:pPr>
            <a:defRPr/>
          </a:pPr>
          <a:endParaRPr lang="en-US"/>
        </a:p>
      </dgm:t>
    </dgm:pt>
    <dgm:pt modelId="{CF0E1812-4EB7-428D-B4C0-1F622E6E8334}">
      <dgm:prSet/>
      <dgm:spPr bwMode="auto"/>
      <dgm:t>
        <a:bodyPr vert="horz" anchor="ctr"/>
        <a:lstStyle/>
        <a:p>
          <a:pPr>
            <a:defRPr/>
          </a:pPr>
          <a:r>
            <a:rPr lang="en-US" b="1" i="0" u="none" strike="noStrike" cap="none" spc="0">
              <a:solidFill>
                <a:schemeClr val="tx1"/>
              </a:solidFill>
              <a:latin typeface="Calibri"/>
              <a:ea typeface="Calibri"/>
              <a:cs typeface="Calibri"/>
            </a:rPr>
            <a:t> Trust and Privacy: </a:t>
          </a:r>
          <a:r>
            <a:rPr lang="en-US" b="0" i="0" u="none" strike="noStrike" cap="none" spc="0">
              <a:solidFill>
                <a:schemeClr val="tx1"/>
              </a:solidFill>
              <a:latin typeface="Calibri"/>
              <a:ea typeface="Calibri"/>
              <a:cs typeface="Calibri"/>
            </a:rPr>
            <a:t>How do the trust scores assigned by FLTrust evolve throughout training, and</a:t>
          </a:r>
          <a:r>
            <a:rPr lang="de-DE" b="0"/>
            <a:t> </a:t>
          </a:r>
          <a:r>
            <a:rPr lang="en-US" b="0" i="0" u="none" strike="noStrike" cap="none" spc="0">
              <a:solidFill>
                <a:schemeClr val="tx1"/>
              </a:solidFill>
              <a:latin typeface="Calibri"/>
              <a:ea typeface="Calibri"/>
              <a:cs typeface="Calibri"/>
            </a:rPr>
            <a:t>what do they reveal about the interaction between</a:t>
          </a:r>
          <a:r>
            <a:rPr lang="de-DE" b="0"/>
            <a:t> </a:t>
          </a:r>
          <a:r>
            <a:rPr lang="en-US" b="0" i="0" u="none" strike="noStrike" cap="none" spc="0">
              <a:solidFill>
                <a:schemeClr val="tx1"/>
              </a:solidFill>
              <a:latin typeface="Calibri"/>
              <a:ea typeface="Calibri"/>
              <a:cs typeface="Calibri"/>
            </a:rPr>
            <a:t>privacy, robustness, and model performance?</a:t>
          </a:r>
          <a:endParaRPr lang="en-US" b="1" i="0" u="none" strike="noStrike" cap="none" spc="0">
            <a:solidFill>
              <a:schemeClr val="tx1"/>
            </a:solidFill>
            <a:latin typeface="Calibri"/>
            <a:cs typeface="Calibri"/>
          </a:endParaRPr>
        </a:p>
      </dgm:t>
    </dgm:pt>
    <dgm:pt modelId="{4BFED5BA-A442-4542-9FFB-88AFF3F4DB82}" type="parTrans" cxnId="{19CC1CA6-1150-4B2E-AFFC-C3FFF3A2BFAD}">
      <dgm:prSet/>
      <dgm:spPr bwMode="auto"/>
      <dgm:t>
        <a:bodyPr/>
        <a:lstStyle/>
        <a:p>
          <a:pPr>
            <a:defRPr/>
          </a:pPr>
          <a:endParaRPr lang="en-US"/>
        </a:p>
      </dgm:t>
    </dgm:pt>
    <dgm:pt modelId="{C27C28AE-53D5-4113-8216-582379FF18BC}" type="sibTrans" cxnId="{19CC1CA6-1150-4B2E-AFFC-C3FFF3A2BFAD}">
      <dgm:prSet/>
      <dgm:spPr bwMode="auto"/>
      <dgm:t>
        <a:bodyPr/>
        <a:lstStyle/>
        <a:p>
          <a:pPr>
            <a:defRPr/>
          </a:pPr>
          <a:endParaRPr lang="en-US"/>
        </a:p>
      </dgm:t>
    </dgm:pt>
    <dgm:pt modelId="{FABDFE16-EEE0-4E87-B8E3-03E6833D0E14}" type="pres">
      <dgm:prSet presAssocID="{49F9DD40-05FD-46F0-BFDC-476947AE85B3}" presName="root" presStyleCnt="0">
        <dgm:presLayoutVars>
          <dgm:dir/>
          <dgm:resizeHandles val="exact"/>
        </dgm:presLayoutVars>
      </dgm:prSet>
      <dgm:spPr bwMode="auto"/>
    </dgm:pt>
    <dgm:pt modelId="{9BEDDFB1-1B16-4C7C-966B-C7BCE5A1C4F5}" type="pres">
      <dgm:prSet presAssocID="{7F97DBC8-5131-4423-9677-AF2A35F405D9}" presName="compNode" presStyleCnt="0"/>
      <dgm:spPr bwMode="auto"/>
    </dgm:pt>
    <dgm:pt modelId="{1D69EDD2-C4B0-4E37-BCF4-39F238ABAC2D}" type="pres">
      <dgm:prSet presAssocID="{7F97DBC8-5131-4423-9677-AF2A35F405D9}" presName="bgRect" presStyleLbl="bgShp" presStyleIdx="0" presStyleCnt="3" custLinFactNeighborY="12872"/>
      <dgm:spPr bwMode="auto"/>
    </dgm:pt>
    <dgm:pt modelId="{0AF935DF-20B7-4A12-947D-742DBA2A8D42}" type="pres">
      <dgm:prSet presAssocID="{7F97DBC8-5131-4423-9677-AF2A35F405D9}" presName="iconRect" presStyleLbl="node1" presStyleIdx="0" presStyleCnt="3" custLinFactNeighborX="2220" custLinFactNeighborY="16652"/>
      <dgm:spPr bwMode="auto">
        <a:blipFill rotWithShape="1">
          <a:blip xmlns:r="http://schemas.openxmlformats.org/officeDocument/2006/relationships" r:embed="rId1"/>
          <a:stretch/>
        </a:blipFill>
      </dgm:spPr>
    </dgm:pt>
    <dgm:pt modelId="{17C5137B-2D9C-41F8-B54F-260A1787555E}" type="pres">
      <dgm:prSet presAssocID="{7F97DBC8-5131-4423-9677-AF2A35F405D9}" presName="spaceRect" presStyleCnt="0"/>
      <dgm:spPr bwMode="auto"/>
    </dgm:pt>
    <dgm:pt modelId="{8C9B2490-3923-4DBD-908D-ED0202CBA46D}" type="pres">
      <dgm:prSet presAssocID="{7F97DBC8-5131-4423-9677-AF2A35F405D9}" presName="parTx" presStyleLbl="revTx" presStyleIdx="0" presStyleCnt="3" custLinFactNeighborY="12822">
        <dgm:presLayoutVars>
          <dgm:chMax val="0"/>
          <dgm:chPref val="0"/>
        </dgm:presLayoutVars>
      </dgm:prSet>
      <dgm:spPr bwMode="auto"/>
    </dgm:pt>
    <dgm:pt modelId="{B2AAADAD-D29D-41CD-B41C-744FA257FDAE}" type="pres">
      <dgm:prSet presAssocID="{5FC0BE4C-836C-47A2-813E-651F4ED4458E}" presName="sibTrans" presStyleCnt="0"/>
      <dgm:spPr bwMode="auto"/>
    </dgm:pt>
    <dgm:pt modelId="{6709E943-C0D6-4285-957C-24DC129FDE32}" type="pres">
      <dgm:prSet presAssocID="{FB4E394F-BE37-402F-80F7-116D2C9195F8}" presName="compNode" presStyleCnt="0"/>
      <dgm:spPr bwMode="auto"/>
    </dgm:pt>
    <dgm:pt modelId="{959D76F9-841F-4422-8222-34FCCBEF7176}" type="pres">
      <dgm:prSet presAssocID="{FB4E394F-BE37-402F-80F7-116D2C9195F8}" presName="bgRect" presStyleLbl="bgShp" presStyleIdx="1" presStyleCnt="3"/>
      <dgm:spPr bwMode="auto"/>
    </dgm:pt>
    <dgm:pt modelId="{8203F35F-4A05-4422-A223-67D2DE489494}" type="pres">
      <dgm:prSet presAssocID="{FB4E394F-BE37-402F-80F7-116D2C9195F8}" presName="iconRect" presStyleLbl="node1" presStyleIdx="1" presStyleCnt="3"/>
      <dgm:spPr bwMode="auto">
        <a:blipFill rotWithShape="1">
          <a:blip xmlns:r="http://schemas.openxmlformats.org/officeDocument/2006/relationships" r:embed="rId2"/>
          <a:stretch/>
        </a:blipFill>
      </dgm:spPr>
    </dgm:pt>
    <dgm:pt modelId="{434F66B9-8CDB-495C-98DE-1EB47CA2FBE4}" type="pres">
      <dgm:prSet presAssocID="{FB4E394F-BE37-402F-80F7-116D2C9195F8}" presName="spaceRect" presStyleCnt="0"/>
      <dgm:spPr bwMode="auto"/>
    </dgm:pt>
    <dgm:pt modelId="{00B24CA7-2984-42D9-BABE-8E2E07396E47}" type="pres">
      <dgm:prSet presAssocID="{FB4E394F-BE37-402F-80F7-116D2C9195F8}" presName="parTx" presStyleLbl="revTx" presStyleIdx="1" presStyleCnt="3">
        <dgm:presLayoutVars>
          <dgm:chMax val="0"/>
          <dgm:chPref val="0"/>
        </dgm:presLayoutVars>
      </dgm:prSet>
      <dgm:spPr bwMode="auto"/>
    </dgm:pt>
    <dgm:pt modelId="{BA6EC16F-C5AA-4E26-8DA7-E6DC5E662941}" type="pres">
      <dgm:prSet presAssocID="{E7196009-44D0-4903-804C-BEBA5D12BE59}" presName="sibTrans" presStyleCnt="0"/>
      <dgm:spPr bwMode="auto"/>
    </dgm:pt>
    <dgm:pt modelId="{2B2CDB64-9BF9-4B77-8727-92499834EE45}" type="pres">
      <dgm:prSet presAssocID="{CF0E1812-4EB7-428D-B4C0-1F622E6E8334}" presName="compNode" presStyleCnt="0"/>
      <dgm:spPr bwMode="auto"/>
    </dgm:pt>
    <dgm:pt modelId="{3505ADCB-AC2A-4447-A53C-EAB87C6D6CFD}" type="pres">
      <dgm:prSet presAssocID="{CF0E1812-4EB7-428D-B4C0-1F622E6E8334}" presName="bgRect" presStyleLbl="bgShp" presStyleIdx="2" presStyleCnt="3" custLinFactNeighborY="-9770"/>
      <dgm:spPr bwMode="auto"/>
    </dgm:pt>
    <dgm:pt modelId="{394177A3-1B18-408A-8D13-8EFFE08A6C0D}" type="pres">
      <dgm:prSet presAssocID="{CF0E1812-4EB7-428D-B4C0-1F622E6E8334}" presName="iconRect" presStyleLbl="node1" presStyleIdx="2" presStyleCnt="3" custLinFactNeighborX="-1110" custLinFactNeighborY="-21092"/>
      <dgm:spPr bwMode="auto">
        <a:blipFill rotWithShape="1">
          <a:blip xmlns:r="http://schemas.openxmlformats.org/officeDocument/2006/relationships" r:embed="rId3"/>
          <a:stretch/>
        </a:blipFill>
      </dgm:spPr>
    </dgm:pt>
    <dgm:pt modelId="{3EEC1E74-63AA-407D-BB81-645FE54A6D3C}" type="pres">
      <dgm:prSet presAssocID="{CF0E1812-4EB7-428D-B4C0-1F622E6E8334}" presName="spaceRect" presStyleCnt="0"/>
      <dgm:spPr bwMode="auto"/>
    </dgm:pt>
    <dgm:pt modelId="{8A5F447B-0A15-4921-A425-AE894EC82B7F}" type="pres">
      <dgm:prSet presAssocID="{CF0E1812-4EB7-428D-B4C0-1F622E6E8334}" presName="parTx" presStyleLbl="revTx" presStyleIdx="2" presStyleCnt="3" custLinFactNeighborY="-10380">
        <dgm:presLayoutVars>
          <dgm:chMax val="0"/>
          <dgm:chPref val="0"/>
        </dgm:presLayoutVars>
      </dgm:prSet>
      <dgm:spPr bwMode="auto"/>
    </dgm:pt>
  </dgm:ptLst>
  <dgm:cxnLst>
    <dgm:cxn modelId="{BF08AD13-20A4-428F-9418-AA39F2BC7F6C}" type="presOf" srcId="{CF0E1812-4EB7-428D-B4C0-1F622E6E8334}" destId="{8A5F447B-0A15-4921-A425-AE894EC82B7F}" srcOrd="0" destOrd="0" presId="urn:microsoft.com/office/officeart/2018/2/layout/IconVerticalSolidList"/>
    <dgm:cxn modelId="{EE45245A-A67E-4333-9FE9-180433ACAC62}" type="presOf" srcId="{49F9DD40-05FD-46F0-BFDC-476947AE85B3}" destId="{FABDFE16-EEE0-4E87-B8E3-03E6833D0E14}" srcOrd="0" destOrd="0" presId="urn:microsoft.com/office/officeart/2018/2/layout/IconVerticalSolidList"/>
    <dgm:cxn modelId="{C067A296-A219-464F-96BA-EDFEE5543E66}" type="presOf" srcId="{7F97DBC8-5131-4423-9677-AF2A35F405D9}" destId="{8C9B2490-3923-4DBD-908D-ED0202CBA46D}" srcOrd="0" destOrd="0" presId="urn:microsoft.com/office/officeart/2018/2/layout/IconVerticalSolidList"/>
    <dgm:cxn modelId="{42B464A3-3DE2-4733-BFA4-15C69D42DF00}" srcId="{49F9DD40-05FD-46F0-BFDC-476947AE85B3}" destId="{FB4E394F-BE37-402F-80F7-116D2C9195F8}" srcOrd="1" destOrd="0" parTransId="{2BF8E92A-8E67-4C95-9BB0-B822B3FEAF0F}" sibTransId="{E7196009-44D0-4903-804C-BEBA5D12BE59}"/>
    <dgm:cxn modelId="{19CC1CA6-1150-4B2E-AFFC-C3FFF3A2BFAD}" srcId="{49F9DD40-05FD-46F0-BFDC-476947AE85B3}" destId="{CF0E1812-4EB7-428D-B4C0-1F622E6E8334}" srcOrd="2" destOrd="0" parTransId="{4BFED5BA-A442-4542-9FFB-88AFF3F4DB82}" sibTransId="{C27C28AE-53D5-4113-8216-582379FF18BC}"/>
    <dgm:cxn modelId="{376A36A6-3019-438C-80B0-0FC3193932D8}" type="presOf" srcId="{FB4E394F-BE37-402F-80F7-116D2C9195F8}" destId="{00B24CA7-2984-42D9-BABE-8E2E07396E47}" srcOrd="0" destOrd="0" presId="urn:microsoft.com/office/officeart/2018/2/layout/IconVerticalSolidList"/>
    <dgm:cxn modelId="{2B3F7AAB-4FDD-415E-8C00-F2502E4F9858}" srcId="{49F9DD40-05FD-46F0-BFDC-476947AE85B3}" destId="{7F97DBC8-5131-4423-9677-AF2A35F405D9}" srcOrd="0" destOrd="0" parTransId="{1908C58B-7554-4496-9D0D-FB0766C29F2C}" sibTransId="{5FC0BE4C-836C-47A2-813E-651F4ED4458E}"/>
    <dgm:cxn modelId="{0E7B3634-BF8C-45C1-928D-9B70942F44CE}" type="presParOf" srcId="{FABDFE16-EEE0-4E87-B8E3-03E6833D0E14}" destId="{9BEDDFB1-1B16-4C7C-966B-C7BCE5A1C4F5}" srcOrd="0" destOrd="0" presId="urn:microsoft.com/office/officeart/2018/2/layout/IconVerticalSolidList"/>
    <dgm:cxn modelId="{197357CF-E58A-4C8E-A7EA-AC5B95CADDD7}" type="presParOf" srcId="{9BEDDFB1-1B16-4C7C-966B-C7BCE5A1C4F5}" destId="{1D69EDD2-C4B0-4E37-BCF4-39F238ABAC2D}" srcOrd="0" destOrd="0" presId="urn:microsoft.com/office/officeart/2018/2/layout/IconVerticalSolidList"/>
    <dgm:cxn modelId="{8D46D1E9-C36E-4150-A37A-C8A7D552EB12}" type="presParOf" srcId="{9BEDDFB1-1B16-4C7C-966B-C7BCE5A1C4F5}" destId="{0AF935DF-20B7-4A12-947D-742DBA2A8D42}" srcOrd="1" destOrd="0" presId="urn:microsoft.com/office/officeart/2018/2/layout/IconVerticalSolidList"/>
    <dgm:cxn modelId="{798124C0-5442-477A-8291-E3DFC3BE420E}" type="presParOf" srcId="{9BEDDFB1-1B16-4C7C-966B-C7BCE5A1C4F5}" destId="{17C5137B-2D9C-41F8-B54F-260A1787555E}" srcOrd="2" destOrd="0" presId="urn:microsoft.com/office/officeart/2018/2/layout/IconVerticalSolidList"/>
    <dgm:cxn modelId="{CDB94B12-452A-42E8-9486-113B1502C1D3}" type="presParOf" srcId="{9BEDDFB1-1B16-4C7C-966B-C7BCE5A1C4F5}" destId="{8C9B2490-3923-4DBD-908D-ED0202CBA46D}" srcOrd="3" destOrd="0" presId="urn:microsoft.com/office/officeart/2018/2/layout/IconVerticalSolidList"/>
    <dgm:cxn modelId="{7C32D47F-C5F5-48C7-BFB0-1A8F54FC0C72}" type="presParOf" srcId="{FABDFE16-EEE0-4E87-B8E3-03E6833D0E14}" destId="{B2AAADAD-D29D-41CD-B41C-744FA257FDAE}" srcOrd="1" destOrd="0" presId="urn:microsoft.com/office/officeart/2018/2/layout/IconVerticalSolidList"/>
    <dgm:cxn modelId="{C0510CED-FC85-43B5-A95C-70CE189C5DBA}" type="presParOf" srcId="{FABDFE16-EEE0-4E87-B8E3-03E6833D0E14}" destId="{6709E943-C0D6-4285-957C-24DC129FDE32}" srcOrd="2" destOrd="0" presId="urn:microsoft.com/office/officeart/2018/2/layout/IconVerticalSolidList"/>
    <dgm:cxn modelId="{0EB1411E-093C-4883-B773-F9DE6635209B}" type="presParOf" srcId="{6709E943-C0D6-4285-957C-24DC129FDE32}" destId="{959D76F9-841F-4422-8222-34FCCBEF7176}" srcOrd="0" destOrd="0" presId="urn:microsoft.com/office/officeart/2018/2/layout/IconVerticalSolidList"/>
    <dgm:cxn modelId="{0F0F7753-6AEE-42E1-9121-0824BF4FA481}" type="presParOf" srcId="{6709E943-C0D6-4285-957C-24DC129FDE32}" destId="{8203F35F-4A05-4422-A223-67D2DE489494}" srcOrd="1" destOrd="0" presId="urn:microsoft.com/office/officeart/2018/2/layout/IconVerticalSolidList"/>
    <dgm:cxn modelId="{799029E1-630F-4312-99BB-C33970559C17}" type="presParOf" srcId="{6709E943-C0D6-4285-957C-24DC129FDE32}" destId="{434F66B9-8CDB-495C-98DE-1EB47CA2FBE4}" srcOrd="2" destOrd="0" presId="urn:microsoft.com/office/officeart/2018/2/layout/IconVerticalSolidList"/>
    <dgm:cxn modelId="{0FFE1EDE-1C1A-4B29-8131-F4F4C600053C}" type="presParOf" srcId="{6709E943-C0D6-4285-957C-24DC129FDE32}" destId="{00B24CA7-2984-42D9-BABE-8E2E07396E47}" srcOrd="3" destOrd="0" presId="urn:microsoft.com/office/officeart/2018/2/layout/IconVerticalSolidList"/>
    <dgm:cxn modelId="{DCB4B150-4153-49A0-812F-EA80ADE3C058}" type="presParOf" srcId="{FABDFE16-EEE0-4E87-B8E3-03E6833D0E14}" destId="{BA6EC16F-C5AA-4E26-8DA7-E6DC5E662941}" srcOrd="3" destOrd="0" presId="urn:microsoft.com/office/officeart/2018/2/layout/IconVerticalSolidList"/>
    <dgm:cxn modelId="{AB1F3314-4C62-43E9-9980-826F9CAEE7D0}" type="presParOf" srcId="{FABDFE16-EEE0-4E87-B8E3-03E6833D0E14}" destId="{2B2CDB64-9BF9-4B77-8727-92499834EE45}" srcOrd="4" destOrd="0" presId="urn:microsoft.com/office/officeart/2018/2/layout/IconVerticalSolidList"/>
    <dgm:cxn modelId="{AFA278D2-059E-49BD-ACEF-9CAA5E9DC41B}" type="presParOf" srcId="{2B2CDB64-9BF9-4B77-8727-92499834EE45}" destId="{3505ADCB-AC2A-4447-A53C-EAB87C6D6CFD}" srcOrd="0" destOrd="0" presId="urn:microsoft.com/office/officeart/2018/2/layout/IconVerticalSolidList"/>
    <dgm:cxn modelId="{7475B60E-23C2-4C12-A6DE-AD8D090D3F62}" type="presParOf" srcId="{2B2CDB64-9BF9-4B77-8727-92499834EE45}" destId="{394177A3-1B18-408A-8D13-8EFFE08A6C0D}" srcOrd="1" destOrd="0" presId="urn:microsoft.com/office/officeart/2018/2/layout/IconVerticalSolidList"/>
    <dgm:cxn modelId="{DCAC8D7C-2F88-4FDD-95E6-65C76372D011}" type="presParOf" srcId="{2B2CDB64-9BF9-4B77-8727-92499834EE45}" destId="{3EEC1E74-63AA-407D-BB81-645FE54A6D3C}" srcOrd="2" destOrd="0" presId="urn:microsoft.com/office/officeart/2018/2/layout/IconVerticalSolidList"/>
    <dgm:cxn modelId="{54839054-398D-441D-A77A-EAFCB1BD3936}" type="presParOf" srcId="{2B2CDB64-9BF9-4B77-8727-92499834EE45}" destId="{8A5F447B-0A15-4921-A425-AE894EC82B7F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AC4BA8BA-8B17-4F9D-AE47-B21F10084844}" type="doc">
      <dgm:prSet loTypeId="urn:microsoft.com/office/officeart/2018/5/layout/IconLeafLabelList" loCatId="icon" qsTypeId="urn:microsoft.com/office/officeart/2005/8/quickstyle/simple1" qsCatId="simple" csTypeId="urn:microsoft.com/office/officeart/2005/8/colors/accent3_2" csCatId="accent3" phldr="1"/>
      <dgm:spPr/>
      <dgm:t>
        <a:bodyPr/>
        <a:lstStyle/>
        <a:p>
          <a:endParaRPr lang="en-US"/>
        </a:p>
      </dgm:t>
    </dgm:pt>
    <dgm:pt modelId="{1529327C-A793-4FD0-873C-FCEB904DA4B0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de-DE"/>
            <a:t>Simple models and datasets</a:t>
          </a:r>
          <a:endParaRPr lang="en-US"/>
        </a:p>
      </dgm:t>
    </dgm:pt>
    <dgm:pt modelId="{26CBD46B-FB6D-4C07-86CF-9BB8A4A0E7AF}" type="parTrans" cxnId="{35885BD9-247E-4CBB-B35B-E3BFFD101CE2}">
      <dgm:prSet/>
      <dgm:spPr/>
      <dgm:t>
        <a:bodyPr/>
        <a:lstStyle/>
        <a:p>
          <a:endParaRPr lang="en-US"/>
        </a:p>
      </dgm:t>
    </dgm:pt>
    <dgm:pt modelId="{F8DE264B-1C55-410D-A8ED-CADADFE1B1CC}" type="sibTrans" cxnId="{35885BD9-247E-4CBB-B35B-E3BFFD101CE2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7CA4BD33-13B7-4921-8B97-1B0FC74120DA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de-DE"/>
            <a:t>Limited method coverage</a:t>
          </a:r>
          <a:endParaRPr lang="en-US"/>
        </a:p>
      </dgm:t>
    </dgm:pt>
    <dgm:pt modelId="{E8C0AD63-8D4F-4C55-AC29-A486ECD77820}" type="parTrans" cxnId="{98BBA6B0-0FB4-40BD-AB46-4AC84D295156}">
      <dgm:prSet/>
      <dgm:spPr/>
      <dgm:t>
        <a:bodyPr/>
        <a:lstStyle/>
        <a:p>
          <a:endParaRPr lang="en-US"/>
        </a:p>
      </dgm:t>
    </dgm:pt>
    <dgm:pt modelId="{7F052DF2-1991-4636-9A40-35A7EF7D7B2E}" type="sibTrans" cxnId="{98BBA6B0-0FB4-40BD-AB46-4AC84D295156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58FEB286-5822-459E-9A5C-B64FD99CA46C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de-DE"/>
            <a:t>FLTrust root dataset size</a:t>
          </a:r>
          <a:endParaRPr lang="en-US"/>
        </a:p>
      </dgm:t>
    </dgm:pt>
    <dgm:pt modelId="{7F3FA05A-BEC2-4786-9F8F-256D1684C062}" type="parTrans" cxnId="{F9C8AF82-04F1-4CFB-8739-38062BD60921}">
      <dgm:prSet/>
      <dgm:spPr/>
      <dgm:t>
        <a:bodyPr/>
        <a:lstStyle/>
        <a:p>
          <a:endParaRPr lang="en-US"/>
        </a:p>
      </dgm:t>
    </dgm:pt>
    <dgm:pt modelId="{114FC72B-0503-4FB3-93A4-2148144F2BB4}" type="sibTrans" cxnId="{F9C8AF82-04F1-4CFB-8739-38062BD60921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E1025E53-E740-46BE-B1FB-1AC16D33A54D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de-DE"/>
            <a:t>Stateless clients</a:t>
          </a:r>
          <a:endParaRPr lang="en-US"/>
        </a:p>
      </dgm:t>
    </dgm:pt>
    <dgm:pt modelId="{7780F15C-9210-47CD-B684-E3B26FAF7D09}" type="parTrans" cxnId="{78022BA8-0CF4-4E9C-9828-0D7CB9698B36}">
      <dgm:prSet/>
      <dgm:spPr/>
      <dgm:t>
        <a:bodyPr/>
        <a:lstStyle/>
        <a:p>
          <a:endParaRPr lang="en-US"/>
        </a:p>
      </dgm:t>
    </dgm:pt>
    <dgm:pt modelId="{01972EFC-4612-481E-A336-9149689652A5}" type="sibTrans" cxnId="{78022BA8-0CF4-4E9C-9828-0D7CB9698B36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7834A6F0-4075-4222-AAF9-E855ADDC0E6E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de-DE"/>
            <a:t>Privacy budget schedule</a:t>
          </a:r>
          <a:endParaRPr lang="en-US"/>
        </a:p>
      </dgm:t>
    </dgm:pt>
    <dgm:pt modelId="{95FB30A1-F0F1-4232-A2E0-77B87A644EB5}" type="parTrans" cxnId="{D2AC169D-D29E-4C6E-8101-4378C880B93E}">
      <dgm:prSet/>
      <dgm:spPr/>
      <dgm:t>
        <a:bodyPr/>
        <a:lstStyle/>
        <a:p>
          <a:endParaRPr lang="en-US"/>
        </a:p>
      </dgm:t>
    </dgm:pt>
    <dgm:pt modelId="{7A292C51-0EA4-438F-982B-BEA540370A7C}" type="sibTrans" cxnId="{D2AC169D-D29E-4C6E-8101-4378C880B93E}">
      <dgm:prSet/>
      <dgm:spPr/>
      <dgm:t>
        <a:bodyPr/>
        <a:lstStyle/>
        <a:p>
          <a:endParaRPr lang="en-US"/>
        </a:p>
      </dgm:t>
    </dgm:pt>
    <dgm:pt modelId="{CDA86EA9-AFF9-4C74-8D6B-7A1D6063A687}" type="pres">
      <dgm:prSet presAssocID="{AC4BA8BA-8B17-4F9D-AE47-B21F10084844}" presName="root" presStyleCnt="0">
        <dgm:presLayoutVars>
          <dgm:dir/>
          <dgm:resizeHandles val="exact"/>
        </dgm:presLayoutVars>
      </dgm:prSet>
      <dgm:spPr/>
    </dgm:pt>
    <dgm:pt modelId="{9E5DDA6D-BFFB-47D9-8437-DAAD5FB58D7C}" type="pres">
      <dgm:prSet presAssocID="{1529327C-A793-4FD0-873C-FCEB904DA4B0}" presName="compNode" presStyleCnt="0"/>
      <dgm:spPr/>
    </dgm:pt>
    <dgm:pt modelId="{88A38943-E232-4656-B8F7-CD99466CBC0F}" type="pres">
      <dgm:prSet presAssocID="{1529327C-A793-4FD0-873C-FCEB904DA4B0}" presName="iconBgRect" presStyleLbl="bgShp" presStyleIdx="0" presStyleCnt="5"/>
      <dgm:spPr>
        <a:prstGeom prst="round2DiagRect">
          <a:avLst>
            <a:gd name="adj1" fmla="val 29727"/>
            <a:gd name="adj2" fmla="val 0"/>
          </a:avLst>
        </a:prstGeom>
      </dgm:spPr>
    </dgm:pt>
    <dgm:pt modelId="{C1A94D55-D337-48BE-B6D8-29457DCD3498}" type="pres">
      <dgm:prSet presAssocID="{1529327C-A793-4FD0-873C-FCEB904DA4B0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enbank"/>
        </a:ext>
      </dgm:extLst>
    </dgm:pt>
    <dgm:pt modelId="{0D066CEC-79C3-47ED-AC9F-06BE70A680A6}" type="pres">
      <dgm:prSet presAssocID="{1529327C-A793-4FD0-873C-FCEB904DA4B0}" presName="spaceRect" presStyleCnt="0"/>
      <dgm:spPr/>
    </dgm:pt>
    <dgm:pt modelId="{3512CF2A-FA00-4B85-9828-A310BA96198D}" type="pres">
      <dgm:prSet presAssocID="{1529327C-A793-4FD0-873C-FCEB904DA4B0}" presName="textRect" presStyleLbl="revTx" presStyleIdx="0" presStyleCnt="5">
        <dgm:presLayoutVars>
          <dgm:chMax val="1"/>
          <dgm:chPref val="1"/>
        </dgm:presLayoutVars>
      </dgm:prSet>
      <dgm:spPr/>
    </dgm:pt>
    <dgm:pt modelId="{2F592F13-528D-4F27-B580-2E5A897C28AA}" type="pres">
      <dgm:prSet presAssocID="{F8DE264B-1C55-410D-A8ED-CADADFE1B1CC}" presName="sibTrans" presStyleCnt="0"/>
      <dgm:spPr/>
    </dgm:pt>
    <dgm:pt modelId="{A2073ABB-19EA-4E1B-B34C-2EBEC582C251}" type="pres">
      <dgm:prSet presAssocID="{7CA4BD33-13B7-4921-8B97-1B0FC74120DA}" presName="compNode" presStyleCnt="0"/>
      <dgm:spPr/>
    </dgm:pt>
    <dgm:pt modelId="{63B36CF8-1E2A-4F21-8CE3-0CA776359E6C}" type="pres">
      <dgm:prSet presAssocID="{7CA4BD33-13B7-4921-8B97-1B0FC74120DA}" presName="iconBgRect" presStyleLbl="bgShp" presStyleIdx="1" presStyleCnt="5"/>
      <dgm:spPr>
        <a:prstGeom prst="round2DiagRect">
          <a:avLst>
            <a:gd name="adj1" fmla="val 29727"/>
            <a:gd name="adj2" fmla="val 0"/>
          </a:avLst>
        </a:prstGeom>
      </dgm:spPr>
    </dgm:pt>
    <dgm:pt modelId="{43539422-15A1-4BFF-A7B2-3369338A7535}" type="pres">
      <dgm:prSet presAssocID="{7CA4BD33-13B7-4921-8B97-1B0FC74120DA}" presName="iconRect" presStyleLbl="node1" presStyleIdx="1" presStyleCnt="5"/>
      <dgm:spPr>
        <a:ln>
          <a:noFill/>
        </a:ln>
      </dgm:spPr>
    </dgm:pt>
    <dgm:pt modelId="{2FC4F5E0-4343-4C3D-BDF7-429FCC5C2760}" type="pres">
      <dgm:prSet presAssocID="{7CA4BD33-13B7-4921-8B97-1B0FC74120DA}" presName="spaceRect" presStyleCnt="0"/>
      <dgm:spPr/>
    </dgm:pt>
    <dgm:pt modelId="{6E6C3394-EDCC-470E-8699-E99861377AD0}" type="pres">
      <dgm:prSet presAssocID="{7CA4BD33-13B7-4921-8B97-1B0FC74120DA}" presName="textRect" presStyleLbl="revTx" presStyleIdx="1" presStyleCnt="5">
        <dgm:presLayoutVars>
          <dgm:chMax val="1"/>
          <dgm:chPref val="1"/>
        </dgm:presLayoutVars>
      </dgm:prSet>
      <dgm:spPr/>
    </dgm:pt>
    <dgm:pt modelId="{827DCEAB-BA36-4108-ACEA-28F4AFE3A011}" type="pres">
      <dgm:prSet presAssocID="{7F052DF2-1991-4636-9A40-35A7EF7D7B2E}" presName="sibTrans" presStyleCnt="0"/>
      <dgm:spPr/>
    </dgm:pt>
    <dgm:pt modelId="{A5BCD545-322B-42F3-9B2C-B589A3048090}" type="pres">
      <dgm:prSet presAssocID="{58FEB286-5822-459E-9A5C-B64FD99CA46C}" presName="compNode" presStyleCnt="0"/>
      <dgm:spPr/>
    </dgm:pt>
    <dgm:pt modelId="{6893A630-B1D2-46DA-ADAD-7B138FDDEAC1}" type="pres">
      <dgm:prSet presAssocID="{58FEB286-5822-459E-9A5C-B64FD99CA46C}" presName="iconBgRect" presStyleLbl="bgShp" presStyleIdx="2" presStyleCnt="5"/>
      <dgm:spPr>
        <a:prstGeom prst="round2DiagRect">
          <a:avLst>
            <a:gd name="adj1" fmla="val 29727"/>
            <a:gd name="adj2" fmla="val 0"/>
          </a:avLst>
        </a:prstGeom>
      </dgm:spPr>
    </dgm:pt>
    <dgm:pt modelId="{07D97F2E-661B-4909-8A5F-A9E6F208D53A}" type="pres">
      <dgm:prSet presAssocID="{58FEB286-5822-459E-9A5C-B64FD99CA46C}" presName="iconRect" presStyleLbl="node1" presStyleIdx="2" presStyleCnt="5"/>
      <dgm:spPr>
        <a:ln>
          <a:noFill/>
        </a:ln>
      </dgm:spPr>
    </dgm:pt>
    <dgm:pt modelId="{EB780DD2-A821-4E1C-85F6-AC2BF9DA684C}" type="pres">
      <dgm:prSet presAssocID="{58FEB286-5822-459E-9A5C-B64FD99CA46C}" presName="spaceRect" presStyleCnt="0"/>
      <dgm:spPr/>
    </dgm:pt>
    <dgm:pt modelId="{98AB91B7-1D64-43FE-909B-FDA270E96731}" type="pres">
      <dgm:prSet presAssocID="{58FEB286-5822-459E-9A5C-B64FD99CA46C}" presName="textRect" presStyleLbl="revTx" presStyleIdx="2" presStyleCnt="5">
        <dgm:presLayoutVars>
          <dgm:chMax val="1"/>
          <dgm:chPref val="1"/>
        </dgm:presLayoutVars>
      </dgm:prSet>
      <dgm:spPr/>
    </dgm:pt>
    <dgm:pt modelId="{9D7CCB0A-BE48-4CDE-9476-16484A9AF430}" type="pres">
      <dgm:prSet presAssocID="{114FC72B-0503-4FB3-93A4-2148144F2BB4}" presName="sibTrans" presStyleCnt="0"/>
      <dgm:spPr/>
    </dgm:pt>
    <dgm:pt modelId="{7BEDADC4-3606-4A45-B78A-004D771A721C}" type="pres">
      <dgm:prSet presAssocID="{E1025E53-E740-46BE-B1FB-1AC16D33A54D}" presName="compNode" presStyleCnt="0"/>
      <dgm:spPr/>
    </dgm:pt>
    <dgm:pt modelId="{34C37F94-3F32-423B-A72D-E0F3C1903B0F}" type="pres">
      <dgm:prSet presAssocID="{E1025E53-E740-46BE-B1FB-1AC16D33A54D}" presName="iconBgRect" presStyleLbl="bgShp" presStyleIdx="3" presStyleCnt="5"/>
      <dgm:spPr>
        <a:prstGeom prst="round2DiagRect">
          <a:avLst>
            <a:gd name="adj1" fmla="val 29727"/>
            <a:gd name="adj2" fmla="val 0"/>
          </a:avLst>
        </a:prstGeom>
      </dgm:spPr>
    </dgm:pt>
    <dgm:pt modelId="{C76D3EB0-70AB-488C-B4CF-0607F1624A27}" type="pres">
      <dgm:prSet presAssocID="{E1025E53-E740-46BE-B1FB-1AC16D33A54D}" presName="iconRect" presStyleLbl="node1" presStyleIdx="3" presStyleCnt="5"/>
      <dgm:spPr>
        <a:ln>
          <a:noFill/>
        </a:ln>
      </dgm:spPr>
    </dgm:pt>
    <dgm:pt modelId="{29DA1117-6E86-462E-9D1C-0E42FC51A405}" type="pres">
      <dgm:prSet presAssocID="{E1025E53-E740-46BE-B1FB-1AC16D33A54D}" presName="spaceRect" presStyleCnt="0"/>
      <dgm:spPr/>
    </dgm:pt>
    <dgm:pt modelId="{504CA09C-DF39-40C8-8111-40AB9BA62132}" type="pres">
      <dgm:prSet presAssocID="{E1025E53-E740-46BE-B1FB-1AC16D33A54D}" presName="textRect" presStyleLbl="revTx" presStyleIdx="3" presStyleCnt="5">
        <dgm:presLayoutVars>
          <dgm:chMax val="1"/>
          <dgm:chPref val="1"/>
        </dgm:presLayoutVars>
      </dgm:prSet>
      <dgm:spPr/>
    </dgm:pt>
    <dgm:pt modelId="{7E9D59F3-3F0C-4A01-A158-06F005B58211}" type="pres">
      <dgm:prSet presAssocID="{01972EFC-4612-481E-A336-9149689652A5}" presName="sibTrans" presStyleCnt="0"/>
      <dgm:spPr/>
    </dgm:pt>
    <dgm:pt modelId="{4AB87760-ADE4-4382-9A1B-3137F10EAF30}" type="pres">
      <dgm:prSet presAssocID="{7834A6F0-4075-4222-AAF9-E855ADDC0E6E}" presName="compNode" presStyleCnt="0"/>
      <dgm:spPr/>
    </dgm:pt>
    <dgm:pt modelId="{2E5FB125-2341-4400-9E12-E860892554F8}" type="pres">
      <dgm:prSet presAssocID="{7834A6F0-4075-4222-AAF9-E855ADDC0E6E}" presName="iconBgRect" presStyleLbl="bgShp" presStyleIdx="4" presStyleCnt="5"/>
      <dgm:spPr>
        <a:prstGeom prst="round2DiagRect">
          <a:avLst>
            <a:gd name="adj1" fmla="val 29727"/>
            <a:gd name="adj2" fmla="val 0"/>
          </a:avLst>
        </a:prstGeom>
      </dgm:spPr>
    </dgm:pt>
    <dgm:pt modelId="{2C6C5902-5A05-468B-B905-E3E31CDF7A86}" type="pres">
      <dgm:prSet presAssocID="{7834A6F0-4075-4222-AAF9-E855ADDC0E6E}" presName="iconRect" presStyleLbl="node1" presStyleIdx="4" presStyleCnt="5"/>
      <dgm:spPr>
        <a:ln>
          <a:noFill/>
        </a:ln>
      </dgm:spPr>
    </dgm:pt>
    <dgm:pt modelId="{8B8142CE-DA1C-49E6-BCFE-621DA72F90C3}" type="pres">
      <dgm:prSet presAssocID="{7834A6F0-4075-4222-AAF9-E855ADDC0E6E}" presName="spaceRect" presStyleCnt="0"/>
      <dgm:spPr/>
    </dgm:pt>
    <dgm:pt modelId="{09B26BA5-F1A0-4CA8-A8F6-45FD472D2C53}" type="pres">
      <dgm:prSet presAssocID="{7834A6F0-4075-4222-AAF9-E855ADDC0E6E}" presName="textRect" presStyleLbl="revTx" presStyleIdx="4" presStyleCnt="5">
        <dgm:presLayoutVars>
          <dgm:chMax val="1"/>
          <dgm:chPref val="1"/>
        </dgm:presLayoutVars>
      </dgm:prSet>
      <dgm:spPr/>
    </dgm:pt>
  </dgm:ptLst>
  <dgm:cxnLst>
    <dgm:cxn modelId="{669AA207-9121-4456-82B5-B0F61F737133}" type="presOf" srcId="{7CA4BD33-13B7-4921-8B97-1B0FC74120DA}" destId="{6E6C3394-EDCC-470E-8699-E99861377AD0}" srcOrd="0" destOrd="0" presId="urn:microsoft.com/office/officeart/2018/5/layout/IconLeafLabelList"/>
    <dgm:cxn modelId="{0071CE3A-2DCE-4A0A-B0F4-812E23E83CE0}" type="presOf" srcId="{E1025E53-E740-46BE-B1FB-1AC16D33A54D}" destId="{504CA09C-DF39-40C8-8111-40AB9BA62132}" srcOrd="0" destOrd="0" presId="urn:microsoft.com/office/officeart/2018/5/layout/IconLeafLabelList"/>
    <dgm:cxn modelId="{6E58916D-2311-4526-AB9C-5AE9A993E964}" type="presOf" srcId="{1529327C-A793-4FD0-873C-FCEB904DA4B0}" destId="{3512CF2A-FA00-4B85-9828-A310BA96198D}" srcOrd="0" destOrd="0" presId="urn:microsoft.com/office/officeart/2018/5/layout/IconLeafLabelList"/>
    <dgm:cxn modelId="{F9C8AF82-04F1-4CFB-8739-38062BD60921}" srcId="{AC4BA8BA-8B17-4F9D-AE47-B21F10084844}" destId="{58FEB286-5822-459E-9A5C-B64FD99CA46C}" srcOrd="2" destOrd="0" parTransId="{7F3FA05A-BEC2-4786-9F8F-256D1684C062}" sibTransId="{114FC72B-0503-4FB3-93A4-2148144F2BB4}"/>
    <dgm:cxn modelId="{DBB68B8A-7700-47EF-92F0-71DF6C9770B5}" type="presOf" srcId="{7834A6F0-4075-4222-AAF9-E855ADDC0E6E}" destId="{09B26BA5-F1A0-4CA8-A8F6-45FD472D2C53}" srcOrd="0" destOrd="0" presId="urn:microsoft.com/office/officeart/2018/5/layout/IconLeafLabelList"/>
    <dgm:cxn modelId="{D2AC169D-D29E-4C6E-8101-4378C880B93E}" srcId="{AC4BA8BA-8B17-4F9D-AE47-B21F10084844}" destId="{7834A6F0-4075-4222-AAF9-E855ADDC0E6E}" srcOrd="4" destOrd="0" parTransId="{95FB30A1-F0F1-4232-A2E0-77B87A644EB5}" sibTransId="{7A292C51-0EA4-438F-982B-BEA540370A7C}"/>
    <dgm:cxn modelId="{78022BA8-0CF4-4E9C-9828-0D7CB9698B36}" srcId="{AC4BA8BA-8B17-4F9D-AE47-B21F10084844}" destId="{E1025E53-E740-46BE-B1FB-1AC16D33A54D}" srcOrd="3" destOrd="0" parTransId="{7780F15C-9210-47CD-B684-E3B26FAF7D09}" sibTransId="{01972EFC-4612-481E-A336-9149689652A5}"/>
    <dgm:cxn modelId="{98BBA6B0-0FB4-40BD-AB46-4AC84D295156}" srcId="{AC4BA8BA-8B17-4F9D-AE47-B21F10084844}" destId="{7CA4BD33-13B7-4921-8B97-1B0FC74120DA}" srcOrd="1" destOrd="0" parTransId="{E8C0AD63-8D4F-4C55-AC29-A486ECD77820}" sibTransId="{7F052DF2-1991-4636-9A40-35A7EF7D7B2E}"/>
    <dgm:cxn modelId="{E3B640B9-D786-4EE4-B027-02F8B0875B9C}" type="presOf" srcId="{58FEB286-5822-459E-9A5C-B64FD99CA46C}" destId="{98AB91B7-1D64-43FE-909B-FDA270E96731}" srcOrd="0" destOrd="0" presId="urn:microsoft.com/office/officeart/2018/5/layout/IconLeafLabelList"/>
    <dgm:cxn modelId="{35885BD9-247E-4CBB-B35B-E3BFFD101CE2}" srcId="{AC4BA8BA-8B17-4F9D-AE47-B21F10084844}" destId="{1529327C-A793-4FD0-873C-FCEB904DA4B0}" srcOrd="0" destOrd="0" parTransId="{26CBD46B-FB6D-4C07-86CF-9BB8A4A0E7AF}" sibTransId="{F8DE264B-1C55-410D-A8ED-CADADFE1B1CC}"/>
    <dgm:cxn modelId="{1DE441E5-4FB1-49EB-AADA-1DB633C597F8}" type="presOf" srcId="{AC4BA8BA-8B17-4F9D-AE47-B21F10084844}" destId="{CDA86EA9-AFF9-4C74-8D6B-7A1D6063A687}" srcOrd="0" destOrd="0" presId="urn:microsoft.com/office/officeart/2018/5/layout/IconLeafLabelList"/>
    <dgm:cxn modelId="{FB12FE7E-615B-4C4C-8C4B-A6F1E710EA60}" type="presParOf" srcId="{CDA86EA9-AFF9-4C74-8D6B-7A1D6063A687}" destId="{9E5DDA6D-BFFB-47D9-8437-DAAD5FB58D7C}" srcOrd="0" destOrd="0" presId="urn:microsoft.com/office/officeart/2018/5/layout/IconLeafLabelList"/>
    <dgm:cxn modelId="{7B155170-1825-4204-80C5-14E0CA4B98F8}" type="presParOf" srcId="{9E5DDA6D-BFFB-47D9-8437-DAAD5FB58D7C}" destId="{88A38943-E232-4656-B8F7-CD99466CBC0F}" srcOrd="0" destOrd="0" presId="urn:microsoft.com/office/officeart/2018/5/layout/IconLeafLabelList"/>
    <dgm:cxn modelId="{1E7AF8A4-2D17-464C-AA95-65EAF57EF922}" type="presParOf" srcId="{9E5DDA6D-BFFB-47D9-8437-DAAD5FB58D7C}" destId="{C1A94D55-D337-48BE-B6D8-29457DCD3498}" srcOrd="1" destOrd="0" presId="urn:microsoft.com/office/officeart/2018/5/layout/IconLeafLabelList"/>
    <dgm:cxn modelId="{654A3CCA-C621-481D-A883-F61CCC037D6A}" type="presParOf" srcId="{9E5DDA6D-BFFB-47D9-8437-DAAD5FB58D7C}" destId="{0D066CEC-79C3-47ED-AC9F-06BE70A680A6}" srcOrd="2" destOrd="0" presId="urn:microsoft.com/office/officeart/2018/5/layout/IconLeafLabelList"/>
    <dgm:cxn modelId="{29B2490A-BE37-411A-A505-D9D7B175F721}" type="presParOf" srcId="{9E5DDA6D-BFFB-47D9-8437-DAAD5FB58D7C}" destId="{3512CF2A-FA00-4B85-9828-A310BA96198D}" srcOrd="3" destOrd="0" presId="urn:microsoft.com/office/officeart/2018/5/layout/IconLeafLabelList"/>
    <dgm:cxn modelId="{A1462B57-EA92-4680-9C41-A5673A57CAB7}" type="presParOf" srcId="{CDA86EA9-AFF9-4C74-8D6B-7A1D6063A687}" destId="{2F592F13-528D-4F27-B580-2E5A897C28AA}" srcOrd="1" destOrd="0" presId="urn:microsoft.com/office/officeart/2018/5/layout/IconLeafLabelList"/>
    <dgm:cxn modelId="{B8582D89-B6A8-4E7F-9584-03A4ED63D7DC}" type="presParOf" srcId="{CDA86EA9-AFF9-4C74-8D6B-7A1D6063A687}" destId="{A2073ABB-19EA-4E1B-B34C-2EBEC582C251}" srcOrd="2" destOrd="0" presId="urn:microsoft.com/office/officeart/2018/5/layout/IconLeafLabelList"/>
    <dgm:cxn modelId="{63BCB9E5-DBF9-4453-97EB-C6D36BD245C4}" type="presParOf" srcId="{A2073ABB-19EA-4E1B-B34C-2EBEC582C251}" destId="{63B36CF8-1E2A-4F21-8CE3-0CA776359E6C}" srcOrd="0" destOrd="0" presId="urn:microsoft.com/office/officeart/2018/5/layout/IconLeafLabelList"/>
    <dgm:cxn modelId="{37C91672-31BE-4A0C-BFEA-04856565C03F}" type="presParOf" srcId="{A2073ABB-19EA-4E1B-B34C-2EBEC582C251}" destId="{43539422-15A1-4BFF-A7B2-3369338A7535}" srcOrd="1" destOrd="0" presId="urn:microsoft.com/office/officeart/2018/5/layout/IconLeafLabelList"/>
    <dgm:cxn modelId="{0ECFAA3A-ABDD-43F4-B4E1-94D4D26F0B34}" type="presParOf" srcId="{A2073ABB-19EA-4E1B-B34C-2EBEC582C251}" destId="{2FC4F5E0-4343-4C3D-BDF7-429FCC5C2760}" srcOrd="2" destOrd="0" presId="urn:microsoft.com/office/officeart/2018/5/layout/IconLeafLabelList"/>
    <dgm:cxn modelId="{067B2596-4191-4BBE-8246-9C4080B67A67}" type="presParOf" srcId="{A2073ABB-19EA-4E1B-B34C-2EBEC582C251}" destId="{6E6C3394-EDCC-470E-8699-E99861377AD0}" srcOrd="3" destOrd="0" presId="urn:microsoft.com/office/officeart/2018/5/layout/IconLeafLabelList"/>
    <dgm:cxn modelId="{008F044F-3481-406A-9222-98A88E905B15}" type="presParOf" srcId="{CDA86EA9-AFF9-4C74-8D6B-7A1D6063A687}" destId="{827DCEAB-BA36-4108-ACEA-28F4AFE3A011}" srcOrd="3" destOrd="0" presId="urn:microsoft.com/office/officeart/2018/5/layout/IconLeafLabelList"/>
    <dgm:cxn modelId="{BB2698A5-B6C7-413F-812D-AA1F6CC55A5A}" type="presParOf" srcId="{CDA86EA9-AFF9-4C74-8D6B-7A1D6063A687}" destId="{A5BCD545-322B-42F3-9B2C-B589A3048090}" srcOrd="4" destOrd="0" presId="urn:microsoft.com/office/officeart/2018/5/layout/IconLeafLabelList"/>
    <dgm:cxn modelId="{3497C6FF-561A-431E-B8E4-12131B2C5523}" type="presParOf" srcId="{A5BCD545-322B-42F3-9B2C-B589A3048090}" destId="{6893A630-B1D2-46DA-ADAD-7B138FDDEAC1}" srcOrd="0" destOrd="0" presId="urn:microsoft.com/office/officeart/2018/5/layout/IconLeafLabelList"/>
    <dgm:cxn modelId="{C52A22A8-5017-45F7-9C16-3EDE7B3358A1}" type="presParOf" srcId="{A5BCD545-322B-42F3-9B2C-B589A3048090}" destId="{07D97F2E-661B-4909-8A5F-A9E6F208D53A}" srcOrd="1" destOrd="0" presId="urn:microsoft.com/office/officeart/2018/5/layout/IconLeafLabelList"/>
    <dgm:cxn modelId="{45F4018A-8039-4133-91AD-1EB5CEE4AF0B}" type="presParOf" srcId="{A5BCD545-322B-42F3-9B2C-B589A3048090}" destId="{EB780DD2-A821-4E1C-85F6-AC2BF9DA684C}" srcOrd="2" destOrd="0" presId="urn:microsoft.com/office/officeart/2018/5/layout/IconLeafLabelList"/>
    <dgm:cxn modelId="{80318E7B-1663-4840-BB9B-999C2A046F1A}" type="presParOf" srcId="{A5BCD545-322B-42F3-9B2C-B589A3048090}" destId="{98AB91B7-1D64-43FE-909B-FDA270E96731}" srcOrd="3" destOrd="0" presId="urn:microsoft.com/office/officeart/2018/5/layout/IconLeafLabelList"/>
    <dgm:cxn modelId="{6661CF23-5D81-4C33-BCFE-1182FF08F162}" type="presParOf" srcId="{CDA86EA9-AFF9-4C74-8D6B-7A1D6063A687}" destId="{9D7CCB0A-BE48-4CDE-9476-16484A9AF430}" srcOrd="5" destOrd="0" presId="urn:microsoft.com/office/officeart/2018/5/layout/IconLeafLabelList"/>
    <dgm:cxn modelId="{64CAD75F-1FF4-42C8-99D5-E013A169F755}" type="presParOf" srcId="{CDA86EA9-AFF9-4C74-8D6B-7A1D6063A687}" destId="{7BEDADC4-3606-4A45-B78A-004D771A721C}" srcOrd="6" destOrd="0" presId="urn:microsoft.com/office/officeart/2018/5/layout/IconLeafLabelList"/>
    <dgm:cxn modelId="{E836D38D-F7C5-4F01-A896-E201A773DF11}" type="presParOf" srcId="{7BEDADC4-3606-4A45-B78A-004D771A721C}" destId="{34C37F94-3F32-423B-A72D-E0F3C1903B0F}" srcOrd="0" destOrd="0" presId="urn:microsoft.com/office/officeart/2018/5/layout/IconLeafLabelList"/>
    <dgm:cxn modelId="{02E79DD7-6E58-4D52-A2A5-68DB2C0F580A}" type="presParOf" srcId="{7BEDADC4-3606-4A45-B78A-004D771A721C}" destId="{C76D3EB0-70AB-488C-B4CF-0607F1624A27}" srcOrd="1" destOrd="0" presId="urn:microsoft.com/office/officeart/2018/5/layout/IconLeafLabelList"/>
    <dgm:cxn modelId="{2DC4E40C-23FE-4078-8A60-C5E7A57C4097}" type="presParOf" srcId="{7BEDADC4-3606-4A45-B78A-004D771A721C}" destId="{29DA1117-6E86-462E-9D1C-0E42FC51A405}" srcOrd="2" destOrd="0" presId="urn:microsoft.com/office/officeart/2018/5/layout/IconLeafLabelList"/>
    <dgm:cxn modelId="{2818A239-A9DE-463C-A49C-EE80479CAFA5}" type="presParOf" srcId="{7BEDADC4-3606-4A45-B78A-004D771A721C}" destId="{504CA09C-DF39-40C8-8111-40AB9BA62132}" srcOrd="3" destOrd="0" presId="urn:microsoft.com/office/officeart/2018/5/layout/IconLeafLabelList"/>
    <dgm:cxn modelId="{697E84D9-C1C0-427D-9BA8-78EEFA16262C}" type="presParOf" srcId="{CDA86EA9-AFF9-4C74-8D6B-7A1D6063A687}" destId="{7E9D59F3-3F0C-4A01-A158-06F005B58211}" srcOrd="7" destOrd="0" presId="urn:microsoft.com/office/officeart/2018/5/layout/IconLeafLabelList"/>
    <dgm:cxn modelId="{E9D729D5-7E06-4502-9977-7F98443BB83B}" type="presParOf" srcId="{CDA86EA9-AFF9-4C74-8D6B-7A1D6063A687}" destId="{4AB87760-ADE4-4382-9A1B-3137F10EAF30}" srcOrd="8" destOrd="0" presId="urn:microsoft.com/office/officeart/2018/5/layout/IconLeafLabelList"/>
    <dgm:cxn modelId="{2DC643F0-F7A6-4591-8C09-B657C7777C8F}" type="presParOf" srcId="{4AB87760-ADE4-4382-9A1B-3137F10EAF30}" destId="{2E5FB125-2341-4400-9E12-E860892554F8}" srcOrd="0" destOrd="0" presId="urn:microsoft.com/office/officeart/2018/5/layout/IconLeafLabelList"/>
    <dgm:cxn modelId="{48105506-B0DC-4A37-BB26-B8C2D3B72ADB}" type="presParOf" srcId="{4AB87760-ADE4-4382-9A1B-3137F10EAF30}" destId="{2C6C5902-5A05-468B-B905-E3E31CDF7A86}" srcOrd="1" destOrd="0" presId="urn:microsoft.com/office/officeart/2018/5/layout/IconLeafLabelList"/>
    <dgm:cxn modelId="{041003A9-A8C5-46D3-9B40-5A7EAF8152D7}" type="presParOf" srcId="{4AB87760-ADE4-4382-9A1B-3137F10EAF30}" destId="{8B8142CE-DA1C-49E6-BCFE-621DA72F90C3}" srcOrd="2" destOrd="0" presId="urn:microsoft.com/office/officeart/2018/5/layout/IconLeafLabelList"/>
    <dgm:cxn modelId="{8C4281C3-D007-4413-A870-4B84D8544063}" type="presParOf" srcId="{4AB87760-ADE4-4382-9A1B-3137F10EAF30}" destId="{09B26BA5-F1A0-4CA8-A8F6-45FD472D2C53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C644B47-FFB5-48AF-BAD9-95B1B6D38D93}">
      <dsp:nvSpPr>
        <dsp:cNvPr id="0" name=""/>
        <dsp:cNvSpPr/>
      </dsp:nvSpPr>
      <dsp:spPr bwMode="auto">
        <a:xfrm>
          <a:off x="1691639" y="1285"/>
          <a:ext cx="6766560" cy="1318021"/>
        </a:xfrm>
        <a:prstGeom prst="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rgbClr val="000000"/>
        </a:lnRef>
        <a:fillRef idx="1">
          <a:srgbClr val="000000"/>
        </a:fillRef>
        <a:effectRef idx="0">
          <a:srgbClr val="000000"/>
        </a:effectRef>
        <a:fontRef idx="minor"/>
      </dsp:style>
      <dsp:txBody>
        <a:bodyPr spcFirstLastPara="0" vert="horz" wrap="square" lIns="131290" tIns="334778" rIns="131290" bIns="334778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/>
          </a:pPr>
          <a:r>
            <a:rPr lang="de-DE" sz="1800" kern="1200">
              <a:latin typeface="Calibri"/>
            </a:rPr>
            <a:t>Weigh client contributions based on distance to an anchor update calculated on a root dataset</a:t>
          </a:r>
          <a:endParaRPr lang="en-US" sz="1800" kern="1200">
            <a:latin typeface="Calibri"/>
          </a:endParaRPr>
        </a:p>
      </dsp:txBody>
      <dsp:txXfrm>
        <a:off x="1691639" y="1285"/>
        <a:ext cx="6766560" cy="1318021"/>
      </dsp:txXfrm>
    </dsp:sp>
    <dsp:sp modelId="{BE9CCB95-0798-4326-A742-CFE6F0A4A024}">
      <dsp:nvSpPr>
        <dsp:cNvPr id="0" name=""/>
        <dsp:cNvSpPr/>
      </dsp:nvSpPr>
      <dsp:spPr bwMode="auto">
        <a:xfrm>
          <a:off x="0" y="1285"/>
          <a:ext cx="1691640" cy="1318021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rgbClr val="000000"/>
        </a:lnRef>
        <a:fillRef idx="1">
          <a:srgbClr val="000000"/>
        </a:fillRef>
        <a:effectRef idx="0">
          <a:srgbClr val="000000"/>
        </a:effectRef>
        <a:fontRef idx="minor">
          <a:schemeClr val="lt1"/>
        </a:fontRef>
      </dsp:style>
      <dsp:txBody>
        <a:bodyPr spcFirstLastPara="0" vert="horz" wrap="square" lIns="89516" tIns="130191" rIns="89516" bIns="130191" numCol="1" spcCol="1270" anchor="ctr" anchorCtr="0">
          <a:noAutofit/>
        </a:bodyPr>
        <a:lstStyle/>
        <a:p>
          <a:pPr marL="0" lvl="0" indent="0" algn="ctr" defTabSz="9779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/>
          </a:pPr>
          <a:r>
            <a:rPr lang="de-DE" sz="2200" kern="1200">
              <a:latin typeface="Calibri"/>
            </a:rPr>
            <a:t>FLTrust</a:t>
          </a:r>
          <a:endParaRPr lang="en-US" sz="2200" kern="1200">
            <a:latin typeface="Calibri"/>
          </a:endParaRPr>
        </a:p>
      </dsp:txBody>
      <dsp:txXfrm>
        <a:off x="0" y="1285"/>
        <a:ext cx="1691640" cy="1318021"/>
      </dsp:txXfrm>
    </dsp:sp>
    <dsp:sp modelId="{A18CFAB1-5977-404F-8E10-7DF991A539A2}">
      <dsp:nvSpPr>
        <dsp:cNvPr id="0" name=""/>
        <dsp:cNvSpPr/>
      </dsp:nvSpPr>
      <dsp:spPr bwMode="auto">
        <a:xfrm>
          <a:off x="1691639" y="1398389"/>
          <a:ext cx="6766560" cy="1318021"/>
        </a:xfrm>
        <a:prstGeom prst="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rgbClr val="000000"/>
        </a:lnRef>
        <a:fillRef idx="1">
          <a:srgbClr val="000000"/>
        </a:fillRef>
        <a:effectRef idx="0">
          <a:srgbClr val="000000"/>
        </a:effectRef>
        <a:fontRef idx="minor"/>
      </dsp:style>
      <dsp:txBody>
        <a:bodyPr spcFirstLastPara="0" vert="horz" wrap="square" lIns="131290" tIns="334778" rIns="131290" bIns="334778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/>
          </a:pPr>
          <a:r>
            <a:rPr lang="de-DE" sz="1800" kern="1200"/>
            <a:t>Locally clip per-sample gradients and add calibrated Gaussian noise</a:t>
          </a:r>
          <a:endParaRPr lang="en-US" sz="1800" kern="1200"/>
        </a:p>
      </dsp:txBody>
      <dsp:txXfrm>
        <a:off x="1691639" y="1398389"/>
        <a:ext cx="6766560" cy="1318021"/>
      </dsp:txXfrm>
    </dsp:sp>
    <dsp:sp modelId="{B7724C46-34AD-4936-A2CB-707A185DE5EB}">
      <dsp:nvSpPr>
        <dsp:cNvPr id="0" name=""/>
        <dsp:cNvSpPr/>
      </dsp:nvSpPr>
      <dsp:spPr bwMode="auto">
        <a:xfrm>
          <a:off x="0" y="1398389"/>
          <a:ext cx="1691640" cy="1318021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rgbClr val="000000"/>
        </a:lnRef>
        <a:fillRef idx="1">
          <a:srgbClr val="000000"/>
        </a:fillRef>
        <a:effectRef idx="0">
          <a:srgbClr val="000000"/>
        </a:effectRef>
        <a:fontRef idx="minor">
          <a:schemeClr val="lt1"/>
        </a:fontRef>
      </dsp:style>
      <dsp:txBody>
        <a:bodyPr spcFirstLastPara="0" vert="horz" wrap="square" lIns="89516" tIns="130191" rIns="89516" bIns="130191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/>
          </a:pPr>
          <a:r>
            <a:rPr lang="de-DE" sz="2200" kern="1200"/>
            <a:t>Differential Privacy SGD</a:t>
          </a:r>
          <a:endParaRPr lang="en-US" sz="2200" kern="1200"/>
        </a:p>
      </dsp:txBody>
      <dsp:txXfrm>
        <a:off x="0" y="1398389"/>
        <a:ext cx="1691640" cy="1318021"/>
      </dsp:txXfrm>
    </dsp:sp>
    <dsp:sp modelId="{F19D84E7-44C8-4A93-AFF7-5D646E150CE6}">
      <dsp:nvSpPr>
        <dsp:cNvPr id="0" name=""/>
        <dsp:cNvSpPr/>
      </dsp:nvSpPr>
      <dsp:spPr bwMode="auto">
        <a:xfrm>
          <a:off x="1691639" y="2795492"/>
          <a:ext cx="6766560" cy="1318021"/>
        </a:xfrm>
        <a:prstGeom prst="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rgbClr val="000000"/>
        </a:lnRef>
        <a:fillRef idx="1">
          <a:srgbClr val="000000"/>
        </a:fillRef>
        <a:effectRef idx="0">
          <a:srgbClr val="000000"/>
        </a:effectRef>
        <a:fontRef idx="minor"/>
      </dsp:style>
      <dsp:txBody>
        <a:bodyPr spcFirstLastPara="0" vert="horz" wrap="square" lIns="131290" tIns="334778" rIns="131290" bIns="334778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/>
          </a:pPr>
          <a:r>
            <a:rPr lang="de-DE" sz="1800" kern="1200"/>
            <a:t>Transmit only </a:t>
          </a:r>
          <a:r>
            <a:rPr lang="de-DE" sz="1800" i="1" kern="1200"/>
            <a:t>k</a:t>
          </a:r>
          <a:r>
            <a:rPr lang="de-DE" sz="1800" kern="1200"/>
            <a:t> largest gradient components</a:t>
          </a:r>
          <a:endParaRPr lang="en-US" sz="1800" kern="1200"/>
        </a:p>
      </dsp:txBody>
      <dsp:txXfrm>
        <a:off x="1691639" y="2795492"/>
        <a:ext cx="6766560" cy="1318021"/>
      </dsp:txXfrm>
    </dsp:sp>
    <dsp:sp modelId="{30FE7AC9-04EB-4186-8DB5-B3EA78643A74}">
      <dsp:nvSpPr>
        <dsp:cNvPr id="0" name=""/>
        <dsp:cNvSpPr/>
      </dsp:nvSpPr>
      <dsp:spPr bwMode="auto">
        <a:xfrm>
          <a:off x="0" y="2795492"/>
          <a:ext cx="1691640" cy="1318021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rgbClr val="000000"/>
        </a:lnRef>
        <a:fillRef idx="1">
          <a:srgbClr val="000000"/>
        </a:fillRef>
        <a:effectRef idx="0">
          <a:srgbClr val="000000"/>
        </a:effectRef>
        <a:fontRef idx="minor">
          <a:schemeClr val="lt1"/>
        </a:fontRef>
      </dsp:style>
      <dsp:txBody>
        <a:bodyPr spcFirstLastPara="0" vert="horz" wrap="square" lIns="89516" tIns="130191" rIns="89516" bIns="130191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/>
          </a:pPr>
          <a:r>
            <a:rPr lang="de-DE" sz="2200" kern="1200"/>
            <a:t>Top-k sparsification</a:t>
          </a:r>
          <a:endParaRPr lang="en-US" sz="2200" kern="1200"/>
        </a:p>
      </dsp:txBody>
      <dsp:txXfrm>
        <a:off x="0" y="2795492"/>
        <a:ext cx="1691640" cy="131802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97FAFBD-A84B-4509-9F67-5888E67A067C}">
      <dsp:nvSpPr>
        <dsp:cNvPr id="0" name=""/>
        <dsp:cNvSpPr/>
      </dsp:nvSpPr>
      <dsp:spPr bwMode="auto">
        <a:xfrm>
          <a:off x="1282203" y="1216603"/>
          <a:ext cx="1359914" cy="1359914"/>
        </a:xfrm>
        <a:prstGeom prst="rect">
          <a:avLst/>
        </a:prstGeom>
        <a:blipFill rotWithShape="1">
          <a:blip xmlns:r="http://schemas.openxmlformats.org/officeDocument/2006/relationships" r:embed="rId1"/>
          <a:stretch/>
        </a:blipFill>
        <a:ln w="25400" cap="flat" cmpd="sng" algn="ctr">
          <a:noFill/>
          <a:prstDash val="solid"/>
        </a:ln>
        <a:effectLst/>
      </dsp:spPr>
      <dsp:style>
        <a:lnRef idx="2">
          <a:srgbClr val="000000"/>
        </a:lnRef>
        <a:fillRef idx="1">
          <a:srgbClr val="000000"/>
        </a:fillRef>
        <a:effectRef idx="0">
          <a:srgbClr val="000000"/>
        </a:effectRef>
        <a:fontRef idx="minor">
          <a:schemeClr val="lt1"/>
        </a:fontRef>
      </dsp:style>
    </dsp:sp>
    <dsp:sp modelId="{39087910-3F29-4E11-A512-FC640F1855CB}">
      <dsp:nvSpPr>
        <dsp:cNvPr id="0" name=""/>
        <dsp:cNvSpPr/>
      </dsp:nvSpPr>
      <dsp:spPr bwMode="auto">
        <a:xfrm>
          <a:off x="3652" y="2233676"/>
          <a:ext cx="3885468" cy="582820"/>
        </a:xfrm>
        <a:prstGeom prst="rect">
          <a:avLst/>
        </a:prstGeom>
        <a:noFill/>
        <a:ln>
          <a:noFill/>
        </a:ln>
        <a:effectLst/>
      </dsp:spPr>
      <dsp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ts val="0"/>
            </a:spcBef>
            <a:spcAft>
              <a:spcPts val="0"/>
            </a:spcAft>
            <a:buNone/>
            <a:defRPr/>
          </a:pPr>
          <a:endParaRPr sz="3600" kern="1200"/>
        </a:p>
      </dsp:txBody>
      <dsp:txXfrm>
        <a:off x="3652" y="2233676"/>
        <a:ext cx="3885468" cy="582820"/>
      </dsp:txXfrm>
    </dsp:sp>
    <dsp:sp modelId="{4FEDAA2A-B7B1-4650-AA0D-7AD7F5826766}">
      <dsp:nvSpPr>
        <dsp:cNvPr id="0" name=""/>
        <dsp:cNvSpPr/>
      </dsp:nvSpPr>
      <dsp:spPr bwMode="auto">
        <a:xfrm>
          <a:off x="3652" y="2868297"/>
          <a:ext cx="3885468" cy="484110"/>
        </a:xfrm>
        <a:prstGeom prst="rect">
          <a:avLst/>
        </a:prstGeom>
        <a:noFill/>
        <a:ln>
          <a:noFill/>
        </a:ln>
        <a:effectLst/>
      </dsp:spPr>
      <dsp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49">
            <a:lnSpc>
              <a:spcPct val="90000"/>
            </a:lnSpc>
            <a:spcBef>
              <a:spcPts val="0"/>
            </a:spcBef>
            <a:spcAft>
              <a:spcPts val="0"/>
            </a:spcAft>
            <a:buNone/>
            <a:defRPr/>
          </a:pPr>
          <a:r>
            <a:rPr lang="en-US" sz="1700" kern="1200" dirty="0"/>
            <a:t>The Server is </a:t>
          </a:r>
          <a:r>
            <a:rPr lang="en-US" sz="1700" b="1" kern="1200" dirty="0"/>
            <a:t>honest</a:t>
          </a:r>
          <a:r>
            <a:rPr lang="de-DE" sz="1700" b="1" kern="1200" dirty="0"/>
            <a:t>,</a:t>
          </a:r>
          <a:r>
            <a:rPr lang="en-US" sz="1700" b="1" kern="1200" dirty="0"/>
            <a:t> but curious</a:t>
          </a:r>
          <a:endParaRPr lang="en-US" sz="1700" kern="1200" dirty="0"/>
        </a:p>
      </dsp:txBody>
      <dsp:txXfrm>
        <a:off x="3652" y="2868297"/>
        <a:ext cx="3885468" cy="484110"/>
      </dsp:txXfrm>
    </dsp:sp>
    <dsp:sp modelId="{A3D68BA3-666A-4709-99CC-0C398C9C6F6E}">
      <dsp:nvSpPr>
        <dsp:cNvPr id="0" name=""/>
        <dsp:cNvSpPr/>
      </dsp:nvSpPr>
      <dsp:spPr bwMode="auto">
        <a:xfrm>
          <a:off x="5854958" y="1133866"/>
          <a:ext cx="1359914" cy="1359914"/>
        </a:xfrm>
        <a:prstGeom prst="rect">
          <a:avLst/>
        </a:prstGeom>
        <a:blipFill rotWithShape="1">
          <a:blip xmlns:r="http://schemas.openxmlformats.org/officeDocument/2006/relationships" r:embed="rId2"/>
          <a:stretch/>
        </a:blipFill>
        <a:ln w="25400" cap="flat" cmpd="sng" algn="ctr">
          <a:noFill/>
          <a:prstDash val="solid"/>
        </a:ln>
        <a:effectLst/>
      </dsp:spPr>
      <dsp:style>
        <a:lnRef idx="2">
          <a:srgbClr val="000000"/>
        </a:lnRef>
        <a:fillRef idx="1">
          <a:srgbClr val="000000"/>
        </a:fillRef>
        <a:effectRef idx="0">
          <a:srgbClr val="000000"/>
        </a:effectRef>
        <a:fontRef idx="minor">
          <a:schemeClr val="lt1"/>
        </a:fontRef>
      </dsp:style>
    </dsp:sp>
    <dsp:sp modelId="{A45DE040-80F8-4A94-A112-414F2EBE5D28}">
      <dsp:nvSpPr>
        <dsp:cNvPr id="0" name=""/>
        <dsp:cNvSpPr/>
      </dsp:nvSpPr>
      <dsp:spPr bwMode="auto">
        <a:xfrm>
          <a:off x="4569078" y="2233676"/>
          <a:ext cx="3885468" cy="582820"/>
        </a:xfrm>
        <a:prstGeom prst="rect">
          <a:avLst/>
        </a:prstGeom>
        <a:noFill/>
        <a:ln>
          <a:noFill/>
        </a:ln>
        <a:effectLst/>
      </dsp:spPr>
      <dsp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1600200">
            <a:lnSpc>
              <a:spcPct val="90000"/>
            </a:lnSpc>
            <a:spcBef>
              <a:spcPts val="0"/>
            </a:spcBef>
            <a:spcAft>
              <a:spcPts val="0"/>
            </a:spcAft>
            <a:buNone/>
            <a:defRPr/>
          </a:pPr>
          <a:endParaRPr sz="3600" kern="1200"/>
        </a:p>
      </dsp:txBody>
      <dsp:txXfrm>
        <a:off x="4569078" y="2233676"/>
        <a:ext cx="3885468" cy="582820"/>
      </dsp:txXfrm>
    </dsp:sp>
    <dsp:sp modelId="{8CF0F843-1F01-4893-A7D7-BEDFB9585EA2}">
      <dsp:nvSpPr>
        <dsp:cNvPr id="0" name=""/>
        <dsp:cNvSpPr/>
      </dsp:nvSpPr>
      <dsp:spPr bwMode="auto">
        <a:xfrm>
          <a:off x="4569078" y="2868297"/>
          <a:ext cx="3885468" cy="484110"/>
        </a:xfrm>
        <a:prstGeom prst="rect">
          <a:avLst/>
        </a:prstGeom>
        <a:noFill/>
        <a:ln>
          <a:noFill/>
        </a:ln>
        <a:effectLst/>
      </dsp:spPr>
      <dsp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55649">
            <a:lnSpc>
              <a:spcPct val="90000"/>
            </a:lnSpc>
            <a:spcBef>
              <a:spcPts val="0"/>
            </a:spcBef>
            <a:spcAft>
              <a:spcPts val="0"/>
            </a:spcAft>
            <a:buNone/>
            <a:defRPr/>
          </a:pPr>
          <a:r>
            <a:rPr lang="en-US" sz="1700" kern="1200" dirty="0"/>
            <a:t>Clients are </a:t>
          </a:r>
          <a:r>
            <a:rPr lang="en-US" sz="1700" b="1" kern="1200" dirty="0"/>
            <a:t>honest</a:t>
          </a:r>
          <a:endParaRPr lang="en-US" sz="1700" kern="1200" dirty="0"/>
        </a:p>
        <a:p>
          <a:pPr marL="0" lvl="0" indent="0" algn="ctr" defTabSz="755649">
            <a:lnSpc>
              <a:spcPct val="90000"/>
            </a:lnSpc>
            <a:spcBef>
              <a:spcPts val="0"/>
            </a:spcBef>
            <a:spcAft>
              <a:spcPts val="0"/>
            </a:spcAft>
            <a:buNone/>
            <a:defRPr/>
          </a:pPr>
          <a14:m xmlns:a14="http://schemas.microsoft.com/office/drawing/2010/main">
            <m:oMath xmlns:m="http://schemas.openxmlformats.org/officeDocument/2006/math">
              <m:r>
                <a:rPr lang="en-US" sz="1700" u="none" strike="noStrike" kern="1200" cap="none" spc="0">
                  <a:solidFill>
                    <a:schemeClr val="tx1"/>
                  </a:solidFill>
                  <a:latin typeface="Cambria Math"/>
                  <a:ea typeface="Cambria Math"/>
                  <a:cs typeface="Cambria Math"/>
                </a:rPr>
                <m:t>𝜂</m:t>
              </m:r>
              <m:r>
                <a:rPr lang="en-US" sz="1700" u="none" strike="noStrike" kern="1200" cap="none" spc="0">
                  <a:solidFill>
                    <a:schemeClr val="tx1"/>
                  </a:solidFill>
                  <a:latin typeface="Cambria Math"/>
                  <a:ea typeface="Cambria Math"/>
                  <a:cs typeface="Cambria Math"/>
                </a:rPr>
                <m:t>%</m:t>
              </m:r>
            </m:oMath>
          </a14:m>
          <a:r>
            <a:rPr lang="de-DE" sz="1700" kern="1200" dirty="0"/>
            <a:t> </a:t>
          </a:r>
          <a:r>
            <a:rPr lang="de-DE" sz="1700" kern="1200" dirty="0" err="1"/>
            <a:t>of</a:t>
          </a:r>
          <a:r>
            <a:rPr lang="de-DE" sz="1700" kern="1200" dirty="0"/>
            <a:t> </a:t>
          </a:r>
          <a:r>
            <a:rPr lang="de-DE" sz="1700" kern="1200" dirty="0" err="1"/>
            <a:t>the</a:t>
          </a:r>
          <a:r>
            <a:rPr lang="de-DE" sz="1700" kern="1200" dirty="0"/>
            <a:t> </a:t>
          </a:r>
          <a:r>
            <a:rPr lang="en-US" sz="1700" kern="1200" dirty="0"/>
            <a:t>clients are </a:t>
          </a:r>
          <a:r>
            <a:rPr lang="en-US" sz="1700" b="1" kern="1200" dirty="0"/>
            <a:t>malicious</a:t>
          </a:r>
          <a:endParaRPr lang="en-US" sz="1700" kern="1200" dirty="0"/>
        </a:p>
      </dsp:txBody>
      <dsp:txXfrm>
        <a:off x="4569078" y="2868297"/>
        <a:ext cx="3885468" cy="48411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D69EDD2-C4B0-4E37-BCF4-39F238ABAC2D}">
      <dsp:nvSpPr>
        <dsp:cNvPr id="0" name=""/>
        <dsp:cNvSpPr/>
      </dsp:nvSpPr>
      <dsp:spPr bwMode="auto">
        <a:xfrm>
          <a:off x="0" y="144335"/>
          <a:ext cx="8449408" cy="1117606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rgbClr val="000000"/>
        </a:lnRef>
        <a:fillRef idx="1">
          <a:srgbClr val="000000"/>
        </a:fillRef>
        <a:effectRef idx="0">
          <a:srgbClr val="000000"/>
        </a:effectRef>
        <a:fontRef idx="minor"/>
      </dsp:style>
    </dsp:sp>
    <dsp:sp modelId="{0AF935DF-20B7-4A12-947D-742DBA2A8D42}">
      <dsp:nvSpPr>
        <dsp:cNvPr id="0" name=""/>
        <dsp:cNvSpPr/>
      </dsp:nvSpPr>
      <dsp:spPr bwMode="auto">
        <a:xfrm>
          <a:off x="351721" y="354296"/>
          <a:ext cx="614683" cy="614683"/>
        </a:xfrm>
        <a:prstGeom prst="rect">
          <a:avLst/>
        </a:prstGeom>
        <a:blipFill rotWithShape="1">
          <a:blip xmlns:r="http://schemas.openxmlformats.org/officeDocument/2006/relationships" r:embed="rId1"/>
          <a:stretch/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rgbClr val="000000"/>
        </a:lnRef>
        <a:fillRef idx="1">
          <a:srgbClr val="000000"/>
        </a:fillRef>
        <a:effectRef idx="0">
          <a:srgbClr val="000000"/>
        </a:effectRef>
        <a:fontRef idx="minor">
          <a:schemeClr val="lt1"/>
        </a:fontRef>
      </dsp:style>
    </dsp:sp>
    <dsp:sp modelId="{8C9B2490-3923-4DBD-908D-ED0202CBA46D}">
      <dsp:nvSpPr>
        <dsp:cNvPr id="0" name=""/>
        <dsp:cNvSpPr/>
      </dsp:nvSpPr>
      <dsp:spPr bwMode="auto">
        <a:xfrm>
          <a:off x="1290835" y="143777"/>
          <a:ext cx="7158572" cy="1117606"/>
        </a:xfrm>
        <a:prstGeom prst="rect">
          <a:avLst/>
        </a:prstGeom>
        <a:noFill/>
        <a:ln>
          <a:noFill/>
        </a:ln>
        <a:effectLst/>
      </dsp:spPr>
      <dsp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minor"/>
      </dsp:style>
      <dsp:txBody>
        <a:bodyPr spcFirstLastPara="0" vert="horz" wrap="square" lIns="118280" tIns="118280" rIns="118280" bIns="118280" numCol="1" spcCol="1270" anchor="ctr" anchorCtr="0">
          <a:noAutofit/>
        </a:bodyPr>
        <a:lstStyle/>
        <a:p>
          <a:pPr marL="0" lvl="0" indent="0" algn="l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/>
          </a:pPr>
          <a:r>
            <a:rPr lang="en-US" sz="1500" b="1" kern="1200"/>
            <a:t>Isolation</a:t>
          </a:r>
          <a:r>
            <a:rPr lang="en-US" sz="1500" kern="1200"/>
            <a:t>: What is the </a:t>
          </a:r>
          <a:r>
            <a:rPr lang="en-US" sz="1500" b="1" kern="1200"/>
            <a:t>individual cost of each defense mechanism </a:t>
          </a:r>
          <a:r>
            <a:rPr lang="en-US" sz="1500" kern="1200"/>
            <a:t>(DP, Byzantine-robust aggregation, gradient compression) in terms of accuracy, communication overhead, and attack success rate, and do our results reproduce the published baselines?</a:t>
          </a:r>
          <a:endParaRPr sz="1500" kern="1200"/>
        </a:p>
      </dsp:txBody>
      <dsp:txXfrm>
        <a:off x="1290835" y="143777"/>
        <a:ext cx="7158572" cy="1117606"/>
      </dsp:txXfrm>
    </dsp:sp>
    <dsp:sp modelId="{959D76F9-841F-4422-8222-34FCCBEF7176}">
      <dsp:nvSpPr>
        <dsp:cNvPr id="0" name=""/>
        <dsp:cNvSpPr/>
      </dsp:nvSpPr>
      <dsp:spPr bwMode="auto">
        <a:xfrm>
          <a:off x="0" y="1397485"/>
          <a:ext cx="8449408" cy="1117606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rgbClr val="000000"/>
        </a:lnRef>
        <a:fillRef idx="1">
          <a:srgbClr val="000000"/>
        </a:fillRef>
        <a:effectRef idx="0">
          <a:srgbClr val="000000"/>
        </a:effectRef>
        <a:fontRef idx="minor"/>
      </dsp:style>
    </dsp:sp>
    <dsp:sp modelId="{8203F35F-4A05-4422-A223-67D2DE489494}">
      <dsp:nvSpPr>
        <dsp:cNvPr id="0" name=""/>
        <dsp:cNvSpPr/>
      </dsp:nvSpPr>
      <dsp:spPr bwMode="auto">
        <a:xfrm>
          <a:off x="338075" y="1648946"/>
          <a:ext cx="614683" cy="614683"/>
        </a:xfrm>
        <a:prstGeom prst="rect">
          <a:avLst/>
        </a:prstGeom>
        <a:blipFill rotWithShape="1">
          <a:blip xmlns:r="http://schemas.openxmlformats.org/officeDocument/2006/relationships" r:embed="rId2"/>
          <a:stretch/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rgbClr val="000000"/>
        </a:lnRef>
        <a:fillRef idx="1">
          <a:srgbClr val="000000"/>
        </a:fillRef>
        <a:effectRef idx="0">
          <a:srgbClr val="000000"/>
        </a:effectRef>
        <a:fontRef idx="minor">
          <a:schemeClr val="lt1"/>
        </a:fontRef>
      </dsp:style>
    </dsp:sp>
    <dsp:sp modelId="{00B24CA7-2984-42D9-BABE-8E2E07396E47}">
      <dsp:nvSpPr>
        <dsp:cNvPr id="0" name=""/>
        <dsp:cNvSpPr/>
      </dsp:nvSpPr>
      <dsp:spPr bwMode="auto">
        <a:xfrm>
          <a:off x="1290835" y="1397485"/>
          <a:ext cx="7158572" cy="1117606"/>
        </a:xfrm>
        <a:prstGeom prst="rect">
          <a:avLst/>
        </a:prstGeom>
        <a:noFill/>
        <a:ln>
          <a:noFill/>
        </a:ln>
        <a:effectLst/>
      </dsp:spPr>
      <dsp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minor"/>
      </dsp:style>
      <dsp:txBody>
        <a:bodyPr spcFirstLastPara="0" vert="horz" wrap="square" lIns="118280" tIns="118280" rIns="118280" bIns="118280" numCol="1" spcCol="1270" anchor="ctr" anchorCtr="0">
          <a:noAutofit/>
        </a:bodyPr>
        <a:lstStyle/>
        <a:p>
          <a:pPr marL="0" lvl="0" indent="0" algn="l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/>
          </a:pPr>
          <a:r>
            <a:rPr lang="en-US" sz="1500" b="1" kern="1200"/>
            <a:t>Combination</a:t>
          </a:r>
          <a:r>
            <a:rPr lang="en-US" sz="1500" kern="1200"/>
            <a:t>: How do pairwise and full combinations of the three mechanisms interact? Do the costs compound additively, sub-additively, or super-additively?</a:t>
          </a:r>
          <a:endParaRPr sz="1500" kern="1200"/>
        </a:p>
      </dsp:txBody>
      <dsp:txXfrm>
        <a:off x="1290835" y="1397485"/>
        <a:ext cx="7158572" cy="1117606"/>
      </dsp:txXfrm>
    </dsp:sp>
    <dsp:sp modelId="{3505ADCB-AC2A-4447-A53C-EAB87C6D6CFD}">
      <dsp:nvSpPr>
        <dsp:cNvPr id="0" name=""/>
        <dsp:cNvSpPr/>
      </dsp:nvSpPr>
      <dsp:spPr bwMode="auto">
        <a:xfrm>
          <a:off x="0" y="2685303"/>
          <a:ext cx="8449408" cy="1117606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rgbClr val="000000"/>
        </a:lnRef>
        <a:fillRef idx="1">
          <a:srgbClr val="000000"/>
        </a:fillRef>
        <a:effectRef idx="0">
          <a:srgbClr val="000000"/>
        </a:effectRef>
        <a:fontRef idx="minor"/>
      </dsp:style>
    </dsp:sp>
    <dsp:sp modelId="{394177A3-1B18-408A-8D13-8EFFE08A6C0D}">
      <dsp:nvSpPr>
        <dsp:cNvPr id="0" name=""/>
        <dsp:cNvSpPr/>
      </dsp:nvSpPr>
      <dsp:spPr bwMode="auto">
        <a:xfrm>
          <a:off x="331252" y="2916305"/>
          <a:ext cx="614683" cy="614683"/>
        </a:xfrm>
        <a:prstGeom prst="rect">
          <a:avLst/>
        </a:prstGeom>
        <a:blipFill rotWithShape="1">
          <a:blip xmlns:r="http://schemas.openxmlformats.org/officeDocument/2006/relationships" r:embed="rId3"/>
          <a:stretch/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rgbClr val="000000"/>
        </a:lnRef>
        <a:fillRef idx="1">
          <a:srgbClr val="000000"/>
        </a:fillRef>
        <a:effectRef idx="0">
          <a:srgbClr val="000000"/>
        </a:effectRef>
        <a:fontRef idx="minor">
          <a:schemeClr val="lt1"/>
        </a:fontRef>
      </dsp:style>
    </dsp:sp>
    <dsp:sp modelId="{8A5F447B-0A15-4921-A425-AE894EC82B7F}">
      <dsp:nvSpPr>
        <dsp:cNvPr id="0" name=""/>
        <dsp:cNvSpPr/>
      </dsp:nvSpPr>
      <dsp:spPr bwMode="auto">
        <a:xfrm>
          <a:off x="1290835" y="2678485"/>
          <a:ext cx="7158572" cy="1117606"/>
        </a:xfrm>
        <a:prstGeom prst="rect">
          <a:avLst/>
        </a:prstGeom>
        <a:noFill/>
        <a:ln>
          <a:noFill/>
        </a:ln>
        <a:effectLst/>
      </dsp:spPr>
      <dsp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minor"/>
      </dsp:style>
      <dsp:txBody>
        <a:bodyPr spcFirstLastPara="0" vert="horz" wrap="square" lIns="118280" tIns="118280" rIns="118280" bIns="11828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/>
          </a:pPr>
          <a:r>
            <a:rPr lang="en-US" sz="1500" b="1" i="0" u="none" strike="noStrike" kern="1200" cap="none" spc="0">
              <a:solidFill>
                <a:schemeClr val="tx1"/>
              </a:solidFill>
              <a:latin typeface="Calibri"/>
              <a:ea typeface="Calibri"/>
              <a:cs typeface="Calibri"/>
            </a:rPr>
            <a:t> Trust and Privacy: </a:t>
          </a:r>
          <a:r>
            <a:rPr lang="en-US" sz="1500" b="0" i="0" u="none" strike="noStrike" kern="1200" cap="none" spc="0">
              <a:solidFill>
                <a:schemeClr val="tx1"/>
              </a:solidFill>
              <a:latin typeface="Calibri"/>
              <a:ea typeface="Calibri"/>
              <a:cs typeface="Calibri"/>
            </a:rPr>
            <a:t>How do the trust scores assigned by FLTrust evolve throughout training, and</a:t>
          </a:r>
          <a:r>
            <a:rPr lang="de-DE" sz="1500" b="0" kern="1200"/>
            <a:t> </a:t>
          </a:r>
          <a:r>
            <a:rPr lang="en-US" sz="1500" b="0" i="0" u="none" strike="noStrike" kern="1200" cap="none" spc="0">
              <a:solidFill>
                <a:schemeClr val="tx1"/>
              </a:solidFill>
              <a:latin typeface="Calibri"/>
              <a:ea typeface="Calibri"/>
              <a:cs typeface="Calibri"/>
            </a:rPr>
            <a:t>what do they reveal about the interaction between</a:t>
          </a:r>
          <a:r>
            <a:rPr lang="de-DE" sz="1500" b="0" kern="1200"/>
            <a:t> </a:t>
          </a:r>
          <a:r>
            <a:rPr lang="en-US" sz="1500" b="0" i="0" u="none" strike="noStrike" kern="1200" cap="none" spc="0">
              <a:solidFill>
                <a:schemeClr val="tx1"/>
              </a:solidFill>
              <a:latin typeface="Calibri"/>
              <a:ea typeface="Calibri"/>
              <a:cs typeface="Calibri"/>
            </a:rPr>
            <a:t>privacy, robustness, and model performance?</a:t>
          </a:r>
          <a:endParaRPr lang="en-US" sz="1500" b="1" i="0" u="none" strike="noStrike" kern="1200" cap="none" spc="0">
            <a:solidFill>
              <a:schemeClr val="tx1"/>
            </a:solidFill>
            <a:latin typeface="Calibri"/>
            <a:cs typeface="Calibri"/>
          </a:endParaRPr>
        </a:p>
      </dsp:txBody>
      <dsp:txXfrm>
        <a:off x="1290835" y="2678485"/>
        <a:ext cx="7158572" cy="1117606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8A38943-E232-4656-B8F7-CD99466CBC0F}">
      <dsp:nvSpPr>
        <dsp:cNvPr id="0" name=""/>
        <dsp:cNvSpPr/>
      </dsp:nvSpPr>
      <dsp:spPr>
        <a:xfrm>
          <a:off x="242348" y="415383"/>
          <a:ext cx="755947" cy="755947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1A94D55-D337-48BE-B6D8-29457DCD3498}">
      <dsp:nvSpPr>
        <dsp:cNvPr id="0" name=""/>
        <dsp:cNvSpPr/>
      </dsp:nvSpPr>
      <dsp:spPr>
        <a:xfrm>
          <a:off x="403451" y="576486"/>
          <a:ext cx="433740" cy="43374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512CF2A-FA00-4B85-9828-A310BA96198D}">
      <dsp:nvSpPr>
        <dsp:cNvPr id="0" name=""/>
        <dsp:cNvSpPr/>
      </dsp:nvSpPr>
      <dsp:spPr>
        <a:xfrm>
          <a:off x="693" y="1406789"/>
          <a:ext cx="1239257" cy="49570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de-DE" sz="1300" kern="1200"/>
            <a:t>Simple models and datasets</a:t>
          </a:r>
          <a:endParaRPr lang="en-US" sz="1300" kern="1200"/>
        </a:p>
      </dsp:txBody>
      <dsp:txXfrm>
        <a:off x="693" y="1406789"/>
        <a:ext cx="1239257" cy="495703"/>
      </dsp:txXfrm>
    </dsp:sp>
    <dsp:sp modelId="{63B36CF8-1E2A-4F21-8CE3-0CA776359E6C}">
      <dsp:nvSpPr>
        <dsp:cNvPr id="0" name=""/>
        <dsp:cNvSpPr/>
      </dsp:nvSpPr>
      <dsp:spPr>
        <a:xfrm>
          <a:off x="1698476" y="415383"/>
          <a:ext cx="755947" cy="755947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3539422-15A1-4BFF-A7B2-3369338A7535}">
      <dsp:nvSpPr>
        <dsp:cNvPr id="0" name=""/>
        <dsp:cNvSpPr/>
      </dsp:nvSpPr>
      <dsp:spPr>
        <a:xfrm>
          <a:off x="1859579" y="576486"/>
          <a:ext cx="433740" cy="43374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E6C3394-EDCC-470E-8699-E99861377AD0}">
      <dsp:nvSpPr>
        <dsp:cNvPr id="0" name=""/>
        <dsp:cNvSpPr/>
      </dsp:nvSpPr>
      <dsp:spPr>
        <a:xfrm>
          <a:off x="1456821" y="1406789"/>
          <a:ext cx="1239257" cy="49570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de-DE" sz="1300" kern="1200"/>
            <a:t>Limited method coverage</a:t>
          </a:r>
          <a:endParaRPr lang="en-US" sz="1300" kern="1200"/>
        </a:p>
      </dsp:txBody>
      <dsp:txXfrm>
        <a:off x="1456821" y="1406789"/>
        <a:ext cx="1239257" cy="495703"/>
      </dsp:txXfrm>
    </dsp:sp>
    <dsp:sp modelId="{6893A630-B1D2-46DA-ADAD-7B138FDDEAC1}">
      <dsp:nvSpPr>
        <dsp:cNvPr id="0" name=""/>
        <dsp:cNvSpPr/>
      </dsp:nvSpPr>
      <dsp:spPr>
        <a:xfrm>
          <a:off x="3154604" y="415383"/>
          <a:ext cx="755947" cy="755947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7D97F2E-661B-4909-8A5F-A9E6F208D53A}">
      <dsp:nvSpPr>
        <dsp:cNvPr id="0" name=""/>
        <dsp:cNvSpPr/>
      </dsp:nvSpPr>
      <dsp:spPr>
        <a:xfrm>
          <a:off x="3315707" y="576486"/>
          <a:ext cx="433740" cy="43374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8AB91B7-1D64-43FE-909B-FDA270E96731}">
      <dsp:nvSpPr>
        <dsp:cNvPr id="0" name=""/>
        <dsp:cNvSpPr/>
      </dsp:nvSpPr>
      <dsp:spPr>
        <a:xfrm>
          <a:off x="2912949" y="1406789"/>
          <a:ext cx="1239257" cy="49570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de-DE" sz="1300" kern="1200"/>
            <a:t>FLTrust root dataset size</a:t>
          </a:r>
          <a:endParaRPr lang="en-US" sz="1300" kern="1200"/>
        </a:p>
      </dsp:txBody>
      <dsp:txXfrm>
        <a:off x="2912949" y="1406789"/>
        <a:ext cx="1239257" cy="495703"/>
      </dsp:txXfrm>
    </dsp:sp>
    <dsp:sp modelId="{34C37F94-3F32-423B-A72D-E0F3C1903B0F}">
      <dsp:nvSpPr>
        <dsp:cNvPr id="0" name=""/>
        <dsp:cNvSpPr/>
      </dsp:nvSpPr>
      <dsp:spPr>
        <a:xfrm>
          <a:off x="970412" y="2212307"/>
          <a:ext cx="755947" cy="755947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76D3EB0-70AB-488C-B4CF-0607F1624A27}">
      <dsp:nvSpPr>
        <dsp:cNvPr id="0" name=""/>
        <dsp:cNvSpPr/>
      </dsp:nvSpPr>
      <dsp:spPr>
        <a:xfrm>
          <a:off x="1131515" y="2373410"/>
          <a:ext cx="433740" cy="43374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04CA09C-DF39-40C8-8111-40AB9BA62132}">
      <dsp:nvSpPr>
        <dsp:cNvPr id="0" name=""/>
        <dsp:cNvSpPr/>
      </dsp:nvSpPr>
      <dsp:spPr>
        <a:xfrm>
          <a:off x="728757" y="3203713"/>
          <a:ext cx="1239257" cy="49570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de-DE" sz="1300" kern="1200"/>
            <a:t>Stateless clients</a:t>
          </a:r>
          <a:endParaRPr lang="en-US" sz="1300" kern="1200"/>
        </a:p>
      </dsp:txBody>
      <dsp:txXfrm>
        <a:off x="728757" y="3203713"/>
        <a:ext cx="1239257" cy="495703"/>
      </dsp:txXfrm>
    </dsp:sp>
    <dsp:sp modelId="{2E5FB125-2341-4400-9E12-E860892554F8}">
      <dsp:nvSpPr>
        <dsp:cNvPr id="0" name=""/>
        <dsp:cNvSpPr/>
      </dsp:nvSpPr>
      <dsp:spPr>
        <a:xfrm>
          <a:off x="2426540" y="2212307"/>
          <a:ext cx="755947" cy="755947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C6C5902-5A05-468B-B905-E3E31CDF7A86}">
      <dsp:nvSpPr>
        <dsp:cNvPr id="0" name=""/>
        <dsp:cNvSpPr/>
      </dsp:nvSpPr>
      <dsp:spPr>
        <a:xfrm>
          <a:off x="2587643" y="2373410"/>
          <a:ext cx="433740" cy="43374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9B26BA5-F1A0-4CA8-A8F6-45FD472D2C53}">
      <dsp:nvSpPr>
        <dsp:cNvPr id="0" name=""/>
        <dsp:cNvSpPr/>
      </dsp:nvSpPr>
      <dsp:spPr>
        <a:xfrm>
          <a:off x="2184885" y="3203713"/>
          <a:ext cx="1239257" cy="49570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5778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de-DE" sz="1300" kern="1200"/>
            <a:t>Privacy budget schedule</a:t>
          </a:r>
          <a:endParaRPr lang="en-US" sz="1300" kern="1200"/>
        </a:p>
      </dsp:txBody>
      <dsp:txXfrm>
        <a:off x="2184885" y="3203713"/>
        <a:ext cx="1239257" cy="49570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6/7/layout/VerticalSolidActionList">
  <dgm:title val="Vertical Solid Action List"/>
  <dgm:desc val="Use to show non-sequential or grouped lists of information. Works well with large amounts of text. All text has the same level of emphasis, and direction is not implied."/>
  <dgm:catLst>
    <dgm:cat type="list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  <dgm:pt modelId="5">
          <dgm:prSet phldr="1"/>
        </dgm:pt>
        <dgm:pt modelId="5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7" srcId="0" destId="4" srcOrd="3" destOrd="0"/>
        <dgm:cxn modelId="8" srcId="0" destId="5" srcOrd="4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  <dgm:cxn modelId="53" srcId="5" destId="5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6"/>
      <dgm:constr type="primFontSz" for="des" forName="parentText" op="equ" val="28"/>
      <dgm:constr type="primFontSz" for="des" forName="descendantText" refType="primFontSz" refFor="des" refForName="parentText" op="lte" fact="0.82"/>
      <dgm:constr type="primFontSz" for="des" forName="parentText" refType="primFontSz" refFor="des" refForName="descendantText" op="lte" fact="1.25"/>
    </dgm:constrLst>
    <dgm:ruleLst/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forEach name="Name4" axis="ch" ptType="node">
      <dgm:layoutNode name="linNode"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2"/>
          <dgm:constr type="w" for="ch" forName="descendantText" refType="w" fact="0.8"/>
          <dgm:constr type="h" for="ch" forName="parentText" refType="h"/>
          <dgm:constr type="h" for="ch" forName="descendantText" refType="h" refFor="ch" refForName="parentText"/>
        </dgm:constrLst>
        <dgm:ruleLst/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layoutNode name="parentText" styleLbl="alignNode1">
          <dgm:alg type="tx"/>
          <dgm:shape xmlns:r="http://schemas.openxmlformats.org/officeDocument/2006/relationships" type="rect" r:blip="" zOrderOff="3">
            <dgm:adjLst/>
          </dgm:shape>
          <dgm:presOf axis="self" ptType="node"/>
          <dgm:constrLst>
            <dgm:constr type="tMarg" refType="h" fact="0.28"/>
            <dgm:constr type="bMarg" refType="h" fact="0.28"/>
            <dgm:constr type="lMarg" refType="w" fact="0.15"/>
            <dgm:constr type="rMarg" refType="w" fact="0.15"/>
          </dgm:constrLst>
          <dgm:ruleLst>
            <dgm:rule type="primFontSz" val="15" fact="NaN" max="NaN"/>
          </dgm:ruleLst>
          <dgm:varLst>
            <dgm:chMax val="1"/>
            <dgm:bulletEnabled/>
          </dgm:varLst>
        </dgm:layoutNode>
        <dgm:layoutNode name="descendantText" styleLbl="alignAccFollowNode1">
          <dgm:alg type="tx">
            <dgm:param type="stBulletLvl" val="0"/>
            <dgm:param type="parTxLTRAlign" val="l"/>
            <dgm:param type="shpTxLTRAlignCh" val="l"/>
            <dgm:param type="parTxRTLAlign" val="r"/>
            <dgm:param type="shpTxRTLAlignCh" val="r"/>
          </dgm:alg>
          <dgm:presOf axis="des" ptType="node"/>
          <dgm:constrLst>
            <dgm:constr type="primFontSz" val="24"/>
            <dgm:constr type="lMarg" refType="w" fact="0.055"/>
            <dgm:constr type="rMarg" refType="w" fact="0.055"/>
            <dgm:constr type="tMarg" refType="h" fact="0.72"/>
            <dgm:constr type="bMarg" refType="h" fact="0.72"/>
          </dgm:constrLst>
          <dgm:ruleLst>
            <dgm:rule type="primFontSz" val="11" fact="NaN" max="NaN"/>
          </dgm:ruleLst>
          <dgm:varLst>
            <dgm:bulletEnabled/>
          </dgm:varLst>
          <dgm:choose name="Name10">
            <dgm:if name="Name11" func="var" arg="dir" op="equ" val="norm">
              <dgm:shape xmlns:r="http://schemas.openxmlformats.org/officeDocument/2006/relationships" type="rect" r:blip="">
                <dgm:adjLst/>
              </dgm:shape>
            </dgm:if>
            <dgm:else name="Name12">
              <dgm:shape xmlns:r="http://schemas.openxmlformats.org/officeDocument/2006/relationships" type="rect" r:blip="">
                <dgm:adjLst/>
              </dgm:shape>
            </dgm:else>
          </dgm:choose>
        </dgm:layoutNod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LabelDescriptionList">
  <dgm:title val="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l" for="ch" forName="iconRect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alg type="tx"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  <dgm:varLst>
            <dgm:chMax val="0"/>
            <dgm:chPref val="0"/>
          </dgm:var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  <dgm:varLst/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shape xmlns:r="http://schemas.openxmlformats.org/officeDocument/2006/relationships" r:blip="">
      <dgm:adjLst/>
    </dgm:shape>
    <dgm:presOf/>
    <dgm:ruleLst>
      <dgm:rule type="h" for="ch" forName="compNode" val="0" fact="NaN" max="NaN"/>
    </dgm:ruleLst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ruleLst>
          <dgm:rule type="h" val="INF" fact="NaN" max="NaN"/>
        </dgm:ruleLst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  <dgm:varLst>
            <dgm:chMax val="0"/>
            <dgm:chPref val="0"/>
          </dgm:varLst>
        </dgm:layoutNode>
        <dgm:choose name="Name12">
          <dgm:if name="Name13" axis="ch" ptType="node" func="cnt" op="gte" val="1">
            <dgm:layoutNode name="desTx" styleLbl="revTx"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  <dgm:varLst/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4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alignNod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ImgPlac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sibTrans1D1">
    <dgm:scene3d>
      <a:camera prst="orthographicFront"/>
      <a:lightRig rig="threePt" dir="t"/>
    </dgm:scene3d>
    <dgm:sp3d/>
    <dgm:txPr/>
    <dgm:style>
      <a:lnRef idx="1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vennNod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tx1"/>
      </a:fontRef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5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alignNod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ImgPlac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sibTrans1D1">
    <dgm:scene3d>
      <a:camera prst="orthographicFront"/>
      <a:lightRig rig="threePt" dir="t"/>
    </dgm:scene3d>
    <dgm:sp3d/>
    <dgm:txPr/>
    <dgm:style>
      <a:lnRef idx="1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vennNod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tx1"/>
      </a:fontRef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#6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alignNod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ImgPlac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sibTrans1D1">
    <dgm:scene3d>
      <a:camera prst="orthographicFront"/>
      <a:lightRig rig="threePt" dir="t"/>
    </dgm:scene3d>
    <dgm:sp3d/>
    <dgm:txPr/>
    <dgm:style>
      <a:lnRef idx="1">
        <a:srgbClr val="000000"/>
      </a:lnRef>
      <a:fillRef idx="0">
        <a:srgbClr val="000000"/>
      </a:fillRef>
      <a:effectRef idx="0">
        <a:srgbClr val="00000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rgbClr val="000000"/>
      </a:lnRef>
      <a:fillRef idx="1">
        <a:srgbClr val="000000"/>
      </a:fillRef>
      <a:effectRef idx="0">
        <a:srgbClr val="000000"/>
      </a:effectRef>
      <a:fontRef idx="minor"/>
    </dgm:style>
  </dgm:styleLbl>
  <dgm:styleLbl name="vennNode1">
    <dgm:scene3d>
      <a:camera prst="orthographicFront"/>
      <a:lightRig rig="threePt" dir="t"/>
    </dgm:scene3d>
    <dgm:sp3d/>
    <dgm:txPr/>
    <dgm:style>
      <a:lnRef idx="2">
        <a:srgbClr val="000000"/>
      </a:lnRef>
      <a:fillRef idx="1">
        <a:srgbClr val="000000"/>
      </a:fillRef>
      <a:effectRef idx="0">
        <a:srgbClr val="000000"/>
      </a:effectRef>
      <a:fontRef idx="minor">
        <a:schemeClr val="tx1"/>
      </a:fontRef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5165248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108121660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0F9C1CCF-B725-44A7-AA57-5E433BD85C9F}" type="datetimeFigureOut">
              <a:rPr lang="en-US"/>
              <a:t>7/16/2026</a:t>
            </a:fld>
            <a:endParaRPr lang="en-US"/>
          </a:p>
        </p:txBody>
      </p:sp>
      <p:sp>
        <p:nvSpPr>
          <p:cNvPr id="1647014255" name="Slide Image Placeholder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499071050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1825927801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11412268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18BDFEC3-8487-43E8-A154-7C12CBC1FFF2}" type="slidenum">
              <a:rPr lang="en-US"/>
              <a:t>‹Nr.›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142628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16193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82603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8BDFEC3-8487-43E8-A154-7C12CBC1FFF2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837DA5E-7FE0-76CB-9DDC-929AA8E96229}" type="slidenum">
              <a:rPr/>
              <a:t>11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C6EF2DC-5B1E-B598-F313-EE4A605FCFCF}" type="slidenum">
              <a:rPr/>
              <a:t>12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E509A39-0E9C-6A98-984A-32CF48870F89}" type="slidenum">
              <a:rPr/>
              <a:t>13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D00A79C-C052-5280-784E-BAB8A966D3D0}" type="slidenum">
              <a:rPr/>
              <a:t>14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2066831-D0F1-96BA-C462-C21AC5B16B8C}" type="slidenum">
              <a:rPr/>
              <a:t>15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D4CBAD-8AE0-9616-EC63-65EEF693D881}" type="slidenum">
              <a:rPr/>
              <a:t>16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E38285-EF45-4ABB-CB72-BCC242F4908A}" type="slidenum">
              <a:rPr/>
              <a:t>17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18BDFEC3-8487-43E8-A154-7C12CBC1FFF2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3119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01D52D-16BD-7A38-989F-936E9E863D8F}" type="slidenum">
              <a:rPr/>
              <a:t>24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E630BDA-DCDB-F524-F62E-21627F17FCCB}" type="slidenum">
              <a:rPr/>
              <a:t>25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B18387-7240-0139-273F-FC1BE71B475F}" type="slidenum">
              <a:rPr/>
              <a:t>26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1DBCCE-BCA2-24AE-B051-129D77BA04BA}" type="slidenum">
              <a:rPr/>
              <a:t>27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8427804" name="Rectangle 15"/>
          <p:cNvSpPr>
            <a:spLocks noChangeArrowheads="1"/>
          </p:cNvSpPr>
          <p:nvPr userDrawn="1"/>
        </p:nvSpPr>
        <p:spPr bwMode="auto">
          <a:xfrm>
            <a:off x="0" y="1059582"/>
            <a:ext cx="9144000" cy="408391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none" lIns="0" tIns="0" rIns="0" bIns="0" anchor="ctr"/>
          <a:lstStyle/>
          <a:p>
            <a:pPr algn="ctr">
              <a:defRPr/>
            </a:pPr>
            <a:endParaRPr lang="de-DE" sz="1350">
              <a:latin typeface="Calibri"/>
            </a:endParaRPr>
          </a:p>
        </p:txBody>
      </p:sp>
      <p:pic>
        <p:nvPicPr>
          <p:cNvPr id="1623189966" name="Bild 11"/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3071" r="6507" b="15332"/>
          <a:stretch/>
        </p:blipFill>
        <p:spPr bwMode="auto">
          <a:xfrm>
            <a:off x="0" y="-1"/>
            <a:ext cx="2555776" cy="1059581"/>
          </a:xfrm>
          <a:prstGeom prst="rect">
            <a:avLst/>
          </a:prstGeom>
        </p:spPr>
      </p:pic>
      <p:sp>
        <p:nvSpPr>
          <p:cNvPr id="1227279196" name="Textplatzhalter 2"/>
          <p:cNvSpPr>
            <a:spLocks noGrp="1"/>
          </p:cNvSpPr>
          <p:nvPr>
            <p:ph type="body" sz="quarter" idx="13"/>
          </p:nvPr>
        </p:nvSpPr>
        <p:spPr bwMode="auto">
          <a:xfrm>
            <a:off x="2555776" y="87474"/>
            <a:ext cx="6480720" cy="918102"/>
          </a:xfrm>
          <a:prstGeom prst="rect">
            <a:avLst/>
          </a:prstGeom>
        </p:spPr>
        <p:txBody>
          <a:bodyPr anchor="ctr"/>
          <a:lstStyle>
            <a:lvl1pPr marL="0" indent="0" algn="r">
              <a:buNone/>
              <a:defRPr sz="1200">
                <a:solidFill>
                  <a:schemeClr val="tx1"/>
                </a:solidFill>
              </a:defRPr>
            </a:lvl1pPr>
          </a:lstStyle>
          <a:p>
            <a:pPr lvl="0">
              <a:defRPr/>
            </a:pPr>
            <a:r>
              <a:rPr lang="de-DE"/>
              <a:t>Mastertextformat bearbeiten</a:t>
            </a:r>
            <a:endParaRPr/>
          </a:p>
        </p:txBody>
      </p:sp>
      <p:sp>
        <p:nvSpPr>
          <p:cNvPr id="985426558" name="Rectangle 2"/>
          <p:cNvSpPr>
            <a:spLocks noGrp="1" noChangeArrowheads="1"/>
          </p:cNvSpPr>
          <p:nvPr>
            <p:ph type="ctrTitle"/>
          </p:nvPr>
        </p:nvSpPr>
        <p:spPr bwMode="auto">
          <a:xfrm>
            <a:off x="2362199" y="2304306"/>
            <a:ext cx="6781800" cy="800100"/>
          </a:xfrm>
          <a:prstGeom prst="rect">
            <a:avLst/>
          </a:prstGeom>
          <a:ln>
            <a:noFill/>
          </a:ln>
        </p:spPr>
        <p:txBody>
          <a:bodyPr anchor="b"/>
          <a:lstStyle>
            <a:lvl1pPr algn="l">
              <a:defRPr sz="21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de-DE"/>
              <a:t>Mastertitelformat bearbeiten</a:t>
            </a:r>
            <a:endParaRPr/>
          </a:p>
        </p:txBody>
      </p:sp>
      <p:sp>
        <p:nvSpPr>
          <p:cNvPr id="897445742" name="Rectangle 3"/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2362199" y="3395206"/>
            <a:ext cx="6781800" cy="1137949"/>
          </a:xfrm>
          <a:prstGeom prst="rect">
            <a:avLst/>
          </a:prstGeom>
        </p:spPr>
        <p:txBody>
          <a:bodyPr anchor="b"/>
          <a:lstStyle>
            <a:lvl1pPr marL="0" indent="0" algn="l">
              <a:buFontTx/>
              <a:buNone/>
              <a:defRPr sz="1500">
                <a:solidFill>
                  <a:srgbClr val="000000"/>
                </a:solidFill>
              </a:defRPr>
            </a:lvl1pPr>
          </a:lstStyle>
          <a:p>
            <a:pPr>
              <a:defRPr/>
            </a:pPr>
            <a:r>
              <a:rPr lang="de-DE"/>
              <a:t>Master-Untertitelformat bearbeiten</a:t>
            </a:r>
            <a:endParaRPr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7492876" name="Inhaltsplatzhalter 11"/>
          <p:cNvSpPr>
            <a:spLocks noGrp="1"/>
          </p:cNvSpPr>
          <p:nvPr>
            <p:ph sz="quarter" idx="13"/>
          </p:nvPr>
        </p:nvSpPr>
        <p:spPr bwMode="auto">
          <a:xfrm>
            <a:off x="457200" y="914400"/>
            <a:ext cx="8458200" cy="4114800"/>
          </a:xfrm>
        </p:spPr>
        <p:txBody>
          <a:bodyPr/>
          <a:lstStyle/>
          <a:p>
            <a:pPr lvl="0">
              <a:defRPr/>
            </a:pPr>
            <a:r>
              <a:rPr lang="de-DE"/>
              <a:t>Mastertextformat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/>
          </a:p>
        </p:txBody>
      </p:sp>
      <p:sp>
        <p:nvSpPr>
          <p:cNvPr id="18131386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1A560FF0-08EB-B743-9A2A-F5F52125B889}" type="datetime1">
              <a:rPr lang="de-DE"/>
              <a:t>16.07.2026</a:t>
            </a:fld>
            <a:endParaRPr lang="en-US"/>
          </a:p>
        </p:txBody>
      </p:sp>
      <p:sp>
        <p:nvSpPr>
          <p:cNvPr id="760772138" name="Footer Placeholder 4"/>
          <p:cNvSpPr>
            <a:spLocks noGrp="1"/>
          </p:cNvSpPr>
          <p:nvPr>
            <p:ph type="ftr" sz="quarter" idx="11"/>
          </p:nvPr>
        </p:nvSpPr>
        <p:spPr bwMode="auto">
          <a:xfrm>
            <a:off x="3124200" y="4964523"/>
            <a:ext cx="2895600" cy="1728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263992420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457200" y="4975323"/>
            <a:ext cx="2133600" cy="162000"/>
          </a:xfrm>
        </p:spPr>
        <p:txBody>
          <a:bodyPr/>
          <a:lstStyle/>
          <a:p>
            <a:pPr>
              <a:defRPr/>
            </a:pPr>
            <a:fld id="{C5EF2332-01BF-834F-8236-50238282D533}" type="slidenum">
              <a:rPr lang="en-US"/>
              <a:t>‹Nr.›</a:t>
            </a:fld>
            <a:endParaRPr lang="en-US"/>
          </a:p>
        </p:txBody>
      </p:sp>
      <p:sp>
        <p:nvSpPr>
          <p:cNvPr id="1043057864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87474"/>
            <a:ext cx="8458200" cy="76977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>
              <a:defRPr/>
            </a:pPr>
            <a:r>
              <a:rPr lang="de-DE"/>
              <a:t>Mastertitelformat bearbeiten</a:t>
            </a:r>
            <a:endParaRPr/>
          </a:p>
        </p:txBody>
      </p:sp>
      <p:sp>
        <p:nvSpPr>
          <p:cNvPr id="1928571103" name="Inhaltsplatzhalter 6"/>
          <p:cNvSpPr>
            <a:spLocks noGrp="1"/>
          </p:cNvSpPr>
          <p:nvPr>
            <p:ph sz="quarter" idx="14"/>
          </p:nvPr>
        </p:nvSpPr>
        <p:spPr bwMode="auto">
          <a:xfrm>
            <a:off x="2195736" y="564561"/>
            <a:ext cx="6714008" cy="283369"/>
          </a:xfrm>
        </p:spPr>
        <p:txBody>
          <a:bodyPr anchor="b"/>
          <a:lstStyle>
            <a:lvl1pPr marL="0" indent="0" algn="r">
              <a:buNone/>
              <a:defRPr sz="1350"/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>
              <a:defRPr/>
            </a:pPr>
            <a:r>
              <a:rPr lang="de-DE"/>
              <a:t>Formatvorlagen des Textmasters bearbeiten</a:t>
            </a:r>
            <a:endParaRPr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248830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2362199" y="3155206"/>
            <a:ext cx="6781800" cy="591294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2187520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0279D931-1A6D-F948-8726-124DADEE51A2}" type="datetime1">
              <a:rPr lang="de-DE"/>
              <a:t>16.07.2026</a:t>
            </a:fld>
            <a:endParaRPr lang="en-US"/>
          </a:p>
        </p:txBody>
      </p:sp>
      <p:sp>
        <p:nvSpPr>
          <p:cNvPr id="1971120221" name="Footer Placeholder 4"/>
          <p:cNvSpPr>
            <a:spLocks noGrp="1"/>
          </p:cNvSpPr>
          <p:nvPr>
            <p:ph type="ftr" sz="quarter" idx="11"/>
          </p:nvPr>
        </p:nvSpPr>
        <p:spPr bwMode="auto">
          <a:xfrm>
            <a:off x="3124200" y="4964523"/>
            <a:ext cx="2895600" cy="1728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15372607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457200" y="4975323"/>
            <a:ext cx="2133600" cy="162000"/>
          </a:xfrm>
        </p:spPr>
        <p:txBody>
          <a:bodyPr/>
          <a:lstStyle/>
          <a:p>
            <a:pPr>
              <a:defRPr/>
            </a:pPr>
            <a:fld id="{C5EF2332-01BF-834F-8236-50238282D533}" type="slidenum">
              <a:rPr lang="en-US"/>
              <a:t>‹Nr.›</a:t>
            </a:fld>
            <a:endParaRPr lang="en-US"/>
          </a:p>
        </p:txBody>
      </p:sp>
      <p:sp>
        <p:nvSpPr>
          <p:cNvPr id="506623454" name="Rectangle 2"/>
          <p:cNvSpPr>
            <a:spLocks noGrp="1" noChangeArrowheads="1"/>
          </p:cNvSpPr>
          <p:nvPr>
            <p:ph type="ctrTitle"/>
          </p:nvPr>
        </p:nvSpPr>
        <p:spPr bwMode="auto">
          <a:xfrm>
            <a:off x="2362199" y="2304306"/>
            <a:ext cx="6781800" cy="800100"/>
          </a:xfrm>
          <a:prstGeom prst="rect">
            <a:avLst/>
          </a:prstGeom>
          <a:ln>
            <a:noFill/>
          </a:ln>
        </p:spPr>
        <p:txBody>
          <a:bodyPr/>
          <a:lstStyle>
            <a:lvl1pPr algn="l">
              <a:defRPr sz="210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r>
              <a:rPr lang="de-DE"/>
              <a:t>Mastertitelformat bearbeiten</a:t>
            </a:r>
            <a:endParaRPr/>
          </a:p>
        </p:txBody>
      </p:sp>
      <p:sp>
        <p:nvSpPr>
          <p:cNvPr id="771221515" name="Rectangle 3"/>
          <p:cNvSpPr>
            <a:spLocks noGrp="1" noChangeArrowheads="1"/>
          </p:cNvSpPr>
          <p:nvPr>
            <p:ph type="subTitle" idx="13"/>
          </p:nvPr>
        </p:nvSpPr>
        <p:spPr bwMode="auto">
          <a:xfrm>
            <a:off x="2362199" y="3790206"/>
            <a:ext cx="6781800" cy="742950"/>
          </a:xfrm>
        </p:spPr>
        <p:txBody>
          <a:bodyPr/>
          <a:lstStyle>
            <a:lvl1pPr marL="0" indent="0" algn="l">
              <a:buFontTx/>
              <a:buNone/>
              <a:defRPr sz="1500">
                <a:solidFill>
                  <a:srgbClr val="000000"/>
                </a:solidFill>
              </a:defRPr>
            </a:lvl1pPr>
          </a:lstStyle>
          <a:p>
            <a:pPr>
              <a:defRPr/>
            </a:pPr>
            <a:r>
              <a:rPr lang="de-DE"/>
              <a:t>Master-Untertitelformat bearbeiten</a:t>
            </a:r>
            <a:endParaRPr/>
          </a:p>
        </p:txBody>
      </p:sp>
      <p:sp>
        <p:nvSpPr>
          <p:cNvPr id="1334182042" name="Textplatzhalter 2"/>
          <p:cNvSpPr>
            <a:spLocks noGrp="1"/>
          </p:cNvSpPr>
          <p:nvPr>
            <p:ph type="body" sz="quarter" idx="14"/>
          </p:nvPr>
        </p:nvSpPr>
        <p:spPr bwMode="auto">
          <a:xfrm>
            <a:off x="2555776" y="87474"/>
            <a:ext cx="6480720" cy="918102"/>
          </a:xfrm>
        </p:spPr>
        <p:txBody>
          <a:bodyPr anchor="ctr"/>
          <a:lstStyle>
            <a:lvl1pPr marL="0" indent="0" algn="r">
              <a:buNone/>
              <a:defRPr sz="1200">
                <a:solidFill>
                  <a:schemeClr val="tx1"/>
                </a:solidFill>
              </a:defRPr>
            </a:lvl1pPr>
          </a:lstStyle>
          <a:p>
            <a:pPr lvl="0">
              <a:defRPr/>
            </a:pPr>
            <a:r>
              <a:rPr lang="de-DE"/>
              <a:t>Mastertextformat bearbeiten</a:t>
            </a:r>
            <a:endParaRPr/>
          </a:p>
        </p:txBody>
      </p:sp>
      <p:cxnSp>
        <p:nvCxnSpPr>
          <p:cNvPr id="837350058" name="Gerade Verbindung 14"/>
          <p:cNvCxnSpPr/>
          <p:nvPr userDrawn="1"/>
        </p:nvCxnSpPr>
        <p:spPr bwMode="auto">
          <a:xfrm>
            <a:off x="0" y="1437625"/>
            <a:ext cx="9144000" cy="0"/>
          </a:xfrm>
          <a:prstGeom prst="line">
            <a:avLst/>
          </a:prstGeom>
          <a:ln w="25400">
            <a:solidFill>
              <a:srgbClr val="B3B3B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107732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35EF483A-9A3D-304F-A719-372744F04D65}" type="datetime1">
              <a:rPr lang="de-DE"/>
              <a:t>16.07.2026</a:t>
            </a:fld>
            <a:endParaRPr lang="en-US"/>
          </a:p>
        </p:txBody>
      </p:sp>
      <p:sp>
        <p:nvSpPr>
          <p:cNvPr id="323256448" name="Footer Placeholder 5"/>
          <p:cNvSpPr>
            <a:spLocks noGrp="1"/>
          </p:cNvSpPr>
          <p:nvPr>
            <p:ph type="ftr" sz="quarter" idx="11"/>
          </p:nvPr>
        </p:nvSpPr>
        <p:spPr bwMode="auto">
          <a:xfrm>
            <a:off x="3124200" y="4964523"/>
            <a:ext cx="2895600" cy="1728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15269742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457200" y="4975323"/>
            <a:ext cx="2133600" cy="162000"/>
          </a:xfrm>
        </p:spPr>
        <p:txBody>
          <a:bodyPr/>
          <a:lstStyle/>
          <a:p>
            <a:pPr>
              <a:defRPr/>
            </a:pPr>
            <a:fld id="{C5EF2332-01BF-834F-8236-50238282D533}" type="slidenum">
              <a:rPr lang="en-US"/>
              <a:t>‹Nr.›</a:t>
            </a:fld>
            <a:endParaRPr lang="en-US"/>
          </a:p>
        </p:txBody>
      </p:sp>
      <p:sp>
        <p:nvSpPr>
          <p:cNvPr id="721555425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87474"/>
            <a:ext cx="8458200" cy="76977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>
              <a:defRPr/>
            </a:pPr>
            <a:r>
              <a:rPr lang="de-DE"/>
              <a:t>Mastertitelformat bearbeiten</a:t>
            </a:r>
            <a:endParaRPr/>
          </a:p>
        </p:txBody>
      </p:sp>
      <p:sp>
        <p:nvSpPr>
          <p:cNvPr id="623180590" name="Inhaltsplatzhalter 2"/>
          <p:cNvSpPr>
            <a:spLocks noGrp="1"/>
          </p:cNvSpPr>
          <p:nvPr>
            <p:ph sz="half" idx="1"/>
          </p:nvPr>
        </p:nvSpPr>
        <p:spPr bwMode="auto">
          <a:xfrm>
            <a:off x="457200" y="914400"/>
            <a:ext cx="4152900" cy="4114800"/>
          </a:xfrm>
        </p:spPr>
        <p:txBody>
          <a:bodyPr/>
          <a:lstStyle>
            <a:lvl1pPr>
              <a:defRPr sz="1500"/>
            </a:lvl1pPr>
            <a:lvl2pPr>
              <a:defRPr sz="1500"/>
            </a:lvl2pPr>
            <a:lvl3pPr>
              <a:defRPr sz="1500"/>
            </a:lvl3pPr>
            <a:lvl4pPr>
              <a:defRPr sz="1500"/>
            </a:lvl4pPr>
            <a:lvl5pPr>
              <a:defRPr sz="15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>
              <a:defRPr/>
            </a:pPr>
            <a:r>
              <a:rPr lang="de-DE"/>
              <a:t>Mastertextformat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</a:p>
        </p:txBody>
      </p:sp>
      <p:sp>
        <p:nvSpPr>
          <p:cNvPr id="777154609" name="Inhaltsplatzhalter 3"/>
          <p:cNvSpPr>
            <a:spLocks noGrp="1"/>
          </p:cNvSpPr>
          <p:nvPr>
            <p:ph sz="half" idx="2"/>
          </p:nvPr>
        </p:nvSpPr>
        <p:spPr bwMode="auto">
          <a:xfrm>
            <a:off x="4762500" y="914400"/>
            <a:ext cx="4152900" cy="4114800"/>
          </a:xfrm>
        </p:spPr>
        <p:txBody>
          <a:bodyPr/>
          <a:lstStyle>
            <a:lvl1pPr>
              <a:defRPr sz="1500"/>
            </a:lvl1pPr>
            <a:lvl2pPr>
              <a:defRPr sz="1500"/>
            </a:lvl2pPr>
            <a:lvl3pPr>
              <a:defRPr sz="1500"/>
            </a:lvl3pPr>
            <a:lvl4pPr>
              <a:defRPr sz="1500"/>
            </a:lvl4pPr>
            <a:lvl5pPr>
              <a:defRPr sz="15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>
              <a:defRPr/>
            </a:pPr>
            <a:r>
              <a:rPr lang="de-DE"/>
              <a:t>Mastertextformat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</a:p>
        </p:txBody>
      </p:sp>
      <p:sp>
        <p:nvSpPr>
          <p:cNvPr id="1074442974" name="Inhaltsplatzhalter 6"/>
          <p:cNvSpPr>
            <a:spLocks noGrp="1"/>
          </p:cNvSpPr>
          <p:nvPr>
            <p:ph sz="quarter" idx="14"/>
          </p:nvPr>
        </p:nvSpPr>
        <p:spPr bwMode="auto">
          <a:xfrm>
            <a:off x="2195736" y="564561"/>
            <a:ext cx="6714008" cy="283369"/>
          </a:xfrm>
        </p:spPr>
        <p:txBody>
          <a:bodyPr anchor="b"/>
          <a:lstStyle>
            <a:lvl1pPr marL="0" indent="0" algn="r">
              <a:buNone/>
              <a:defRPr sz="1350"/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>
              <a:defRPr/>
            </a:pPr>
            <a:r>
              <a:rPr lang="de-DE"/>
              <a:t>Formatvorlagen des Textmasters bearbeiten</a:t>
            </a:r>
            <a:endParaRPr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582749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86FE8984-0F12-A742-922A-A8090EF07157}" type="datetime1">
              <a:rPr lang="de-DE"/>
              <a:t>16.07.2026</a:t>
            </a:fld>
            <a:endParaRPr lang="en-US"/>
          </a:p>
        </p:txBody>
      </p:sp>
      <p:sp>
        <p:nvSpPr>
          <p:cNvPr id="601804048" name="Footer Placeholder 5"/>
          <p:cNvSpPr>
            <a:spLocks noGrp="1"/>
          </p:cNvSpPr>
          <p:nvPr>
            <p:ph type="ftr" sz="quarter" idx="11"/>
          </p:nvPr>
        </p:nvSpPr>
        <p:spPr bwMode="auto">
          <a:xfrm>
            <a:off x="3124200" y="4964523"/>
            <a:ext cx="2895600" cy="1728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89813328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457200" y="4975323"/>
            <a:ext cx="2133600" cy="162000"/>
          </a:xfrm>
        </p:spPr>
        <p:txBody>
          <a:bodyPr/>
          <a:lstStyle/>
          <a:p>
            <a:pPr>
              <a:defRPr/>
            </a:pPr>
            <a:fld id="{C5EF2332-01BF-834F-8236-50238282D533}" type="slidenum">
              <a:rPr lang="en-US"/>
              <a:t>‹Nr.›</a:t>
            </a:fld>
            <a:endParaRPr lang="en-US"/>
          </a:p>
        </p:txBody>
      </p:sp>
      <p:sp>
        <p:nvSpPr>
          <p:cNvPr id="1170043137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87474"/>
            <a:ext cx="8458200" cy="76977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>
              <a:defRPr/>
            </a:pPr>
            <a:r>
              <a:rPr lang="de-DE"/>
              <a:t>Mastertitelformat bearbeiten</a:t>
            </a:r>
            <a:endParaRPr/>
          </a:p>
        </p:txBody>
      </p:sp>
      <p:sp>
        <p:nvSpPr>
          <p:cNvPr id="35403090" name="Inhaltsplatzhalter 2"/>
          <p:cNvSpPr>
            <a:spLocks noGrp="1"/>
          </p:cNvSpPr>
          <p:nvPr>
            <p:ph sz="half" idx="1"/>
          </p:nvPr>
        </p:nvSpPr>
        <p:spPr bwMode="auto">
          <a:xfrm>
            <a:off x="457200" y="914400"/>
            <a:ext cx="4152900" cy="4114800"/>
          </a:xfrm>
        </p:spPr>
        <p:txBody>
          <a:bodyPr/>
          <a:lstStyle>
            <a:lvl1pPr>
              <a:defRPr sz="1500"/>
            </a:lvl1pPr>
            <a:lvl2pPr>
              <a:defRPr sz="1500"/>
            </a:lvl2pPr>
            <a:lvl3pPr>
              <a:defRPr sz="1500"/>
            </a:lvl3pPr>
            <a:lvl4pPr>
              <a:defRPr sz="1500"/>
            </a:lvl4pPr>
            <a:lvl5pPr>
              <a:defRPr sz="15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>
              <a:defRPr/>
            </a:pPr>
            <a:r>
              <a:rPr lang="de-DE"/>
              <a:t>Mastertextformat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</a:p>
        </p:txBody>
      </p:sp>
      <p:sp>
        <p:nvSpPr>
          <p:cNvPr id="1610088328" name="Inhaltsplatzhalter 3"/>
          <p:cNvSpPr>
            <a:spLocks noGrp="1"/>
          </p:cNvSpPr>
          <p:nvPr>
            <p:ph sz="half" idx="2"/>
          </p:nvPr>
        </p:nvSpPr>
        <p:spPr bwMode="auto">
          <a:xfrm>
            <a:off x="4762500" y="914400"/>
            <a:ext cx="4152900" cy="4114800"/>
          </a:xfrm>
        </p:spPr>
        <p:txBody>
          <a:bodyPr/>
          <a:lstStyle>
            <a:lvl1pPr>
              <a:defRPr sz="1500"/>
            </a:lvl1pPr>
            <a:lvl2pPr>
              <a:defRPr sz="1500"/>
            </a:lvl2pPr>
            <a:lvl3pPr>
              <a:defRPr sz="1500"/>
            </a:lvl3pPr>
            <a:lvl4pPr>
              <a:defRPr sz="1500"/>
            </a:lvl4pPr>
            <a:lvl5pPr>
              <a:defRPr sz="15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>
              <a:defRPr/>
            </a:pPr>
            <a:r>
              <a:rPr lang="de-DE"/>
              <a:t>Mastertextformat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</a:p>
        </p:txBody>
      </p:sp>
      <p:sp>
        <p:nvSpPr>
          <p:cNvPr id="1687100965" name="Inhaltsplatzhalter 6"/>
          <p:cNvSpPr>
            <a:spLocks noGrp="1"/>
          </p:cNvSpPr>
          <p:nvPr>
            <p:ph sz="quarter" idx="14"/>
          </p:nvPr>
        </p:nvSpPr>
        <p:spPr bwMode="auto">
          <a:xfrm>
            <a:off x="2195736" y="564561"/>
            <a:ext cx="6714008" cy="283369"/>
          </a:xfrm>
        </p:spPr>
        <p:txBody>
          <a:bodyPr anchor="b"/>
          <a:lstStyle>
            <a:lvl1pPr marL="0" indent="0" algn="r">
              <a:buNone/>
              <a:defRPr sz="1350"/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>
              <a:defRPr/>
            </a:pPr>
            <a:r>
              <a:rPr lang="de-DE"/>
              <a:t>Formatvorlagen des Textmasters bearbeiten</a:t>
            </a:r>
            <a:endParaRPr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2891322" name="Date Placeholder 2"/>
          <p:cNvSpPr>
            <a:spLocks noGrp="1"/>
          </p:cNvSpPr>
          <p:nvPr>
            <p:ph type="dt" sz="half" idx="10"/>
          </p:nvPr>
        </p:nvSpPr>
        <p:spPr bwMode="auto">
          <a:xfrm>
            <a:off x="6781800" y="4975323"/>
            <a:ext cx="2133600" cy="162000"/>
          </a:xfrm>
        </p:spPr>
        <p:txBody>
          <a:bodyPr/>
          <a:lstStyle/>
          <a:p>
            <a:pPr>
              <a:defRPr/>
            </a:pPr>
            <a:fld id="{42F3ABDC-3C3B-494D-B84A-B0531873F86E}" type="datetime1">
              <a:rPr lang="de-DE"/>
              <a:t>16.07.2026</a:t>
            </a:fld>
            <a:endParaRPr lang="en-US"/>
          </a:p>
        </p:txBody>
      </p:sp>
      <p:sp>
        <p:nvSpPr>
          <p:cNvPr id="233009804" name="Footer Placeholder 3"/>
          <p:cNvSpPr>
            <a:spLocks noGrp="1"/>
          </p:cNvSpPr>
          <p:nvPr>
            <p:ph type="ftr" sz="quarter" idx="11"/>
          </p:nvPr>
        </p:nvSpPr>
        <p:spPr bwMode="auto">
          <a:xfrm>
            <a:off x="3124200" y="4964523"/>
            <a:ext cx="2895600" cy="1728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45027530" name="Slide Number Placeholder 4"/>
          <p:cNvSpPr>
            <a:spLocks noGrp="1"/>
          </p:cNvSpPr>
          <p:nvPr>
            <p:ph type="sldNum" sz="quarter" idx="12"/>
          </p:nvPr>
        </p:nvSpPr>
        <p:spPr bwMode="auto">
          <a:xfrm>
            <a:off x="457200" y="4975323"/>
            <a:ext cx="2133600" cy="162000"/>
          </a:xfrm>
        </p:spPr>
        <p:txBody>
          <a:bodyPr/>
          <a:lstStyle/>
          <a:p>
            <a:pPr>
              <a:defRPr/>
            </a:pPr>
            <a:fld id="{C5EF2332-01BF-834F-8236-50238282D533}" type="slidenum">
              <a:rPr lang="en-US"/>
              <a:t>‹Nr.›</a:t>
            </a:fld>
            <a:endParaRPr lang="en-US"/>
          </a:p>
        </p:txBody>
      </p:sp>
      <p:sp>
        <p:nvSpPr>
          <p:cNvPr id="689181863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87474"/>
            <a:ext cx="8458200" cy="76977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>
              <a:defRPr/>
            </a:pPr>
            <a:r>
              <a:rPr lang="de-DE"/>
              <a:t>Mastertitelformat bearbeiten</a:t>
            </a:r>
            <a:endParaRPr/>
          </a:p>
        </p:txBody>
      </p:sp>
      <p:sp>
        <p:nvSpPr>
          <p:cNvPr id="1710551102" name="Inhaltsplatzhalter 6"/>
          <p:cNvSpPr>
            <a:spLocks noGrp="1"/>
          </p:cNvSpPr>
          <p:nvPr>
            <p:ph sz="quarter" idx="14"/>
          </p:nvPr>
        </p:nvSpPr>
        <p:spPr bwMode="auto">
          <a:xfrm>
            <a:off x="2195736" y="564561"/>
            <a:ext cx="6714008" cy="283369"/>
          </a:xfrm>
        </p:spPr>
        <p:txBody>
          <a:bodyPr anchor="b"/>
          <a:lstStyle>
            <a:lvl1pPr marL="0" indent="0" algn="r">
              <a:buNone/>
              <a:defRPr sz="1350"/>
            </a:lvl1pPr>
            <a:lvl2pPr algn="r">
              <a:defRPr/>
            </a:lvl2pPr>
            <a:lvl3pPr algn="r">
              <a:defRPr/>
            </a:lvl3pPr>
            <a:lvl4pPr algn="r">
              <a:defRPr/>
            </a:lvl4pPr>
            <a:lvl5pPr algn="r">
              <a:defRPr/>
            </a:lvl5pPr>
          </a:lstStyle>
          <a:p>
            <a:pPr lvl="0">
              <a:defRPr/>
            </a:pPr>
            <a:r>
              <a:rPr lang="de-DE"/>
              <a:t>Formatvorlagen des Textmasters bearbeiten</a:t>
            </a:r>
            <a:endParaRPr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3855666" name="Date Placeholder 1"/>
          <p:cNvSpPr>
            <a:spLocks noGrp="1"/>
          </p:cNvSpPr>
          <p:nvPr>
            <p:ph type="dt" sz="half" idx="10"/>
          </p:nvPr>
        </p:nvSpPr>
        <p:spPr bwMode="auto">
          <a:xfrm>
            <a:off x="6781800" y="4975323"/>
            <a:ext cx="2133600" cy="162000"/>
          </a:xfrm>
        </p:spPr>
        <p:txBody>
          <a:bodyPr/>
          <a:lstStyle/>
          <a:p>
            <a:pPr>
              <a:defRPr/>
            </a:pPr>
            <a:fld id="{B0292DBD-1927-7D43-8995-60BC088FAE68}" type="datetime1">
              <a:rPr lang="de-DE"/>
              <a:t>16.07.2026</a:t>
            </a:fld>
            <a:endParaRPr lang="en-US"/>
          </a:p>
        </p:txBody>
      </p:sp>
      <p:sp>
        <p:nvSpPr>
          <p:cNvPr id="778945011" name="Footer Placeholder 2"/>
          <p:cNvSpPr>
            <a:spLocks noGrp="1"/>
          </p:cNvSpPr>
          <p:nvPr>
            <p:ph type="ftr" sz="quarter" idx="11"/>
          </p:nvPr>
        </p:nvSpPr>
        <p:spPr bwMode="auto">
          <a:xfrm>
            <a:off x="3124200" y="4964523"/>
            <a:ext cx="2895600" cy="1728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63615537" name="Slide Number Placeholder 3"/>
          <p:cNvSpPr>
            <a:spLocks noGrp="1"/>
          </p:cNvSpPr>
          <p:nvPr>
            <p:ph type="sldNum" sz="quarter" idx="12"/>
          </p:nvPr>
        </p:nvSpPr>
        <p:spPr bwMode="auto">
          <a:xfrm>
            <a:off x="457200" y="4975323"/>
            <a:ext cx="2133600" cy="162000"/>
          </a:xfrm>
        </p:spPr>
        <p:txBody>
          <a:bodyPr/>
          <a:lstStyle/>
          <a:p>
            <a:pPr>
              <a:defRPr/>
            </a:pPr>
            <a:fld id="{C5EF2332-01BF-834F-8236-50238282D533}" type="slidenum">
              <a:rPr lang="en-US"/>
              <a:t>‹Nr.›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4059142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1" y="914400"/>
            <a:ext cx="3008313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700"/>
            </a:lvl4pPr>
            <a:lvl5pPr marL="1371600" indent="0">
              <a:buNone/>
              <a:defRPr sz="700"/>
            </a:lvl5pPr>
            <a:lvl6pPr marL="1714500" indent="0">
              <a:buNone/>
              <a:defRPr sz="700"/>
            </a:lvl6pPr>
            <a:lvl7pPr marL="2057400" indent="0">
              <a:buNone/>
              <a:defRPr sz="700"/>
            </a:lvl7pPr>
            <a:lvl8pPr marL="2400300" indent="0">
              <a:buNone/>
              <a:defRPr sz="700"/>
            </a:lvl8pPr>
            <a:lvl9pPr marL="2743200" indent="0">
              <a:buNone/>
              <a:defRPr sz="7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515469824" name="Date Placeholder 4"/>
          <p:cNvSpPr>
            <a:spLocks noGrp="1"/>
          </p:cNvSpPr>
          <p:nvPr>
            <p:ph type="dt" sz="half" idx="10"/>
          </p:nvPr>
        </p:nvSpPr>
        <p:spPr bwMode="auto">
          <a:xfrm>
            <a:off x="6781800" y="4975323"/>
            <a:ext cx="2133600" cy="162000"/>
          </a:xfrm>
        </p:spPr>
        <p:txBody>
          <a:bodyPr/>
          <a:lstStyle/>
          <a:p>
            <a:pPr>
              <a:defRPr/>
            </a:pPr>
            <a:fld id="{047E9BF5-5E6A-814E-BFED-61EE6B090993}" type="datetime1">
              <a:rPr lang="de-DE"/>
              <a:t>16.07.2026</a:t>
            </a:fld>
            <a:endParaRPr lang="en-US"/>
          </a:p>
        </p:txBody>
      </p:sp>
      <p:sp>
        <p:nvSpPr>
          <p:cNvPr id="1254310202" name="Footer Placeholder 5"/>
          <p:cNvSpPr>
            <a:spLocks noGrp="1"/>
          </p:cNvSpPr>
          <p:nvPr>
            <p:ph type="ftr" sz="quarter" idx="11"/>
          </p:nvPr>
        </p:nvSpPr>
        <p:spPr bwMode="auto">
          <a:xfrm>
            <a:off x="3124200" y="4964523"/>
            <a:ext cx="2895600" cy="1728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80453487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457200" y="4975323"/>
            <a:ext cx="2133600" cy="162000"/>
          </a:xfrm>
        </p:spPr>
        <p:txBody>
          <a:bodyPr/>
          <a:lstStyle/>
          <a:p>
            <a:pPr>
              <a:defRPr/>
            </a:pPr>
            <a:fld id="{C5EF2332-01BF-834F-8236-50238282D533}" type="slidenum">
              <a:rPr lang="en-US"/>
              <a:t>‹Nr.›</a:t>
            </a:fld>
            <a:endParaRPr lang="en-US"/>
          </a:p>
        </p:txBody>
      </p:sp>
      <p:sp>
        <p:nvSpPr>
          <p:cNvPr id="1636208365" name="Inhaltsplatzhalter 3"/>
          <p:cNvSpPr>
            <a:spLocks noGrp="1"/>
          </p:cNvSpPr>
          <p:nvPr>
            <p:ph sz="half" idx="13"/>
          </p:nvPr>
        </p:nvSpPr>
        <p:spPr bwMode="auto">
          <a:xfrm>
            <a:off x="3619500" y="914400"/>
            <a:ext cx="5295899" cy="4114800"/>
          </a:xfrm>
        </p:spPr>
        <p:txBody>
          <a:bodyPr/>
          <a:lstStyle>
            <a:lvl1pPr>
              <a:defRPr sz="1500"/>
            </a:lvl1pPr>
            <a:lvl2pPr>
              <a:defRPr sz="1500"/>
            </a:lvl2pPr>
            <a:lvl3pPr>
              <a:defRPr sz="1500"/>
            </a:lvl3pPr>
            <a:lvl4pPr>
              <a:defRPr sz="1500"/>
            </a:lvl4pPr>
            <a:lvl5pPr>
              <a:defRPr sz="15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>
              <a:defRPr/>
            </a:pPr>
            <a:r>
              <a:rPr lang="de-DE"/>
              <a:t>Mastertextformat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/>
          </a:p>
        </p:txBody>
      </p:sp>
      <p:sp>
        <p:nvSpPr>
          <p:cNvPr id="1233333781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87474"/>
            <a:ext cx="8458200" cy="76977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>
              <a:defRPr/>
            </a:pPr>
            <a:r>
              <a:rPr lang="de-DE"/>
              <a:t>Mastertitelformat bearbeiten</a:t>
            </a:r>
            <a:endParaRPr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4550985" name="Title 1"/>
          <p:cNvSpPr>
            <a:spLocks noGrp="1"/>
          </p:cNvSpPr>
          <p:nvPr>
            <p:ph type="title"/>
          </p:nvPr>
        </p:nvSpPr>
        <p:spPr bwMode="auto">
          <a:xfrm>
            <a:off x="1792288" y="3600450"/>
            <a:ext cx="5486400" cy="425054"/>
          </a:xfrm>
          <a:prstGeom prst="rect">
            <a:avLst/>
          </a:prstGeom>
        </p:spPr>
        <p:txBody>
          <a:bodyPr anchor="b"/>
          <a:lstStyle>
            <a:lvl1pPr algn="l">
              <a:defRPr sz="15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371411131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8" y="459581"/>
            <a:ext cx="5486400" cy="30861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108202202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8" y="4025503"/>
            <a:ext cx="5486400" cy="60364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700"/>
            </a:lvl4pPr>
            <a:lvl5pPr marL="1371600" indent="0">
              <a:buNone/>
              <a:defRPr sz="700"/>
            </a:lvl5pPr>
            <a:lvl6pPr marL="1714500" indent="0">
              <a:buNone/>
              <a:defRPr sz="700"/>
            </a:lvl6pPr>
            <a:lvl7pPr marL="2057400" indent="0">
              <a:buNone/>
              <a:defRPr sz="700"/>
            </a:lvl7pPr>
            <a:lvl8pPr marL="2400300" indent="0">
              <a:buNone/>
              <a:defRPr sz="700"/>
            </a:lvl8pPr>
            <a:lvl9pPr marL="2743200" indent="0">
              <a:buNone/>
              <a:defRPr sz="7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557291636" name="Date Placeholder 4"/>
          <p:cNvSpPr>
            <a:spLocks noGrp="1"/>
          </p:cNvSpPr>
          <p:nvPr>
            <p:ph type="dt" sz="half" idx="10"/>
          </p:nvPr>
        </p:nvSpPr>
        <p:spPr bwMode="auto">
          <a:xfrm>
            <a:off x="6781800" y="4975323"/>
            <a:ext cx="2133600" cy="162000"/>
          </a:xfrm>
        </p:spPr>
        <p:txBody>
          <a:bodyPr/>
          <a:lstStyle/>
          <a:p>
            <a:pPr>
              <a:defRPr/>
            </a:pPr>
            <a:fld id="{FC224E9E-5140-C545-A8A2-C2E1EBDB5371}" type="datetime1">
              <a:rPr lang="de-DE"/>
              <a:t>16.07.2026</a:t>
            </a:fld>
            <a:endParaRPr lang="en-US"/>
          </a:p>
        </p:txBody>
      </p:sp>
      <p:sp>
        <p:nvSpPr>
          <p:cNvPr id="122257531" name="Footer Placeholder 5"/>
          <p:cNvSpPr>
            <a:spLocks noGrp="1"/>
          </p:cNvSpPr>
          <p:nvPr>
            <p:ph type="ftr" sz="quarter" idx="11"/>
          </p:nvPr>
        </p:nvSpPr>
        <p:spPr bwMode="auto">
          <a:xfrm>
            <a:off x="3124200" y="4964523"/>
            <a:ext cx="2895600" cy="1728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65820098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457200" y="4975323"/>
            <a:ext cx="2133600" cy="162000"/>
          </a:xfrm>
        </p:spPr>
        <p:txBody>
          <a:bodyPr/>
          <a:lstStyle/>
          <a:p>
            <a:pPr>
              <a:defRPr/>
            </a:pPr>
            <a:fld id="{C5EF2332-01BF-834F-8236-50238282D533}" type="slidenum">
              <a:rPr lang="en-US"/>
              <a:t>‹Nr.›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626066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914400"/>
            <a:ext cx="8458200" cy="4114800"/>
          </a:xfrm>
          <a:prstGeom prst="rect">
            <a:avLst/>
          </a:prstGeo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832625471" name="Date Placeholder 3"/>
          <p:cNvSpPr>
            <a:spLocks noGrp="1"/>
          </p:cNvSpPr>
          <p:nvPr>
            <p:ph type="dt" sz="half" idx="10"/>
          </p:nvPr>
        </p:nvSpPr>
        <p:spPr bwMode="auto">
          <a:xfrm>
            <a:off x="6781800" y="4975323"/>
            <a:ext cx="2133600" cy="162000"/>
          </a:xfrm>
        </p:spPr>
        <p:txBody>
          <a:bodyPr/>
          <a:lstStyle/>
          <a:p>
            <a:pPr>
              <a:defRPr/>
            </a:pPr>
            <a:fld id="{F2BC9F30-B097-DD4C-AF67-2CA692E2C6A6}" type="datetime1">
              <a:rPr lang="de-DE"/>
              <a:t>16.07.2026</a:t>
            </a:fld>
            <a:endParaRPr lang="en-US"/>
          </a:p>
        </p:txBody>
      </p:sp>
      <p:sp>
        <p:nvSpPr>
          <p:cNvPr id="881290005" name="Footer Placeholder 4"/>
          <p:cNvSpPr>
            <a:spLocks noGrp="1"/>
          </p:cNvSpPr>
          <p:nvPr>
            <p:ph type="ftr" sz="quarter" idx="11"/>
          </p:nvPr>
        </p:nvSpPr>
        <p:spPr bwMode="auto">
          <a:xfrm>
            <a:off x="3124200" y="4964523"/>
            <a:ext cx="2895600" cy="1728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41341398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457200" y="4975323"/>
            <a:ext cx="2133600" cy="162000"/>
          </a:xfrm>
        </p:spPr>
        <p:txBody>
          <a:bodyPr/>
          <a:lstStyle/>
          <a:p>
            <a:pPr>
              <a:defRPr/>
            </a:pPr>
            <a:fld id="{C5EF2332-01BF-834F-8236-50238282D533}" type="slidenum">
              <a:rPr lang="en-US"/>
              <a:t>‹Nr.›</a:t>
            </a:fld>
            <a:endParaRPr lang="en-US"/>
          </a:p>
        </p:txBody>
      </p:sp>
      <p:sp>
        <p:nvSpPr>
          <p:cNvPr id="1899697952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87474"/>
            <a:ext cx="8458200" cy="76977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>
              <a:defRPr/>
            </a:pPr>
            <a:r>
              <a:rPr lang="de-DE"/>
              <a:t>Mastertitelformat bearbeiten</a:t>
            </a:r>
            <a:endParaRPr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showMasterPhAnim="0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442984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05978"/>
            <a:ext cx="2286000" cy="4823221"/>
          </a:xfrm>
          <a:prstGeom prst="rect">
            <a:avLst/>
          </a:prstGeo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/>
          </a:p>
        </p:txBody>
      </p:sp>
      <p:sp>
        <p:nvSpPr>
          <p:cNvPr id="137951599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05979"/>
            <a:ext cx="6019800" cy="4823220"/>
          </a:xfrm>
          <a:prstGeom prst="rect">
            <a:avLst/>
          </a:prstGeo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290150841" name="Date Placeholder 3"/>
          <p:cNvSpPr>
            <a:spLocks noGrp="1"/>
          </p:cNvSpPr>
          <p:nvPr>
            <p:ph type="dt" sz="half" idx="10"/>
          </p:nvPr>
        </p:nvSpPr>
        <p:spPr bwMode="auto">
          <a:xfrm>
            <a:off x="6781800" y="4975323"/>
            <a:ext cx="2133600" cy="162000"/>
          </a:xfrm>
        </p:spPr>
        <p:txBody>
          <a:bodyPr/>
          <a:lstStyle/>
          <a:p>
            <a:pPr>
              <a:defRPr/>
            </a:pPr>
            <a:fld id="{A1915E92-8591-0D4C-A8F4-9EE7DD17135B}" type="datetime1">
              <a:rPr lang="de-DE"/>
              <a:t>16.07.2026</a:t>
            </a:fld>
            <a:endParaRPr lang="en-US"/>
          </a:p>
        </p:txBody>
      </p:sp>
      <p:sp>
        <p:nvSpPr>
          <p:cNvPr id="778104953" name="Footer Placeholder 4"/>
          <p:cNvSpPr>
            <a:spLocks noGrp="1"/>
          </p:cNvSpPr>
          <p:nvPr>
            <p:ph type="ftr" sz="quarter" idx="11"/>
          </p:nvPr>
        </p:nvSpPr>
        <p:spPr bwMode="auto">
          <a:xfrm>
            <a:off x="3124200" y="4964523"/>
            <a:ext cx="2895600" cy="1728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77750184" name="Slide Number Placeholder 5"/>
          <p:cNvSpPr>
            <a:spLocks noGrp="1"/>
          </p:cNvSpPr>
          <p:nvPr>
            <p:ph type="sldNum" sz="quarter" idx="12"/>
          </p:nvPr>
        </p:nvSpPr>
        <p:spPr bwMode="auto">
          <a:xfrm>
            <a:off x="457200" y="4975323"/>
            <a:ext cx="2133600" cy="162000"/>
          </a:xfrm>
        </p:spPr>
        <p:txBody>
          <a:bodyPr/>
          <a:lstStyle/>
          <a:p>
            <a:pPr>
              <a:defRPr/>
            </a:pPr>
            <a:fld id="{C5EF2332-01BF-834F-8236-50238282D533}" type="slidenum">
              <a:rPr lang="en-US"/>
              <a:t>‹Nr.›</a:t>
            </a:fld>
            <a:endParaRPr lang="en-US"/>
          </a:p>
        </p:txBody>
      </p:sp>
    </p:spTree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092351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6781800" y="4975323"/>
            <a:ext cx="2133600" cy="162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9D44905D-E586-C348-8432-BB6C5E375EEE}" type="datetime1">
              <a:rPr lang="de-DE"/>
              <a:t>16.07.2026</a:t>
            </a:fld>
            <a:endParaRPr lang="en-US"/>
          </a:p>
        </p:txBody>
      </p:sp>
      <p:sp>
        <p:nvSpPr>
          <p:cNvPr id="273710610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457200" y="4975323"/>
            <a:ext cx="2133600" cy="162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C5EF2332-01BF-834F-8236-50238282D533}" type="slidenum">
              <a:rPr lang="en-US"/>
              <a:t>‹Nr.›</a:t>
            </a:fld>
            <a:endParaRPr lang="en-US"/>
          </a:p>
        </p:txBody>
      </p:sp>
      <p:sp>
        <p:nvSpPr>
          <p:cNvPr id="1581240976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87474"/>
            <a:ext cx="8458200" cy="76977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>
              <a:defRPr/>
            </a:pPr>
            <a:r>
              <a:rPr lang="de-DE"/>
              <a:t>Mastertitelformat bearbeiten</a:t>
            </a:r>
            <a:endParaRPr/>
          </a:p>
        </p:txBody>
      </p:sp>
      <p:sp>
        <p:nvSpPr>
          <p:cNvPr id="1905774622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914400"/>
            <a:ext cx="8458200" cy="41148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>
              <a:defRPr/>
            </a:pPr>
            <a:r>
              <a:rPr lang="de-DE"/>
              <a:t>Mastertextformat bearbeiten</a:t>
            </a:r>
            <a:endParaRPr/>
          </a:p>
          <a:p>
            <a:pPr lvl="1">
              <a:defRPr/>
            </a:pPr>
            <a:r>
              <a:rPr lang="de-DE"/>
              <a:t>Zweite Ebene</a:t>
            </a:r>
            <a:endParaRPr/>
          </a:p>
          <a:p>
            <a:pPr lvl="2">
              <a:defRPr/>
            </a:pPr>
            <a:r>
              <a:rPr lang="de-DE"/>
              <a:t>Dritte Ebene</a:t>
            </a:r>
            <a:endParaRPr/>
          </a:p>
          <a:p>
            <a:pPr lvl="3">
              <a:defRPr/>
            </a:pPr>
            <a:r>
              <a:rPr lang="de-DE"/>
              <a:t>Vierte Ebene</a:t>
            </a:r>
            <a:endParaRPr/>
          </a:p>
          <a:p>
            <a:pPr lvl="4">
              <a:defRPr/>
            </a:pPr>
            <a:r>
              <a:rPr lang="de-DE"/>
              <a:t>Fünfte Ebene</a:t>
            </a:r>
            <a:endParaRPr/>
          </a:p>
        </p:txBody>
      </p:sp>
      <p:cxnSp>
        <p:nvCxnSpPr>
          <p:cNvPr id="15272503" name="Gerade Verbindung 14"/>
          <p:cNvCxnSpPr/>
          <p:nvPr userDrawn="1"/>
        </p:nvCxnSpPr>
        <p:spPr bwMode="auto">
          <a:xfrm>
            <a:off x="0" y="857251"/>
            <a:ext cx="9144000" cy="0"/>
          </a:xfrm>
          <a:prstGeom prst="line">
            <a:avLst/>
          </a:prstGeom>
          <a:ln w="25400">
            <a:solidFill>
              <a:srgbClr val="B3B3B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65589900" name="Fußzeilenplatzhalter 8"/>
          <p:cNvSpPr>
            <a:spLocks noGrp="1"/>
          </p:cNvSpPr>
          <p:nvPr>
            <p:ph type="ftr" sz="quarter" idx="3"/>
          </p:nvPr>
        </p:nvSpPr>
        <p:spPr bwMode="auto">
          <a:xfrm>
            <a:off x="3028950" y="4964523"/>
            <a:ext cx="3086100" cy="172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de-D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342900" rtl="0">
        <a:spcBef>
          <a:spcPts val="0"/>
        </a:spcBef>
        <a:buNone/>
        <a:defRPr sz="1800">
          <a:solidFill>
            <a:schemeClr val="tx1">
              <a:lumMod val="50000"/>
              <a:lumOff val="50000"/>
            </a:schemeClr>
          </a:solidFill>
          <a:latin typeface="+mj-lt"/>
          <a:ea typeface="+mj-ea"/>
          <a:cs typeface="+mj-cs"/>
        </a:defRPr>
      </a:lvl1pPr>
    </p:titleStyle>
    <p:bodyStyle>
      <a:lvl1pPr marL="255600" indent="-255600" algn="l" defTabSz="914400" rtl="0">
        <a:spcBef>
          <a:spcPts val="0"/>
        </a:spcBef>
        <a:buClr>
          <a:schemeClr val="accent2"/>
        </a:buClr>
        <a:buSzPct val="100000"/>
        <a:buFont typeface="Wingdings"/>
        <a:buChar char="§"/>
        <a:defRPr lang="en-US" sz="1500">
          <a:solidFill>
            <a:schemeClr val="tx2"/>
          </a:solidFill>
          <a:latin typeface="+mn-lt"/>
          <a:ea typeface="ＭＳ Ｐゴシック"/>
          <a:cs typeface="+mn-cs"/>
        </a:defRPr>
      </a:lvl1pPr>
      <a:lvl2pPr marL="558000" indent="-216000" algn="l" defTabSz="914400" rtl="0">
        <a:spcBef>
          <a:spcPts val="0"/>
        </a:spcBef>
        <a:buClr>
          <a:schemeClr val="tx2"/>
        </a:buClr>
        <a:buFont typeface="Arial"/>
        <a:buChar char="–"/>
        <a:defRPr lang="en-US" sz="1500">
          <a:solidFill>
            <a:schemeClr val="tx1"/>
          </a:solidFill>
          <a:latin typeface="+mn-lt"/>
          <a:ea typeface="ＭＳ Ｐゴシック"/>
          <a:cs typeface="+mn-cs"/>
        </a:defRPr>
      </a:lvl2pPr>
      <a:lvl3pPr marL="856800" indent="-172800" algn="l" defTabSz="914400" rtl="0">
        <a:spcBef>
          <a:spcPts val="0"/>
        </a:spcBef>
        <a:buClr>
          <a:schemeClr val="bg2"/>
        </a:buClr>
        <a:buFont typeface="Arial"/>
        <a:buChar char="•"/>
        <a:defRPr lang="en-US" sz="1500">
          <a:solidFill>
            <a:schemeClr val="tx1"/>
          </a:solidFill>
          <a:latin typeface="+mn-lt"/>
          <a:ea typeface="ＭＳ Ｐゴシック"/>
          <a:cs typeface="+mn-cs"/>
        </a:defRPr>
      </a:lvl3pPr>
      <a:lvl4pPr marL="1198800" indent="-172800" algn="l" defTabSz="914400" rtl="0">
        <a:spcBef>
          <a:spcPts val="0"/>
        </a:spcBef>
        <a:buFont typeface="Arial"/>
        <a:buChar char="–"/>
        <a:defRPr sz="1500">
          <a:solidFill>
            <a:schemeClr val="tx1"/>
          </a:solidFill>
          <a:latin typeface="+mn-lt"/>
          <a:ea typeface="+mn-ea"/>
          <a:cs typeface="+mn-cs"/>
        </a:defRPr>
      </a:lvl4pPr>
      <a:lvl5pPr marL="1544400" indent="-172800" algn="l" defTabSz="914400" rtl="0">
        <a:spcBef>
          <a:spcPts val="0"/>
        </a:spcBef>
        <a:buFont typeface="Arial"/>
        <a:buChar char="»"/>
        <a:defRPr sz="15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>
        <a:spcBef>
          <a:spcPts val="0"/>
        </a:spcBef>
        <a:buFont typeface="Arial"/>
        <a:buChar char="•"/>
        <a:defRPr sz="15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>
        <a:spcBef>
          <a:spcPts val="0"/>
        </a:spcBef>
        <a:buFont typeface="Arial"/>
        <a:buChar char="•"/>
        <a:defRPr sz="15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>
        <a:spcBef>
          <a:spcPts val="0"/>
        </a:spcBef>
        <a:buFont typeface="Arial"/>
        <a:buChar char="•"/>
        <a:defRPr sz="15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>
        <a:spcBef>
          <a:spcPts val="0"/>
        </a:spcBef>
        <a:buFont typeface="Arial"/>
        <a:buChar char="•"/>
        <a:defRPr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>
        <a:defRPr sz="135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>
        <a:defRPr sz="135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>
        <a:defRPr sz="135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>
        <a:defRPr sz="135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>
        <a:defRPr sz="135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>
        <a:defRPr sz="135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>
        <a:defRPr sz="135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>
        <a:defRPr sz="135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>
        <a:defRPr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3.xml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302.04787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arxiv.org/abs/2012.13995" TargetMode="External"/><Relationship Id="rId4" Type="http://schemas.openxmlformats.org/officeDocument/2006/relationships/hyperlink" Target="https://arxiv.org/abs/2007.14390" TargetMode="Externa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911.08772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5" Type="http://schemas.openxmlformats.org/officeDocument/2006/relationships/hyperlink" Target="http://dx.doi.org/10.1109/CSF.2017.11" TargetMode="External"/><Relationship Id="rId4" Type="http://schemas.openxmlformats.org/officeDocument/2006/relationships/hyperlink" Target="https://arxiv.org/abs/2102.08166" TargetMode="Externa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5643293" name="Textplatzhalter 11"/>
          <p:cNvSpPr>
            <a:spLocks noGrp="1"/>
          </p:cNvSpPr>
          <p:nvPr>
            <p:ph type="body" sz="quarter" idx="13"/>
          </p:nvPr>
        </p:nvSpPr>
        <p:spPr bwMode="auto">
          <a:xfrm>
            <a:off x="2555776" y="87474"/>
            <a:ext cx="6480720" cy="918102"/>
          </a:xfrm>
        </p:spPr>
        <p:txBody>
          <a:bodyPr/>
          <a:lstStyle/>
          <a:p>
            <a:pPr>
              <a:defRPr/>
            </a:pPr>
            <a:r>
              <a:rPr lang="de-DE">
                <a:solidFill>
                  <a:srgbClr val="000000"/>
                </a:solidFill>
                <a:ea typeface="+mn-lt"/>
                <a:cs typeface="+mn-lt"/>
              </a:rPr>
              <a:t>Master Project Seminar Data Protection and Data Security</a:t>
            </a:r>
            <a:endParaRPr lang="en-US">
              <a:solidFill>
                <a:srgbClr val="000000"/>
              </a:solidFill>
              <a:cs typeface="+mn-lt"/>
            </a:endParaRPr>
          </a:p>
          <a:p>
            <a:pPr>
              <a:defRPr/>
            </a:pPr>
            <a:r>
              <a:rPr lang="de-DE">
                <a:solidFill>
                  <a:srgbClr val="000000"/>
                </a:solidFill>
                <a:ea typeface="+mn-lt"/>
                <a:cs typeface="+mn-lt"/>
              </a:rPr>
              <a:t>Hamburg, 20</a:t>
            </a:r>
            <a:r>
              <a:rPr lang="de-DE" baseline="30000">
                <a:solidFill>
                  <a:srgbClr val="000000"/>
                </a:solidFill>
                <a:ea typeface="+mn-lt"/>
                <a:cs typeface="+mn-lt"/>
              </a:rPr>
              <a:t>th</a:t>
            </a:r>
            <a:r>
              <a:rPr lang="de-DE">
                <a:solidFill>
                  <a:srgbClr val="000000"/>
                </a:solidFill>
                <a:ea typeface="+mn-lt"/>
                <a:cs typeface="+mn-lt"/>
              </a:rPr>
              <a:t> of July 2026</a:t>
            </a:r>
            <a:endParaRPr lang="en-US">
              <a:cs typeface="Calibri"/>
            </a:endParaRPr>
          </a:p>
          <a:p>
            <a:pPr>
              <a:defRPr/>
            </a:pPr>
            <a:endParaRPr lang="de-DE">
              <a:cs typeface="Calibri"/>
            </a:endParaRPr>
          </a:p>
        </p:txBody>
      </p:sp>
      <p:sp>
        <p:nvSpPr>
          <p:cNvPr id="746449420" name="Title 1"/>
          <p:cNvSpPr>
            <a:spLocks noGrp="1"/>
          </p:cNvSpPr>
          <p:nvPr>
            <p:ph type="ctrTitle"/>
          </p:nvPr>
        </p:nvSpPr>
        <p:spPr bwMode="auto">
          <a:xfrm>
            <a:off x="2362199" y="2304306"/>
            <a:ext cx="6781800" cy="800100"/>
          </a:xfrm>
        </p:spPr>
        <p:txBody>
          <a:bodyPr/>
          <a:lstStyle/>
          <a:p>
            <a:pPr>
              <a:defRPr/>
            </a:pPr>
            <a:r>
              <a:rPr lang="de-DE">
                <a:ea typeface="+mj-lt"/>
                <a:cs typeface="+mj-lt"/>
              </a:rPr>
              <a:t>Navigating the</a:t>
            </a:r>
            <a:endParaRPr lang="en-US"/>
          </a:p>
          <a:p>
            <a:pPr>
              <a:defRPr/>
            </a:pPr>
            <a:r>
              <a:rPr lang="de-DE">
                <a:ea typeface="+mj-lt"/>
                <a:cs typeface="+mj-lt"/>
              </a:rPr>
              <a:t>Privacy-Robustness-Performance-Trilemma</a:t>
            </a:r>
            <a:endParaRPr lang="de-DE"/>
          </a:p>
          <a:p>
            <a:pPr>
              <a:defRPr/>
            </a:pPr>
            <a:r>
              <a:rPr lang="de-DE">
                <a:ea typeface="+mj-lt"/>
                <a:cs typeface="+mj-lt"/>
              </a:rPr>
              <a:t>in Federated Learning</a:t>
            </a:r>
            <a:endParaRPr lang="de-DE"/>
          </a:p>
        </p:txBody>
      </p:sp>
      <p:sp>
        <p:nvSpPr>
          <p:cNvPr id="596856933" name="Subtitle 2"/>
          <p:cNvSpPr>
            <a:spLocks noGrp="1"/>
          </p:cNvSpPr>
          <p:nvPr>
            <p:ph type="subTitle" idx="1"/>
          </p:nvPr>
        </p:nvSpPr>
        <p:spPr bwMode="auto">
          <a:xfrm>
            <a:off x="2362199" y="3790206"/>
            <a:ext cx="6781800" cy="742950"/>
          </a:xfrm>
        </p:spPr>
        <p:txBody>
          <a:bodyPr/>
          <a:lstStyle/>
          <a:p>
            <a:pPr>
              <a:defRPr/>
            </a:pPr>
            <a:r>
              <a:rPr lang="de-DE">
                <a:ea typeface="ＭＳ Ｐゴシック"/>
              </a:rPr>
              <a:t>Jonas Müller, Rebekka Schnoor</a:t>
            </a:r>
            <a:endParaRPr lang="en-US">
              <a:cs typeface="Calibri"/>
            </a:endParaRPr>
          </a:p>
          <a:p>
            <a:pPr>
              <a:defRPr/>
            </a:pPr>
            <a:endParaRPr lang="de-DE">
              <a:cs typeface="Calibri"/>
            </a:endParaRPr>
          </a:p>
          <a:p>
            <a:pPr>
              <a:defRPr/>
            </a:pPr>
            <a:r>
              <a:rPr lang="de-DE">
                <a:ea typeface="ＭＳ Ｐゴシック"/>
                <a:cs typeface="Calibri"/>
              </a:rPr>
              <a:t>20.07.2026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_m0"/>
          <p:cNvSpPr txBox="1"/>
          <p:nvPr/>
        </p:nvSpPr>
        <p:spPr>
          <a:xfrm>
            <a:off x="457200" y="87474"/>
            <a:ext cx="8458200" cy="769776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/>
            <a:r>
              <a:rPr sz="1800" b="0">
                <a:solidFill>
                  <a:srgbClr val="808080"/>
                </a:solidFill>
                <a:latin typeface="Calibri"/>
              </a:rPr>
              <a:t>FL-Trilemma: Project Timeline</a:t>
            </a:r>
          </a:p>
        </p:txBody>
      </p:sp>
      <p:cxnSp>
        <p:nvCxnSpPr>
          <p:cNvPr id="4" name="divider_m0"/>
          <p:cNvCxnSpPr/>
          <p:nvPr/>
        </p:nvCxnSpPr>
        <p:spPr>
          <a:xfrm>
            <a:off x="571500" y="952500"/>
            <a:ext cx="8001000" cy="0"/>
          </a:xfrm>
          <a:prstGeom prst="line">
            <a:avLst/>
          </a:prstGeom>
          <a:ln w="9525">
            <a:solidFill>
              <a:srgbClr val="B3B3B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ontent_pill_m0"/>
          <p:cNvSpPr/>
          <p:nvPr/>
        </p:nvSpPr>
        <p:spPr>
          <a:xfrm>
            <a:off x="762000" y="1095375"/>
            <a:ext cx="825000" cy="188082"/>
          </a:xfrm>
          <a:prstGeom prst="roundRect">
            <a:avLst>
              <a:gd name="adj" fmla="val 50000"/>
            </a:avLst>
          </a:prstGeom>
          <a:solidFill>
            <a:srgbClr val="C9E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60000" tIns="0" rIns="60000" bIns="0" rtlCol="0" anchor="ctr"/>
          <a:lstStyle/>
          <a:p>
            <a:pPr algn="ctr"/>
            <a:r>
              <a:rPr sz="900" b="1">
                <a:solidFill>
                  <a:srgbClr val="325786"/>
                </a:solidFill>
                <a:latin typeface="Calibri"/>
              </a:rPr>
              <a:t>09.04.2026</a:t>
            </a:r>
          </a:p>
        </p:txBody>
      </p:sp>
      <p:sp>
        <p:nvSpPr>
          <p:cNvPr id="6" name="content_headline_m0"/>
          <p:cNvSpPr txBox="1"/>
          <p:nvPr/>
        </p:nvSpPr>
        <p:spPr>
          <a:xfrm>
            <a:off x="762000" y="1369126"/>
            <a:ext cx="5762625" cy="2393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F2023"/>
                </a:solidFill>
                <a:latin typeface="Calibri"/>
              </a:rPr>
              <a:t>Project Kick-off</a:t>
            </a:r>
          </a:p>
        </p:txBody>
      </p:sp>
      <p:sp>
        <p:nvSpPr>
          <p:cNvPr id="7" name="content_bullets_m0"/>
          <p:cNvSpPr txBox="1"/>
          <p:nvPr/>
        </p:nvSpPr>
        <p:spPr>
          <a:xfrm>
            <a:off x="762000" y="1646504"/>
            <a:ext cx="5762625" cy="1880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50" b="1">
                <a:solidFill>
                  <a:srgbClr val="C1212A"/>
                </a:solidFill>
                <a:latin typeface="Calibri"/>
              </a:rPr>
              <a:t>-  </a:t>
            </a:r>
            <a:r>
              <a:rPr sz="1050">
                <a:solidFill>
                  <a:srgbClr val="325786"/>
                </a:solidFill>
                <a:latin typeface="Calibri"/>
              </a:rPr>
              <a:t>Master Project Seminar Data Protection and Data Security begins</a:t>
            </a:r>
          </a:p>
        </p:txBody>
      </p:sp>
      <p:sp>
        <p:nvSpPr>
          <p:cNvPr id="8" name="!!tl_track"/>
          <p:cNvSpPr/>
          <p:nvPr/>
        </p:nvSpPr>
        <p:spPr>
          <a:xfrm>
            <a:off x="952500" y="2847919"/>
            <a:ext cx="7239000" cy="18976"/>
          </a:xfrm>
          <a:prstGeom prst="roundRect">
            <a:avLst>
              <a:gd name="adj" fmla="val 50000"/>
            </a:avLst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!!tl_fill"/>
          <p:cNvSpPr/>
          <p:nvPr/>
        </p:nvSpPr>
        <p:spPr>
          <a:xfrm>
            <a:off x="952500" y="2847919"/>
            <a:ext cx="0" cy="18976"/>
          </a:xfrm>
          <a:prstGeom prst="roundRect">
            <a:avLst>
              <a:gd name="adj" fmla="val 50000"/>
            </a:avLst>
          </a:prstGeom>
          <a:solidFill>
            <a:srgbClr val="3257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!!tl_dot_1"/>
          <p:cNvSpPr/>
          <p:nvPr/>
        </p:nvSpPr>
        <p:spPr>
          <a:xfrm>
            <a:off x="885825" y="2790825"/>
            <a:ext cx="133350" cy="133350"/>
          </a:xfrm>
          <a:prstGeom prst="ellipse">
            <a:avLst/>
          </a:prstGeom>
          <a:solidFill>
            <a:srgbClr val="3257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lbl_1_s0"/>
          <p:cNvSpPr txBox="1"/>
          <p:nvPr/>
        </p:nvSpPr>
        <p:spPr>
          <a:xfrm>
            <a:off x="666750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1F2023"/>
                </a:solidFill>
                <a:latin typeface="Calibri"/>
              </a:rPr>
              <a:t>09.04.2026</a:t>
            </a:r>
          </a:p>
        </p:txBody>
      </p:sp>
      <p:sp>
        <p:nvSpPr>
          <p:cNvPr id="12" name="!!tl_dot_2"/>
          <p:cNvSpPr/>
          <p:nvPr/>
        </p:nvSpPr>
        <p:spPr>
          <a:xfrm>
            <a:off x="1819275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lbl_2_s0"/>
          <p:cNvSpPr txBox="1"/>
          <p:nvPr/>
        </p:nvSpPr>
        <p:spPr>
          <a:xfrm>
            <a:off x="1571625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Calibri"/>
              </a:rPr>
              <a:t>16.04.2026</a:t>
            </a:r>
          </a:p>
        </p:txBody>
      </p:sp>
      <p:sp>
        <p:nvSpPr>
          <p:cNvPr id="14" name="!!tl_dot_3"/>
          <p:cNvSpPr/>
          <p:nvPr/>
        </p:nvSpPr>
        <p:spPr>
          <a:xfrm>
            <a:off x="2724150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lbl_3_s0"/>
          <p:cNvSpPr txBox="1"/>
          <p:nvPr/>
        </p:nvSpPr>
        <p:spPr>
          <a:xfrm>
            <a:off x="2476500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Calibri"/>
              </a:rPr>
              <a:t>30.04.2026</a:t>
            </a:r>
          </a:p>
        </p:txBody>
      </p:sp>
      <p:sp>
        <p:nvSpPr>
          <p:cNvPr id="16" name="!!tl_dot_4"/>
          <p:cNvSpPr/>
          <p:nvPr/>
        </p:nvSpPr>
        <p:spPr>
          <a:xfrm>
            <a:off x="3629025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lbl_4_s0"/>
          <p:cNvSpPr txBox="1"/>
          <p:nvPr/>
        </p:nvSpPr>
        <p:spPr>
          <a:xfrm>
            <a:off x="3381375" y="3009863"/>
            <a:ext cx="57150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 dirty="0">
                <a:solidFill>
                  <a:srgbClr val="9CA3AF"/>
                </a:solidFill>
                <a:latin typeface="Calibri"/>
              </a:rPr>
              <a:t>21.05.2026</a:t>
            </a:r>
          </a:p>
        </p:txBody>
      </p:sp>
      <p:sp>
        <p:nvSpPr>
          <p:cNvPr id="18" name="!!tl_dot_5"/>
          <p:cNvSpPr/>
          <p:nvPr/>
        </p:nvSpPr>
        <p:spPr>
          <a:xfrm>
            <a:off x="4533900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lbl_5_s0"/>
          <p:cNvSpPr txBox="1"/>
          <p:nvPr/>
        </p:nvSpPr>
        <p:spPr>
          <a:xfrm>
            <a:off x="4286250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Calibri"/>
              </a:rPr>
              <a:t>18.06.2026</a:t>
            </a:r>
          </a:p>
        </p:txBody>
      </p:sp>
      <p:sp>
        <p:nvSpPr>
          <p:cNvPr id="20" name="!!tl_dot_6"/>
          <p:cNvSpPr/>
          <p:nvPr/>
        </p:nvSpPr>
        <p:spPr>
          <a:xfrm>
            <a:off x="5438775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lbl_6_s0"/>
          <p:cNvSpPr txBox="1"/>
          <p:nvPr/>
        </p:nvSpPr>
        <p:spPr>
          <a:xfrm>
            <a:off x="5191125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Calibri"/>
              </a:rPr>
              <a:t>25.06.2026</a:t>
            </a:r>
          </a:p>
        </p:txBody>
      </p:sp>
      <p:sp>
        <p:nvSpPr>
          <p:cNvPr id="22" name="!!tl_dot_7"/>
          <p:cNvSpPr/>
          <p:nvPr/>
        </p:nvSpPr>
        <p:spPr>
          <a:xfrm>
            <a:off x="6343650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lbl_7_s0"/>
          <p:cNvSpPr txBox="1"/>
          <p:nvPr/>
        </p:nvSpPr>
        <p:spPr>
          <a:xfrm>
            <a:off x="6096000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Calibri"/>
              </a:rPr>
              <a:t>09.07.2026</a:t>
            </a:r>
          </a:p>
        </p:txBody>
      </p:sp>
      <p:sp>
        <p:nvSpPr>
          <p:cNvPr id="24" name="!!tl_dot_8"/>
          <p:cNvSpPr/>
          <p:nvPr/>
        </p:nvSpPr>
        <p:spPr>
          <a:xfrm>
            <a:off x="7248525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lbl_8_s0"/>
          <p:cNvSpPr txBox="1"/>
          <p:nvPr/>
        </p:nvSpPr>
        <p:spPr>
          <a:xfrm>
            <a:off x="7000875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Calibri"/>
              </a:rPr>
              <a:t>16.07.2026</a:t>
            </a:r>
          </a:p>
        </p:txBody>
      </p:sp>
      <p:sp>
        <p:nvSpPr>
          <p:cNvPr id="26" name="!!tl_dot_9"/>
          <p:cNvSpPr/>
          <p:nvPr/>
        </p:nvSpPr>
        <p:spPr>
          <a:xfrm>
            <a:off x="8153400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lbl_9_s0"/>
          <p:cNvSpPr txBox="1"/>
          <p:nvPr/>
        </p:nvSpPr>
        <p:spPr>
          <a:xfrm>
            <a:off x="7905750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Calibri"/>
              </a:rPr>
              <a:t>20.07.2026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_m1"/>
          <p:cNvSpPr txBox="1"/>
          <p:nvPr/>
        </p:nvSpPr>
        <p:spPr>
          <a:xfrm>
            <a:off x="457200" y="87474"/>
            <a:ext cx="8458200" cy="769776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/>
            <a:r>
              <a:rPr sz="1800" b="0">
                <a:solidFill>
                  <a:srgbClr val="808080"/>
                </a:solidFill>
                <a:latin typeface="Calibri"/>
              </a:rPr>
              <a:t>FL-Trilemma: Project Timeline</a:t>
            </a:r>
          </a:p>
        </p:txBody>
      </p:sp>
      <p:cxnSp>
        <p:nvCxnSpPr>
          <p:cNvPr id="4" name="divider_m1"/>
          <p:cNvCxnSpPr/>
          <p:nvPr/>
        </p:nvCxnSpPr>
        <p:spPr>
          <a:xfrm>
            <a:off x="571500" y="952500"/>
            <a:ext cx="8001000" cy="0"/>
          </a:xfrm>
          <a:prstGeom prst="line">
            <a:avLst/>
          </a:prstGeom>
          <a:ln w="9525">
            <a:solidFill>
              <a:srgbClr val="B3B3B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ontent_pill_m1"/>
          <p:cNvSpPr/>
          <p:nvPr/>
        </p:nvSpPr>
        <p:spPr>
          <a:xfrm>
            <a:off x="762000" y="3333750"/>
            <a:ext cx="825000" cy="188082"/>
          </a:xfrm>
          <a:prstGeom prst="roundRect">
            <a:avLst>
              <a:gd name="adj" fmla="val 50000"/>
            </a:avLst>
          </a:prstGeom>
          <a:solidFill>
            <a:srgbClr val="C9E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60000" tIns="0" rIns="60000" bIns="0" rtlCol="0" anchor="ctr"/>
          <a:lstStyle/>
          <a:p>
            <a:pPr algn="ctr"/>
            <a:r>
              <a:rPr sz="900" b="1">
                <a:solidFill>
                  <a:srgbClr val="325786"/>
                </a:solidFill>
                <a:latin typeface="Calibri"/>
              </a:rPr>
              <a:t>16.04.2026</a:t>
            </a:r>
          </a:p>
        </p:txBody>
      </p:sp>
      <p:sp>
        <p:nvSpPr>
          <p:cNvPr id="6" name="content_headline_m1"/>
          <p:cNvSpPr txBox="1"/>
          <p:nvPr/>
        </p:nvSpPr>
        <p:spPr>
          <a:xfrm>
            <a:off x="762000" y="3607501"/>
            <a:ext cx="5762625" cy="2393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F2023"/>
                </a:solidFill>
                <a:latin typeface="Calibri"/>
              </a:rPr>
              <a:t>Schedule &amp; Topic Distribution</a:t>
            </a:r>
          </a:p>
        </p:txBody>
      </p:sp>
      <p:sp>
        <p:nvSpPr>
          <p:cNvPr id="7" name="content_bullets_m1"/>
          <p:cNvSpPr txBox="1"/>
          <p:nvPr/>
        </p:nvSpPr>
        <p:spPr>
          <a:xfrm>
            <a:off x="762000" y="3884880"/>
            <a:ext cx="5762625" cy="1880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50" b="1">
                <a:solidFill>
                  <a:srgbClr val="C1212A"/>
                </a:solidFill>
                <a:latin typeface="Calibri"/>
              </a:rPr>
              <a:t>-  </a:t>
            </a:r>
            <a:r>
              <a:rPr sz="1050">
                <a:solidFill>
                  <a:srgbClr val="325786"/>
                </a:solidFill>
                <a:latin typeface="Calibri"/>
              </a:rPr>
              <a:t>Presentation of project schedule and topic distribution</a:t>
            </a:r>
          </a:p>
        </p:txBody>
      </p:sp>
      <p:sp>
        <p:nvSpPr>
          <p:cNvPr id="8" name="!!tl_track"/>
          <p:cNvSpPr/>
          <p:nvPr/>
        </p:nvSpPr>
        <p:spPr>
          <a:xfrm>
            <a:off x="952500" y="2847919"/>
            <a:ext cx="7239000" cy="18976"/>
          </a:xfrm>
          <a:prstGeom prst="roundRect">
            <a:avLst>
              <a:gd name="adj" fmla="val 50000"/>
            </a:avLst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!!tl_fill"/>
          <p:cNvSpPr/>
          <p:nvPr/>
        </p:nvSpPr>
        <p:spPr>
          <a:xfrm>
            <a:off x="952500" y="2847919"/>
            <a:ext cx="904875" cy="18976"/>
          </a:xfrm>
          <a:prstGeom prst="roundRect">
            <a:avLst>
              <a:gd name="adj" fmla="val 50000"/>
            </a:avLst>
          </a:prstGeom>
          <a:solidFill>
            <a:srgbClr val="3257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!!tl_dot_1"/>
          <p:cNvSpPr/>
          <p:nvPr/>
        </p:nvSpPr>
        <p:spPr>
          <a:xfrm>
            <a:off x="914400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lbl_1_s1"/>
          <p:cNvSpPr txBox="1"/>
          <p:nvPr/>
        </p:nvSpPr>
        <p:spPr>
          <a:xfrm>
            <a:off x="666750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Calibri"/>
              </a:rPr>
              <a:t>09.04.2026</a:t>
            </a:r>
          </a:p>
        </p:txBody>
      </p:sp>
      <p:sp>
        <p:nvSpPr>
          <p:cNvPr id="12" name="!!tl_dot_2"/>
          <p:cNvSpPr/>
          <p:nvPr/>
        </p:nvSpPr>
        <p:spPr>
          <a:xfrm>
            <a:off x="1790700" y="2790825"/>
            <a:ext cx="133350" cy="133350"/>
          </a:xfrm>
          <a:prstGeom prst="ellipse">
            <a:avLst/>
          </a:prstGeom>
          <a:solidFill>
            <a:srgbClr val="3257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lbl_2_s1"/>
          <p:cNvSpPr txBox="1"/>
          <p:nvPr/>
        </p:nvSpPr>
        <p:spPr>
          <a:xfrm>
            <a:off x="1571625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1F2023"/>
                </a:solidFill>
                <a:latin typeface="Calibri"/>
              </a:rPr>
              <a:t>16.04.2026</a:t>
            </a:r>
          </a:p>
        </p:txBody>
      </p:sp>
      <p:sp>
        <p:nvSpPr>
          <p:cNvPr id="14" name="!!tl_dot_3"/>
          <p:cNvSpPr/>
          <p:nvPr/>
        </p:nvSpPr>
        <p:spPr>
          <a:xfrm>
            <a:off x="2724150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lbl_3_s1"/>
          <p:cNvSpPr txBox="1"/>
          <p:nvPr/>
        </p:nvSpPr>
        <p:spPr>
          <a:xfrm>
            <a:off x="2476500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Calibri"/>
              </a:rPr>
              <a:t>30.04.2026</a:t>
            </a:r>
          </a:p>
        </p:txBody>
      </p:sp>
      <p:sp>
        <p:nvSpPr>
          <p:cNvPr id="16" name="!!tl_dot_4"/>
          <p:cNvSpPr/>
          <p:nvPr/>
        </p:nvSpPr>
        <p:spPr>
          <a:xfrm>
            <a:off x="3629025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lbl_4_s1"/>
          <p:cNvSpPr txBox="1"/>
          <p:nvPr/>
        </p:nvSpPr>
        <p:spPr>
          <a:xfrm>
            <a:off x="3381375" y="3009863"/>
            <a:ext cx="57150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 dirty="0">
                <a:solidFill>
                  <a:srgbClr val="9CA3AF"/>
                </a:solidFill>
                <a:latin typeface="Calibri"/>
              </a:rPr>
              <a:t>21.05.2026</a:t>
            </a:r>
          </a:p>
        </p:txBody>
      </p:sp>
      <p:sp>
        <p:nvSpPr>
          <p:cNvPr id="18" name="!!tl_dot_5"/>
          <p:cNvSpPr/>
          <p:nvPr/>
        </p:nvSpPr>
        <p:spPr>
          <a:xfrm>
            <a:off x="4533900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lbl_5_s1"/>
          <p:cNvSpPr txBox="1"/>
          <p:nvPr/>
        </p:nvSpPr>
        <p:spPr>
          <a:xfrm>
            <a:off x="4286250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Calibri"/>
              </a:rPr>
              <a:t>18.06.2026</a:t>
            </a:r>
          </a:p>
        </p:txBody>
      </p:sp>
      <p:sp>
        <p:nvSpPr>
          <p:cNvPr id="20" name="!!tl_dot_6"/>
          <p:cNvSpPr/>
          <p:nvPr/>
        </p:nvSpPr>
        <p:spPr>
          <a:xfrm>
            <a:off x="5438775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lbl_6_s1"/>
          <p:cNvSpPr txBox="1"/>
          <p:nvPr/>
        </p:nvSpPr>
        <p:spPr>
          <a:xfrm>
            <a:off x="5191125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Calibri"/>
              </a:rPr>
              <a:t>25.06.2026</a:t>
            </a:r>
          </a:p>
        </p:txBody>
      </p:sp>
      <p:sp>
        <p:nvSpPr>
          <p:cNvPr id="22" name="!!tl_dot_7"/>
          <p:cNvSpPr/>
          <p:nvPr/>
        </p:nvSpPr>
        <p:spPr>
          <a:xfrm>
            <a:off x="6343650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lbl_7_s1"/>
          <p:cNvSpPr txBox="1"/>
          <p:nvPr/>
        </p:nvSpPr>
        <p:spPr>
          <a:xfrm>
            <a:off x="6096000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Calibri"/>
              </a:rPr>
              <a:t>09.07.2026</a:t>
            </a:r>
          </a:p>
        </p:txBody>
      </p:sp>
      <p:sp>
        <p:nvSpPr>
          <p:cNvPr id="24" name="!!tl_dot_8"/>
          <p:cNvSpPr/>
          <p:nvPr/>
        </p:nvSpPr>
        <p:spPr>
          <a:xfrm>
            <a:off x="7248525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lbl_8_s1"/>
          <p:cNvSpPr txBox="1"/>
          <p:nvPr/>
        </p:nvSpPr>
        <p:spPr>
          <a:xfrm>
            <a:off x="7000875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Calibri"/>
              </a:rPr>
              <a:t>16.07.2026</a:t>
            </a:r>
          </a:p>
        </p:txBody>
      </p:sp>
      <p:sp>
        <p:nvSpPr>
          <p:cNvPr id="26" name="!!tl_dot_9"/>
          <p:cNvSpPr/>
          <p:nvPr/>
        </p:nvSpPr>
        <p:spPr>
          <a:xfrm>
            <a:off x="8153400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lbl_9_s1"/>
          <p:cNvSpPr txBox="1"/>
          <p:nvPr/>
        </p:nvSpPr>
        <p:spPr>
          <a:xfrm>
            <a:off x="7905750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Calibri"/>
              </a:rPr>
              <a:t>20.07.2026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_m2"/>
          <p:cNvSpPr txBox="1"/>
          <p:nvPr/>
        </p:nvSpPr>
        <p:spPr>
          <a:xfrm>
            <a:off x="457200" y="87474"/>
            <a:ext cx="8458200" cy="769776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/>
            <a:r>
              <a:rPr sz="1800" b="0">
                <a:solidFill>
                  <a:srgbClr val="808080"/>
                </a:solidFill>
                <a:latin typeface="Calibri"/>
              </a:rPr>
              <a:t>FL-Trilemma: Project Timeline</a:t>
            </a:r>
          </a:p>
        </p:txBody>
      </p:sp>
      <p:cxnSp>
        <p:nvCxnSpPr>
          <p:cNvPr id="4" name="divider_m2"/>
          <p:cNvCxnSpPr/>
          <p:nvPr/>
        </p:nvCxnSpPr>
        <p:spPr>
          <a:xfrm>
            <a:off x="571500" y="952500"/>
            <a:ext cx="8001000" cy="0"/>
          </a:xfrm>
          <a:prstGeom prst="line">
            <a:avLst/>
          </a:prstGeom>
          <a:ln w="9525">
            <a:solidFill>
              <a:srgbClr val="B3B3B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ontent_pill_m2"/>
          <p:cNvSpPr/>
          <p:nvPr/>
        </p:nvSpPr>
        <p:spPr>
          <a:xfrm>
            <a:off x="762000" y="1095375"/>
            <a:ext cx="825000" cy="188082"/>
          </a:xfrm>
          <a:prstGeom prst="roundRect">
            <a:avLst>
              <a:gd name="adj" fmla="val 50000"/>
            </a:avLst>
          </a:prstGeom>
          <a:solidFill>
            <a:srgbClr val="C9E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60000" tIns="0" rIns="60000" bIns="0" rtlCol="0" anchor="ctr"/>
          <a:lstStyle/>
          <a:p>
            <a:pPr algn="ctr"/>
            <a:r>
              <a:rPr sz="900" b="1">
                <a:solidFill>
                  <a:srgbClr val="325786"/>
                </a:solidFill>
                <a:latin typeface="Calibri"/>
              </a:rPr>
              <a:t>30.04.2026</a:t>
            </a:r>
          </a:p>
        </p:txBody>
      </p:sp>
      <p:sp>
        <p:nvSpPr>
          <p:cNvPr id="6" name="content_headline_m2"/>
          <p:cNvSpPr txBox="1"/>
          <p:nvPr/>
        </p:nvSpPr>
        <p:spPr>
          <a:xfrm>
            <a:off x="762000" y="1369126"/>
            <a:ext cx="5762625" cy="2393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F2023"/>
                </a:solidFill>
                <a:latin typeface="Calibri"/>
              </a:rPr>
              <a:t>Small Presentations on Potential Topics</a:t>
            </a:r>
          </a:p>
        </p:txBody>
      </p:sp>
      <p:sp>
        <p:nvSpPr>
          <p:cNvPr id="7" name="content_bullets_m2"/>
          <p:cNvSpPr txBox="1"/>
          <p:nvPr/>
        </p:nvSpPr>
        <p:spPr>
          <a:xfrm>
            <a:off x="762000" y="1646504"/>
            <a:ext cx="5762625" cy="3761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50" b="1">
                <a:solidFill>
                  <a:srgbClr val="C1212A"/>
                </a:solidFill>
                <a:latin typeface="Calibri"/>
              </a:rPr>
              <a:t>-  </a:t>
            </a:r>
            <a:r>
              <a:rPr sz="1050">
                <a:solidFill>
                  <a:srgbClr val="325786"/>
                </a:solidFill>
                <a:latin typeface="Calibri"/>
              </a:rPr>
              <a:t>DFL.tex - Security and Privacy Concerns in Federated Learning: An Introduction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C1212A"/>
                </a:solidFill>
                <a:latin typeface="Calibri"/>
              </a:rPr>
              <a:t>-  </a:t>
            </a:r>
            <a:r>
              <a:rPr sz="1050">
                <a:solidFill>
                  <a:srgbClr val="325786"/>
                </a:solidFill>
                <a:latin typeface="Calibri"/>
              </a:rPr>
              <a:t>SMPC.tex - Introduction to Secure Multi-Party Computation</a:t>
            </a:r>
          </a:p>
        </p:txBody>
      </p:sp>
      <p:sp>
        <p:nvSpPr>
          <p:cNvPr id="8" name="!!tl_track"/>
          <p:cNvSpPr/>
          <p:nvPr/>
        </p:nvSpPr>
        <p:spPr>
          <a:xfrm>
            <a:off x="952500" y="2847919"/>
            <a:ext cx="7239000" cy="18976"/>
          </a:xfrm>
          <a:prstGeom prst="roundRect">
            <a:avLst>
              <a:gd name="adj" fmla="val 50000"/>
            </a:avLst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!!tl_fill"/>
          <p:cNvSpPr/>
          <p:nvPr/>
        </p:nvSpPr>
        <p:spPr>
          <a:xfrm>
            <a:off x="952500" y="2847919"/>
            <a:ext cx="1809750" cy="18976"/>
          </a:xfrm>
          <a:prstGeom prst="roundRect">
            <a:avLst>
              <a:gd name="adj" fmla="val 50000"/>
            </a:avLst>
          </a:prstGeom>
          <a:solidFill>
            <a:srgbClr val="3257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!!tl_dot_1"/>
          <p:cNvSpPr/>
          <p:nvPr/>
        </p:nvSpPr>
        <p:spPr>
          <a:xfrm>
            <a:off x="914400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lbl_1_s2"/>
          <p:cNvSpPr txBox="1"/>
          <p:nvPr/>
        </p:nvSpPr>
        <p:spPr>
          <a:xfrm>
            <a:off x="666750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Calibri"/>
              </a:rPr>
              <a:t>09.04.2026</a:t>
            </a:r>
          </a:p>
        </p:txBody>
      </p:sp>
      <p:sp>
        <p:nvSpPr>
          <p:cNvPr id="12" name="!!tl_dot_2"/>
          <p:cNvSpPr/>
          <p:nvPr/>
        </p:nvSpPr>
        <p:spPr>
          <a:xfrm>
            <a:off x="1819275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lbl_2_s2"/>
          <p:cNvSpPr txBox="1"/>
          <p:nvPr/>
        </p:nvSpPr>
        <p:spPr>
          <a:xfrm>
            <a:off x="1571625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Calibri"/>
              </a:rPr>
              <a:t>16.04.2026</a:t>
            </a:r>
          </a:p>
        </p:txBody>
      </p:sp>
      <p:sp>
        <p:nvSpPr>
          <p:cNvPr id="14" name="!!tl_dot_3"/>
          <p:cNvSpPr/>
          <p:nvPr/>
        </p:nvSpPr>
        <p:spPr>
          <a:xfrm>
            <a:off x="2695575" y="2790825"/>
            <a:ext cx="133350" cy="133350"/>
          </a:xfrm>
          <a:prstGeom prst="ellipse">
            <a:avLst/>
          </a:prstGeom>
          <a:solidFill>
            <a:srgbClr val="3257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lbl_3_s2"/>
          <p:cNvSpPr txBox="1"/>
          <p:nvPr/>
        </p:nvSpPr>
        <p:spPr>
          <a:xfrm>
            <a:off x="2476500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1F2023"/>
                </a:solidFill>
                <a:latin typeface="Calibri"/>
              </a:rPr>
              <a:t>30.04.2026</a:t>
            </a:r>
          </a:p>
        </p:txBody>
      </p:sp>
      <p:sp>
        <p:nvSpPr>
          <p:cNvPr id="16" name="!!tl_dot_4"/>
          <p:cNvSpPr/>
          <p:nvPr/>
        </p:nvSpPr>
        <p:spPr>
          <a:xfrm>
            <a:off x="3629025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lbl_4_s2"/>
          <p:cNvSpPr txBox="1"/>
          <p:nvPr/>
        </p:nvSpPr>
        <p:spPr>
          <a:xfrm>
            <a:off x="3381375" y="3009863"/>
            <a:ext cx="57150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 dirty="0">
                <a:solidFill>
                  <a:srgbClr val="9CA3AF"/>
                </a:solidFill>
                <a:latin typeface="Calibri"/>
              </a:rPr>
              <a:t>21.05.2026</a:t>
            </a:r>
          </a:p>
        </p:txBody>
      </p:sp>
      <p:sp>
        <p:nvSpPr>
          <p:cNvPr id="18" name="!!tl_dot_5"/>
          <p:cNvSpPr/>
          <p:nvPr/>
        </p:nvSpPr>
        <p:spPr>
          <a:xfrm>
            <a:off x="4533900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lbl_5_s2"/>
          <p:cNvSpPr txBox="1"/>
          <p:nvPr/>
        </p:nvSpPr>
        <p:spPr>
          <a:xfrm>
            <a:off x="4286250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Calibri"/>
              </a:rPr>
              <a:t>18.06.2026</a:t>
            </a:r>
          </a:p>
        </p:txBody>
      </p:sp>
      <p:sp>
        <p:nvSpPr>
          <p:cNvPr id="20" name="!!tl_dot_6"/>
          <p:cNvSpPr/>
          <p:nvPr/>
        </p:nvSpPr>
        <p:spPr>
          <a:xfrm>
            <a:off x="5438775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lbl_6_s2"/>
          <p:cNvSpPr txBox="1"/>
          <p:nvPr/>
        </p:nvSpPr>
        <p:spPr>
          <a:xfrm>
            <a:off x="5191125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Calibri"/>
              </a:rPr>
              <a:t>25.06.2026</a:t>
            </a:r>
          </a:p>
        </p:txBody>
      </p:sp>
      <p:sp>
        <p:nvSpPr>
          <p:cNvPr id="22" name="!!tl_dot_7"/>
          <p:cNvSpPr/>
          <p:nvPr/>
        </p:nvSpPr>
        <p:spPr>
          <a:xfrm>
            <a:off x="6343650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lbl_7_s2"/>
          <p:cNvSpPr txBox="1"/>
          <p:nvPr/>
        </p:nvSpPr>
        <p:spPr>
          <a:xfrm>
            <a:off x="6096000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Calibri"/>
              </a:rPr>
              <a:t>09.07.2026</a:t>
            </a:r>
          </a:p>
        </p:txBody>
      </p:sp>
      <p:sp>
        <p:nvSpPr>
          <p:cNvPr id="24" name="!!tl_dot_8"/>
          <p:cNvSpPr/>
          <p:nvPr/>
        </p:nvSpPr>
        <p:spPr>
          <a:xfrm>
            <a:off x="7248525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lbl_8_s2"/>
          <p:cNvSpPr txBox="1"/>
          <p:nvPr/>
        </p:nvSpPr>
        <p:spPr>
          <a:xfrm>
            <a:off x="7000875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Calibri"/>
              </a:rPr>
              <a:t>16.07.2026</a:t>
            </a:r>
          </a:p>
        </p:txBody>
      </p:sp>
      <p:sp>
        <p:nvSpPr>
          <p:cNvPr id="26" name="!!tl_dot_9"/>
          <p:cNvSpPr/>
          <p:nvPr/>
        </p:nvSpPr>
        <p:spPr>
          <a:xfrm>
            <a:off x="8153400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lbl_9_s2"/>
          <p:cNvSpPr txBox="1"/>
          <p:nvPr/>
        </p:nvSpPr>
        <p:spPr>
          <a:xfrm>
            <a:off x="7905750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Calibri"/>
              </a:rPr>
              <a:t>20.07.2026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_m3"/>
          <p:cNvSpPr txBox="1"/>
          <p:nvPr/>
        </p:nvSpPr>
        <p:spPr>
          <a:xfrm>
            <a:off x="457200" y="87474"/>
            <a:ext cx="8458200" cy="769776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/>
            <a:r>
              <a:rPr sz="1800" b="0">
                <a:solidFill>
                  <a:srgbClr val="808080"/>
                </a:solidFill>
                <a:latin typeface="Calibri"/>
              </a:rPr>
              <a:t>FL-Trilemma: Project Timeline</a:t>
            </a:r>
          </a:p>
        </p:txBody>
      </p:sp>
      <p:cxnSp>
        <p:nvCxnSpPr>
          <p:cNvPr id="4" name="divider_m3"/>
          <p:cNvCxnSpPr/>
          <p:nvPr/>
        </p:nvCxnSpPr>
        <p:spPr>
          <a:xfrm>
            <a:off x="571500" y="952500"/>
            <a:ext cx="8001000" cy="0"/>
          </a:xfrm>
          <a:prstGeom prst="line">
            <a:avLst/>
          </a:prstGeom>
          <a:ln w="9525">
            <a:solidFill>
              <a:srgbClr val="B3B3B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ontent_pill_m3"/>
          <p:cNvSpPr/>
          <p:nvPr/>
        </p:nvSpPr>
        <p:spPr>
          <a:xfrm>
            <a:off x="762000" y="3333750"/>
            <a:ext cx="825000" cy="188082"/>
          </a:xfrm>
          <a:prstGeom prst="roundRect">
            <a:avLst>
              <a:gd name="adj" fmla="val 50000"/>
            </a:avLst>
          </a:prstGeom>
          <a:solidFill>
            <a:srgbClr val="C9E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60000" tIns="0" rIns="60000" bIns="0" rtlCol="0" anchor="ctr"/>
          <a:lstStyle/>
          <a:p>
            <a:pPr algn="ctr"/>
            <a:r>
              <a:rPr sz="900" b="1" dirty="0">
                <a:solidFill>
                  <a:srgbClr val="325786"/>
                </a:solidFill>
                <a:latin typeface="Calibri"/>
              </a:rPr>
              <a:t>21.05.2026</a:t>
            </a:r>
          </a:p>
        </p:txBody>
      </p:sp>
      <p:sp>
        <p:nvSpPr>
          <p:cNvPr id="6" name="content_headline_m3"/>
          <p:cNvSpPr txBox="1"/>
          <p:nvPr/>
        </p:nvSpPr>
        <p:spPr>
          <a:xfrm>
            <a:off x="762000" y="3607501"/>
            <a:ext cx="5762625" cy="2393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F2023"/>
                </a:solidFill>
                <a:latin typeface="Calibri"/>
              </a:rPr>
              <a:t>Lock-in: FL Trilemma</a:t>
            </a:r>
          </a:p>
        </p:txBody>
      </p:sp>
      <p:sp>
        <p:nvSpPr>
          <p:cNvPr id="7" name="content_bullets_m3"/>
          <p:cNvSpPr txBox="1"/>
          <p:nvPr/>
        </p:nvSpPr>
        <p:spPr>
          <a:xfrm>
            <a:off x="762000" y="3884880"/>
            <a:ext cx="5762625" cy="3761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50" b="1">
                <a:solidFill>
                  <a:srgbClr val="C1212A"/>
                </a:solidFill>
                <a:latin typeface="Calibri"/>
              </a:rPr>
              <a:t>-  </a:t>
            </a:r>
            <a:r>
              <a:rPr sz="1050">
                <a:solidFill>
                  <a:srgbClr val="325786"/>
                </a:solidFill>
                <a:latin typeface="Calibri"/>
              </a:rPr>
              <a:t>Theoretical understanding of the problem space</a:t>
            </a:r>
          </a:p>
          <a:p>
            <a:pPr>
              <a:spcAft>
                <a:spcPts val="600"/>
              </a:spcAft>
            </a:pPr>
            <a:r>
              <a:rPr sz="1050" b="1">
                <a:solidFill>
                  <a:srgbClr val="C1212A"/>
                </a:solidFill>
                <a:latin typeface="Calibri"/>
              </a:rPr>
              <a:t>-  </a:t>
            </a:r>
            <a:r>
              <a:rPr sz="1050">
                <a:solidFill>
                  <a:srgbClr val="325786"/>
                </a:solidFill>
                <a:latin typeface="Calibri"/>
              </a:rPr>
              <a:t>Robust aggregation landscape reviewed: FLTrust, Krum, Trimmed Mean</a:t>
            </a:r>
          </a:p>
        </p:txBody>
      </p:sp>
      <p:sp>
        <p:nvSpPr>
          <p:cNvPr id="8" name="!!tl_track"/>
          <p:cNvSpPr/>
          <p:nvPr/>
        </p:nvSpPr>
        <p:spPr>
          <a:xfrm>
            <a:off x="952500" y="2847919"/>
            <a:ext cx="7239000" cy="18976"/>
          </a:xfrm>
          <a:prstGeom prst="roundRect">
            <a:avLst>
              <a:gd name="adj" fmla="val 50000"/>
            </a:avLst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!!tl_fill"/>
          <p:cNvSpPr/>
          <p:nvPr/>
        </p:nvSpPr>
        <p:spPr>
          <a:xfrm>
            <a:off x="952500" y="2847919"/>
            <a:ext cx="2714625" cy="18976"/>
          </a:xfrm>
          <a:prstGeom prst="roundRect">
            <a:avLst>
              <a:gd name="adj" fmla="val 50000"/>
            </a:avLst>
          </a:prstGeom>
          <a:solidFill>
            <a:srgbClr val="3257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!!tl_dot_1"/>
          <p:cNvSpPr/>
          <p:nvPr/>
        </p:nvSpPr>
        <p:spPr>
          <a:xfrm>
            <a:off x="914400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lbl_1_s3"/>
          <p:cNvSpPr txBox="1"/>
          <p:nvPr/>
        </p:nvSpPr>
        <p:spPr>
          <a:xfrm>
            <a:off x="666750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Calibri"/>
              </a:rPr>
              <a:t>09.04.2026</a:t>
            </a:r>
          </a:p>
        </p:txBody>
      </p:sp>
      <p:sp>
        <p:nvSpPr>
          <p:cNvPr id="12" name="!!tl_dot_2"/>
          <p:cNvSpPr/>
          <p:nvPr/>
        </p:nvSpPr>
        <p:spPr>
          <a:xfrm>
            <a:off x="1819275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lbl_2_s3"/>
          <p:cNvSpPr txBox="1"/>
          <p:nvPr/>
        </p:nvSpPr>
        <p:spPr>
          <a:xfrm>
            <a:off x="1571625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Calibri"/>
              </a:rPr>
              <a:t>16.04.2026</a:t>
            </a:r>
          </a:p>
        </p:txBody>
      </p:sp>
      <p:sp>
        <p:nvSpPr>
          <p:cNvPr id="14" name="!!tl_dot_3"/>
          <p:cNvSpPr/>
          <p:nvPr/>
        </p:nvSpPr>
        <p:spPr>
          <a:xfrm>
            <a:off x="2724150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lbl_3_s3"/>
          <p:cNvSpPr txBox="1"/>
          <p:nvPr/>
        </p:nvSpPr>
        <p:spPr>
          <a:xfrm>
            <a:off x="2476500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Calibri"/>
              </a:rPr>
              <a:t>30.04.2026</a:t>
            </a:r>
          </a:p>
        </p:txBody>
      </p:sp>
      <p:sp>
        <p:nvSpPr>
          <p:cNvPr id="16" name="!!tl_dot_4"/>
          <p:cNvSpPr/>
          <p:nvPr/>
        </p:nvSpPr>
        <p:spPr>
          <a:xfrm>
            <a:off x="3600450" y="2790825"/>
            <a:ext cx="133350" cy="133350"/>
          </a:xfrm>
          <a:prstGeom prst="ellipse">
            <a:avLst/>
          </a:prstGeom>
          <a:solidFill>
            <a:srgbClr val="3257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lbl_4_s3"/>
          <p:cNvSpPr txBox="1"/>
          <p:nvPr/>
        </p:nvSpPr>
        <p:spPr>
          <a:xfrm>
            <a:off x="3381375" y="3009863"/>
            <a:ext cx="57150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 dirty="0">
                <a:solidFill>
                  <a:srgbClr val="1F2023"/>
                </a:solidFill>
                <a:latin typeface="Calibri"/>
              </a:rPr>
              <a:t>21.05.2026</a:t>
            </a:r>
          </a:p>
        </p:txBody>
      </p:sp>
      <p:sp>
        <p:nvSpPr>
          <p:cNvPr id="18" name="!!tl_dot_5"/>
          <p:cNvSpPr/>
          <p:nvPr/>
        </p:nvSpPr>
        <p:spPr>
          <a:xfrm>
            <a:off x="4533900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lbl_5_s3"/>
          <p:cNvSpPr txBox="1"/>
          <p:nvPr/>
        </p:nvSpPr>
        <p:spPr>
          <a:xfrm>
            <a:off x="4286250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Calibri"/>
              </a:rPr>
              <a:t>18.06.2026</a:t>
            </a:r>
          </a:p>
        </p:txBody>
      </p:sp>
      <p:sp>
        <p:nvSpPr>
          <p:cNvPr id="20" name="!!tl_dot_6"/>
          <p:cNvSpPr/>
          <p:nvPr/>
        </p:nvSpPr>
        <p:spPr>
          <a:xfrm>
            <a:off x="5438775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lbl_6_s3"/>
          <p:cNvSpPr txBox="1"/>
          <p:nvPr/>
        </p:nvSpPr>
        <p:spPr>
          <a:xfrm>
            <a:off x="5191125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Calibri"/>
              </a:rPr>
              <a:t>25.06.2026</a:t>
            </a:r>
          </a:p>
        </p:txBody>
      </p:sp>
      <p:sp>
        <p:nvSpPr>
          <p:cNvPr id="22" name="!!tl_dot_7"/>
          <p:cNvSpPr/>
          <p:nvPr/>
        </p:nvSpPr>
        <p:spPr>
          <a:xfrm>
            <a:off x="6343650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lbl_7_s3"/>
          <p:cNvSpPr txBox="1"/>
          <p:nvPr/>
        </p:nvSpPr>
        <p:spPr>
          <a:xfrm>
            <a:off x="6096000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Calibri"/>
              </a:rPr>
              <a:t>09.07.2026</a:t>
            </a:r>
          </a:p>
        </p:txBody>
      </p:sp>
      <p:sp>
        <p:nvSpPr>
          <p:cNvPr id="24" name="!!tl_dot_8"/>
          <p:cNvSpPr/>
          <p:nvPr/>
        </p:nvSpPr>
        <p:spPr>
          <a:xfrm>
            <a:off x="7248525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lbl_8_s3"/>
          <p:cNvSpPr txBox="1"/>
          <p:nvPr/>
        </p:nvSpPr>
        <p:spPr>
          <a:xfrm>
            <a:off x="7000875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Calibri"/>
              </a:rPr>
              <a:t>16.07.2026</a:t>
            </a:r>
          </a:p>
        </p:txBody>
      </p:sp>
      <p:sp>
        <p:nvSpPr>
          <p:cNvPr id="26" name="!!tl_dot_9"/>
          <p:cNvSpPr/>
          <p:nvPr/>
        </p:nvSpPr>
        <p:spPr>
          <a:xfrm>
            <a:off x="8153400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lbl_9_s3"/>
          <p:cNvSpPr txBox="1"/>
          <p:nvPr/>
        </p:nvSpPr>
        <p:spPr>
          <a:xfrm>
            <a:off x="7905750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Calibri"/>
              </a:rPr>
              <a:t>20.07.2026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_m4"/>
          <p:cNvSpPr txBox="1"/>
          <p:nvPr/>
        </p:nvSpPr>
        <p:spPr>
          <a:xfrm>
            <a:off x="457200" y="87474"/>
            <a:ext cx="8458200" cy="769776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/>
            <a:r>
              <a:rPr sz="1800" b="0">
                <a:solidFill>
                  <a:srgbClr val="808080"/>
                </a:solidFill>
                <a:latin typeface="Calibri"/>
              </a:rPr>
              <a:t>FL-Trilemma: Project Timeline</a:t>
            </a:r>
          </a:p>
        </p:txBody>
      </p:sp>
      <p:cxnSp>
        <p:nvCxnSpPr>
          <p:cNvPr id="4" name="divider_m4"/>
          <p:cNvCxnSpPr/>
          <p:nvPr/>
        </p:nvCxnSpPr>
        <p:spPr>
          <a:xfrm>
            <a:off x="571500" y="952500"/>
            <a:ext cx="8001000" cy="0"/>
          </a:xfrm>
          <a:prstGeom prst="line">
            <a:avLst/>
          </a:prstGeom>
          <a:ln w="9525">
            <a:solidFill>
              <a:srgbClr val="B3B3B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ontent_placeholder_m4"/>
          <p:cNvSpPr/>
          <p:nvPr/>
        </p:nvSpPr>
        <p:spPr>
          <a:xfrm>
            <a:off x="762000" y="1095375"/>
            <a:ext cx="1619250" cy="1047750"/>
          </a:xfrm>
          <a:prstGeom prst="roundRect">
            <a:avLst>
              <a:gd name="adj" fmla="val 6000"/>
            </a:avLst>
          </a:prstGeom>
          <a:solidFill>
            <a:srgbClr val="EDEEF0"/>
          </a:solidFill>
          <a:ln w="9525">
            <a:solidFill>
              <a:srgbClr val="E5E7E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0000" rIns="120000" rtlCol="0" anchor="ctr"/>
          <a:lstStyle/>
          <a:p>
            <a:pPr algn="ctr"/>
            <a:r>
              <a:rPr sz="550">
                <a:solidFill>
                  <a:srgbClr val="9CA3AF"/>
                </a:solidFill>
                <a:latin typeface="Consolas"/>
              </a:rPr>
              <a:t>INTERIM PRESENTATION 1 - SLIDES</a:t>
            </a:r>
          </a:p>
        </p:txBody>
      </p:sp>
      <p:sp>
        <p:nvSpPr>
          <p:cNvPr id="6" name="content_pill_m4"/>
          <p:cNvSpPr/>
          <p:nvPr/>
        </p:nvSpPr>
        <p:spPr>
          <a:xfrm>
            <a:off x="2571750" y="1095375"/>
            <a:ext cx="825000" cy="188082"/>
          </a:xfrm>
          <a:prstGeom prst="roundRect">
            <a:avLst>
              <a:gd name="adj" fmla="val 50000"/>
            </a:avLst>
          </a:prstGeom>
          <a:solidFill>
            <a:srgbClr val="C9E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60000" tIns="0" rIns="60000" bIns="0" rtlCol="0" anchor="ctr"/>
          <a:lstStyle/>
          <a:p>
            <a:pPr algn="ctr"/>
            <a:r>
              <a:rPr sz="900" b="1">
                <a:solidFill>
                  <a:srgbClr val="325786"/>
                </a:solidFill>
                <a:latin typeface="Calibri"/>
              </a:rPr>
              <a:t>18.06.2026</a:t>
            </a:r>
          </a:p>
        </p:txBody>
      </p:sp>
      <p:sp>
        <p:nvSpPr>
          <p:cNvPr id="7" name="content_headline_m4"/>
          <p:cNvSpPr txBox="1"/>
          <p:nvPr/>
        </p:nvSpPr>
        <p:spPr>
          <a:xfrm>
            <a:off x="2571750" y="1369126"/>
            <a:ext cx="5000625" cy="2393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F2023"/>
                </a:solidFill>
                <a:latin typeface="Calibri"/>
              </a:rPr>
              <a:t>Interim Presentation 1</a:t>
            </a:r>
          </a:p>
        </p:txBody>
      </p:sp>
      <p:sp>
        <p:nvSpPr>
          <p:cNvPr id="8" name="content_bullets_m4"/>
          <p:cNvSpPr txBox="1"/>
          <p:nvPr/>
        </p:nvSpPr>
        <p:spPr>
          <a:xfrm>
            <a:off x="2571750" y="1637017"/>
            <a:ext cx="5000625" cy="1880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975" b="1">
                <a:solidFill>
                  <a:srgbClr val="C1212A"/>
                </a:solidFill>
                <a:latin typeface="Calibri"/>
              </a:rPr>
              <a:t>-  </a:t>
            </a:r>
            <a:r>
              <a:rPr sz="975">
                <a:solidFill>
                  <a:srgbClr val="325786"/>
                </a:solidFill>
                <a:latin typeface="Calibri"/>
              </a:rPr>
              <a:t>First code foundation building up (MNIST, Flower)</a:t>
            </a:r>
          </a:p>
        </p:txBody>
      </p:sp>
      <p:sp>
        <p:nvSpPr>
          <p:cNvPr id="9" name="!!tl_track"/>
          <p:cNvSpPr/>
          <p:nvPr/>
        </p:nvSpPr>
        <p:spPr>
          <a:xfrm>
            <a:off x="952500" y="2847919"/>
            <a:ext cx="7239000" cy="18976"/>
          </a:xfrm>
          <a:prstGeom prst="roundRect">
            <a:avLst>
              <a:gd name="adj" fmla="val 50000"/>
            </a:avLst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!!tl_fill"/>
          <p:cNvSpPr/>
          <p:nvPr/>
        </p:nvSpPr>
        <p:spPr>
          <a:xfrm>
            <a:off x="952500" y="2847919"/>
            <a:ext cx="3619500" cy="18976"/>
          </a:xfrm>
          <a:prstGeom prst="roundRect">
            <a:avLst>
              <a:gd name="adj" fmla="val 50000"/>
            </a:avLst>
          </a:prstGeom>
          <a:solidFill>
            <a:srgbClr val="3257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!!tl_dot_1"/>
          <p:cNvSpPr/>
          <p:nvPr/>
        </p:nvSpPr>
        <p:spPr>
          <a:xfrm>
            <a:off x="914400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lbl_1_s4"/>
          <p:cNvSpPr txBox="1"/>
          <p:nvPr/>
        </p:nvSpPr>
        <p:spPr>
          <a:xfrm>
            <a:off x="666750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Calibri"/>
              </a:rPr>
              <a:t>09.04.2026</a:t>
            </a:r>
          </a:p>
        </p:txBody>
      </p:sp>
      <p:sp>
        <p:nvSpPr>
          <p:cNvPr id="13" name="!!tl_dot_2"/>
          <p:cNvSpPr/>
          <p:nvPr/>
        </p:nvSpPr>
        <p:spPr>
          <a:xfrm>
            <a:off x="1819275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lbl_2_s4"/>
          <p:cNvSpPr txBox="1"/>
          <p:nvPr/>
        </p:nvSpPr>
        <p:spPr>
          <a:xfrm>
            <a:off x="1571625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Calibri"/>
              </a:rPr>
              <a:t>16.04.2026</a:t>
            </a:r>
          </a:p>
        </p:txBody>
      </p:sp>
      <p:sp>
        <p:nvSpPr>
          <p:cNvPr id="15" name="!!tl_dot_3"/>
          <p:cNvSpPr/>
          <p:nvPr/>
        </p:nvSpPr>
        <p:spPr>
          <a:xfrm>
            <a:off x="2724150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lbl_3_s4"/>
          <p:cNvSpPr txBox="1"/>
          <p:nvPr/>
        </p:nvSpPr>
        <p:spPr>
          <a:xfrm>
            <a:off x="2476500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Calibri"/>
              </a:rPr>
              <a:t>30.04.2026</a:t>
            </a:r>
          </a:p>
        </p:txBody>
      </p:sp>
      <p:sp>
        <p:nvSpPr>
          <p:cNvPr id="17" name="!!tl_dot_4"/>
          <p:cNvSpPr/>
          <p:nvPr/>
        </p:nvSpPr>
        <p:spPr>
          <a:xfrm>
            <a:off x="3629025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lbl_4_s4"/>
          <p:cNvSpPr txBox="1"/>
          <p:nvPr/>
        </p:nvSpPr>
        <p:spPr>
          <a:xfrm>
            <a:off x="3381375" y="3009863"/>
            <a:ext cx="57150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 dirty="0">
                <a:solidFill>
                  <a:srgbClr val="9CA3AF"/>
                </a:solidFill>
                <a:latin typeface="Calibri"/>
              </a:rPr>
              <a:t>21.05.2026</a:t>
            </a:r>
          </a:p>
        </p:txBody>
      </p:sp>
      <p:sp>
        <p:nvSpPr>
          <p:cNvPr id="19" name="!!tl_dot_5"/>
          <p:cNvSpPr/>
          <p:nvPr/>
        </p:nvSpPr>
        <p:spPr>
          <a:xfrm>
            <a:off x="4505325" y="2790825"/>
            <a:ext cx="133350" cy="133350"/>
          </a:xfrm>
          <a:prstGeom prst="ellipse">
            <a:avLst/>
          </a:prstGeom>
          <a:solidFill>
            <a:srgbClr val="3257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lbl_5_s4"/>
          <p:cNvSpPr txBox="1"/>
          <p:nvPr/>
        </p:nvSpPr>
        <p:spPr>
          <a:xfrm>
            <a:off x="4286250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1F2023"/>
                </a:solidFill>
                <a:latin typeface="Calibri"/>
              </a:rPr>
              <a:t>18.06.2026</a:t>
            </a:r>
          </a:p>
        </p:txBody>
      </p:sp>
      <p:sp>
        <p:nvSpPr>
          <p:cNvPr id="21" name="!!tl_dot_6"/>
          <p:cNvSpPr/>
          <p:nvPr/>
        </p:nvSpPr>
        <p:spPr>
          <a:xfrm>
            <a:off x="5438775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lbl_6_s4"/>
          <p:cNvSpPr txBox="1"/>
          <p:nvPr/>
        </p:nvSpPr>
        <p:spPr>
          <a:xfrm>
            <a:off x="5191125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Calibri"/>
              </a:rPr>
              <a:t>25.06.2026</a:t>
            </a:r>
          </a:p>
        </p:txBody>
      </p:sp>
      <p:sp>
        <p:nvSpPr>
          <p:cNvPr id="23" name="!!tl_dot_7"/>
          <p:cNvSpPr/>
          <p:nvPr/>
        </p:nvSpPr>
        <p:spPr>
          <a:xfrm>
            <a:off x="6343650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lbl_7_s4"/>
          <p:cNvSpPr txBox="1"/>
          <p:nvPr/>
        </p:nvSpPr>
        <p:spPr>
          <a:xfrm>
            <a:off x="6096000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Calibri"/>
              </a:rPr>
              <a:t>09.07.2026</a:t>
            </a:r>
          </a:p>
        </p:txBody>
      </p:sp>
      <p:sp>
        <p:nvSpPr>
          <p:cNvPr id="25" name="!!tl_dot_8"/>
          <p:cNvSpPr/>
          <p:nvPr/>
        </p:nvSpPr>
        <p:spPr>
          <a:xfrm>
            <a:off x="7248525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lbl_8_s4"/>
          <p:cNvSpPr txBox="1"/>
          <p:nvPr/>
        </p:nvSpPr>
        <p:spPr>
          <a:xfrm>
            <a:off x="7000875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Calibri"/>
              </a:rPr>
              <a:t>16.07.2026</a:t>
            </a:r>
          </a:p>
        </p:txBody>
      </p:sp>
      <p:sp>
        <p:nvSpPr>
          <p:cNvPr id="27" name="!!tl_dot_9"/>
          <p:cNvSpPr/>
          <p:nvPr/>
        </p:nvSpPr>
        <p:spPr>
          <a:xfrm>
            <a:off x="8153400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lbl_9_s4"/>
          <p:cNvSpPr txBox="1"/>
          <p:nvPr/>
        </p:nvSpPr>
        <p:spPr>
          <a:xfrm>
            <a:off x="7905750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Calibri"/>
              </a:rPr>
              <a:t>20.07.2026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_m5"/>
          <p:cNvSpPr txBox="1"/>
          <p:nvPr/>
        </p:nvSpPr>
        <p:spPr>
          <a:xfrm>
            <a:off x="457200" y="87474"/>
            <a:ext cx="8458200" cy="769776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/>
            <a:r>
              <a:rPr sz="1800" b="0">
                <a:solidFill>
                  <a:srgbClr val="808080"/>
                </a:solidFill>
                <a:latin typeface="Calibri"/>
              </a:rPr>
              <a:t>FL-Trilemma: Project Timeline</a:t>
            </a:r>
          </a:p>
        </p:txBody>
      </p:sp>
      <p:cxnSp>
        <p:nvCxnSpPr>
          <p:cNvPr id="4" name="divider_m5"/>
          <p:cNvCxnSpPr/>
          <p:nvPr/>
        </p:nvCxnSpPr>
        <p:spPr>
          <a:xfrm>
            <a:off x="571500" y="952500"/>
            <a:ext cx="8001000" cy="0"/>
          </a:xfrm>
          <a:prstGeom prst="line">
            <a:avLst/>
          </a:prstGeom>
          <a:ln w="9525">
            <a:solidFill>
              <a:srgbClr val="B3B3B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ontent_placeholder_m5"/>
          <p:cNvSpPr/>
          <p:nvPr/>
        </p:nvSpPr>
        <p:spPr>
          <a:xfrm>
            <a:off x="762000" y="3333750"/>
            <a:ext cx="1619250" cy="1047750"/>
          </a:xfrm>
          <a:prstGeom prst="roundRect">
            <a:avLst>
              <a:gd name="adj" fmla="val 6000"/>
            </a:avLst>
          </a:prstGeom>
          <a:solidFill>
            <a:srgbClr val="EDEEF0"/>
          </a:solidFill>
          <a:ln w="9525">
            <a:solidFill>
              <a:srgbClr val="E5E7E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0000" rIns="120000" rtlCol="0" anchor="ctr"/>
          <a:lstStyle/>
          <a:p>
            <a:pPr algn="ctr"/>
            <a:r>
              <a:rPr sz="550">
                <a:solidFill>
                  <a:srgbClr val="9CA3AF"/>
                </a:solidFill>
                <a:latin typeface="Consolas"/>
              </a:rPr>
              <a:t>INTERIM PRESENTATION 2 - SLIDES</a:t>
            </a:r>
          </a:p>
        </p:txBody>
      </p:sp>
      <p:sp>
        <p:nvSpPr>
          <p:cNvPr id="6" name="content_pill_m5"/>
          <p:cNvSpPr/>
          <p:nvPr/>
        </p:nvSpPr>
        <p:spPr>
          <a:xfrm>
            <a:off x="2571750" y="3333750"/>
            <a:ext cx="825000" cy="188082"/>
          </a:xfrm>
          <a:prstGeom prst="roundRect">
            <a:avLst>
              <a:gd name="adj" fmla="val 50000"/>
            </a:avLst>
          </a:prstGeom>
          <a:solidFill>
            <a:srgbClr val="C9E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60000" tIns="0" rIns="60000" bIns="0" rtlCol="0" anchor="ctr"/>
          <a:lstStyle/>
          <a:p>
            <a:pPr algn="ctr"/>
            <a:r>
              <a:rPr sz="900" b="1">
                <a:solidFill>
                  <a:srgbClr val="325786"/>
                </a:solidFill>
                <a:latin typeface="Calibri"/>
              </a:rPr>
              <a:t>25.06.2026</a:t>
            </a:r>
          </a:p>
        </p:txBody>
      </p:sp>
      <p:sp>
        <p:nvSpPr>
          <p:cNvPr id="7" name="content_headline_m5"/>
          <p:cNvSpPr txBox="1"/>
          <p:nvPr/>
        </p:nvSpPr>
        <p:spPr>
          <a:xfrm>
            <a:off x="2571750" y="3607501"/>
            <a:ext cx="5000625" cy="2393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F2023"/>
                </a:solidFill>
                <a:latin typeface="Calibri"/>
              </a:rPr>
              <a:t>Interim Presentation 2</a:t>
            </a:r>
          </a:p>
        </p:txBody>
      </p:sp>
      <p:sp>
        <p:nvSpPr>
          <p:cNvPr id="8" name="content_bullets_m5"/>
          <p:cNvSpPr txBox="1"/>
          <p:nvPr/>
        </p:nvSpPr>
        <p:spPr>
          <a:xfrm>
            <a:off x="2571750" y="3875392"/>
            <a:ext cx="5000625" cy="3761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975" b="1">
                <a:solidFill>
                  <a:srgbClr val="C1212A"/>
                </a:solidFill>
                <a:latin typeface="Calibri"/>
              </a:rPr>
              <a:t>-  </a:t>
            </a:r>
            <a:r>
              <a:rPr sz="975">
                <a:solidFill>
                  <a:srgbClr val="325786"/>
                </a:solidFill>
                <a:latin typeface="Calibri"/>
              </a:rPr>
              <a:t>Mechanisms implemented albeit partly flawed (DP, FLTrust, TopK)</a:t>
            </a:r>
          </a:p>
          <a:p>
            <a:pPr>
              <a:spcAft>
                <a:spcPts val="600"/>
              </a:spcAft>
            </a:pPr>
            <a:r>
              <a:rPr sz="975" b="1">
                <a:solidFill>
                  <a:srgbClr val="C1212A"/>
                </a:solidFill>
                <a:latin typeface="Calibri"/>
              </a:rPr>
              <a:t>-  </a:t>
            </a:r>
            <a:r>
              <a:rPr sz="975">
                <a:solidFill>
                  <a:srgbClr val="325786"/>
                </a:solidFill>
                <a:latin typeface="Calibri"/>
              </a:rPr>
              <a:t>Testing extremely slow due to missing resources</a:t>
            </a:r>
          </a:p>
        </p:txBody>
      </p:sp>
      <p:sp>
        <p:nvSpPr>
          <p:cNvPr id="9" name="!!tl_track"/>
          <p:cNvSpPr/>
          <p:nvPr/>
        </p:nvSpPr>
        <p:spPr>
          <a:xfrm>
            <a:off x="952500" y="2847919"/>
            <a:ext cx="7239000" cy="18976"/>
          </a:xfrm>
          <a:prstGeom prst="roundRect">
            <a:avLst>
              <a:gd name="adj" fmla="val 50000"/>
            </a:avLst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!!tl_fill"/>
          <p:cNvSpPr/>
          <p:nvPr/>
        </p:nvSpPr>
        <p:spPr>
          <a:xfrm>
            <a:off x="952500" y="2847919"/>
            <a:ext cx="4524375" cy="18976"/>
          </a:xfrm>
          <a:prstGeom prst="roundRect">
            <a:avLst>
              <a:gd name="adj" fmla="val 50000"/>
            </a:avLst>
          </a:prstGeom>
          <a:solidFill>
            <a:srgbClr val="3257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!!tl_dot_1"/>
          <p:cNvSpPr/>
          <p:nvPr/>
        </p:nvSpPr>
        <p:spPr>
          <a:xfrm>
            <a:off x="914400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lbl_1_s5"/>
          <p:cNvSpPr txBox="1"/>
          <p:nvPr/>
        </p:nvSpPr>
        <p:spPr>
          <a:xfrm>
            <a:off x="666750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Calibri"/>
              </a:rPr>
              <a:t>09.04.2026</a:t>
            </a:r>
          </a:p>
        </p:txBody>
      </p:sp>
      <p:sp>
        <p:nvSpPr>
          <p:cNvPr id="13" name="!!tl_dot_2"/>
          <p:cNvSpPr/>
          <p:nvPr/>
        </p:nvSpPr>
        <p:spPr>
          <a:xfrm>
            <a:off x="1819275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lbl_2_s5"/>
          <p:cNvSpPr txBox="1"/>
          <p:nvPr/>
        </p:nvSpPr>
        <p:spPr>
          <a:xfrm>
            <a:off x="1571625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Calibri"/>
              </a:rPr>
              <a:t>16.04.2026</a:t>
            </a:r>
          </a:p>
        </p:txBody>
      </p:sp>
      <p:sp>
        <p:nvSpPr>
          <p:cNvPr id="15" name="!!tl_dot_3"/>
          <p:cNvSpPr/>
          <p:nvPr/>
        </p:nvSpPr>
        <p:spPr>
          <a:xfrm>
            <a:off x="2724150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lbl_3_s5"/>
          <p:cNvSpPr txBox="1"/>
          <p:nvPr/>
        </p:nvSpPr>
        <p:spPr>
          <a:xfrm>
            <a:off x="2476500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Calibri"/>
              </a:rPr>
              <a:t>30.04.2026</a:t>
            </a:r>
          </a:p>
        </p:txBody>
      </p:sp>
      <p:sp>
        <p:nvSpPr>
          <p:cNvPr id="17" name="!!tl_dot_4"/>
          <p:cNvSpPr/>
          <p:nvPr/>
        </p:nvSpPr>
        <p:spPr>
          <a:xfrm>
            <a:off x="3629025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lbl_4_s5"/>
          <p:cNvSpPr txBox="1"/>
          <p:nvPr/>
        </p:nvSpPr>
        <p:spPr>
          <a:xfrm>
            <a:off x="3381375" y="3009863"/>
            <a:ext cx="57150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 dirty="0">
                <a:solidFill>
                  <a:srgbClr val="9CA3AF"/>
                </a:solidFill>
                <a:latin typeface="Calibri"/>
              </a:rPr>
              <a:t>21.05.2026</a:t>
            </a:r>
          </a:p>
        </p:txBody>
      </p:sp>
      <p:sp>
        <p:nvSpPr>
          <p:cNvPr id="19" name="!!tl_dot_5"/>
          <p:cNvSpPr/>
          <p:nvPr/>
        </p:nvSpPr>
        <p:spPr>
          <a:xfrm>
            <a:off x="4533900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lbl_5_s5"/>
          <p:cNvSpPr txBox="1"/>
          <p:nvPr/>
        </p:nvSpPr>
        <p:spPr>
          <a:xfrm>
            <a:off x="4286250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Calibri"/>
              </a:rPr>
              <a:t>18.06.2026</a:t>
            </a:r>
          </a:p>
        </p:txBody>
      </p:sp>
      <p:sp>
        <p:nvSpPr>
          <p:cNvPr id="21" name="!!tl_dot_6"/>
          <p:cNvSpPr/>
          <p:nvPr/>
        </p:nvSpPr>
        <p:spPr>
          <a:xfrm>
            <a:off x="5410200" y="2790825"/>
            <a:ext cx="133350" cy="133350"/>
          </a:xfrm>
          <a:prstGeom prst="ellipse">
            <a:avLst/>
          </a:prstGeom>
          <a:solidFill>
            <a:srgbClr val="3257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lbl_6_s5"/>
          <p:cNvSpPr txBox="1"/>
          <p:nvPr/>
        </p:nvSpPr>
        <p:spPr>
          <a:xfrm>
            <a:off x="5191125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1F2023"/>
                </a:solidFill>
                <a:latin typeface="Calibri"/>
              </a:rPr>
              <a:t>25.06.2026</a:t>
            </a:r>
          </a:p>
        </p:txBody>
      </p:sp>
      <p:sp>
        <p:nvSpPr>
          <p:cNvPr id="23" name="!!tl_dot_7"/>
          <p:cNvSpPr/>
          <p:nvPr/>
        </p:nvSpPr>
        <p:spPr>
          <a:xfrm>
            <a:off x="6343650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lbl_7_s5"/>
          <p:cNvSpPr txBox="1"/>
          <p:nvPr/>
        </p:nvSpPr>
        <p:spPr>
          <a:xfrm>
            <a:off x="6096000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Calibri"/>
              </a:rPr>
              <a:t>09.07.2026</a:t>
            </a:r>
          </a:p>
        </p:txBody>
      </p:sp>
      <p:sp>
        <p:nvSpPr>
          <p:cNvPr id="25" name="!!tl_dot_8"/>
          <p:cNvSpPr/>
          <p:nvPr/>
        </p:nvSpPr>
        <p:spPr>
          <a:xfrm>
            <a:off x="7248525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lbl_8_s5"/>
          <p:cNvSpPr txBox="1"/>
          <p:nvPr/>
        </p:nvSpPr>
        <p:spPr>
          <a:xfrm>
            <a:off x="7000875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Calibri"/>
              </a:rPr>
              <a:t>16.07.2026</a:t>
            </a:r>
          </a:p>
        </p:txBody>
      </p:sp>
      <p:sp>
        <p:nvSpPr>
          <p:cNvPr id="27" name="!!tl_dot_9"/>
          <p:cNvSpPr/>
          <p:nvPr/>
        </p:nvSpPr>
        <p:spPr>
          <a:xfrm>
            <a:off x="8153400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lbl_9_s5"/>
          <p:cNvSpPr txBox="1"/>
          <p:nvPr/>
        </p:nvSpPr>
        <p:spPr>
          <a:xfrm>
            <a:off x="7905750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Calibri"/>
              </a:rPr>
              <a:t>20.07.2026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_m6"/>
          <p:cNvSpPr txBox="1"/>
          <p:nvPr/>
        </p:nvSpPr>
        <p:spPr>
          <a:xfrm>
            <a:off x="457200" y="87474"/>
            <a:ext cx="8458200" cy="769776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/>
            <a:r>
              <a:rPr sz="1800" b="0">
                <a:solidFill>
                  <a:srgbClr val="808080"/>
                </a:solidFill>
                <a:latin typeface="Calibri"/>
              </a:rPr>
              <a:t>FL-Trilemma: Project Timeline</a:t>
            </a:r>
          </a:p>
        </p:txBody>
      </p:sp>
      <p:cxnSp>
        <p:nvCxnSpPr>
          <p:cNvPr id="4" name="divider_m6"/>
          <p:cNvCxnSpPr/>
          <p:nvPr/>
        </p:nvCxnSpPr>
        <p:spPr>
          <a:xfrm>
            <a:off x="571500" y="952500"/>
            <a:ext cx="8001000" cy="0"/>
          </a:xfrm>
          <a:prstGeom prst="line">
            <a:avLst/>
          </a:prstGeom>
          <a:ln w="9525">
            <a:solidFill>
              <a:srgbClr val="B3B3B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ontent_placeholder_m6"/>
          <p:cNvSpPr/>
          <p:nvPr/>
        </p:nvSpPr>
        <p:spPr>
          <a:xfrm>
            <a:off x="762000" y="1095375"/>
            <a:ext cx="1619250" cy="1047750"/>
          </a:xfrm>
          <a:prstGeom prst="roundRect">
            <a:avLst>
              <a:gd name="adj" fmla="val 6000"/>
            </a:avLst>
          </a:prstGeom>
          <a:solidFill>
            <a:srgbClr val="EDEEF0"/>
          </a:solidFill>
          <a:ln w="9525">
            <a:solidFill>
              <a:srgbClr val="E5E7E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0000" rIns="120000" rtlCol="0" anchor="ctr"/>
          <a:lstStyle/>
          <a:p>
            <a:pPr algn="ctr"/>
            <a:r>
              <a:rPr sz="550">
                <a:solidFill>
                  <a:srgbClr val="9CA3AF"/>
                </a:solidFill>
                <a:latin typeface="Consolas"/>
              </a:rPr>
              <a:t>ACCURACY / RUNTIME CHARTS</a:t>
            </a:r>
          </a:p>
        </p:txBody>
      </p:sp>
      <p:sp>
        <p:nvSpPr>
          <p:cNvPr id="6" name="content_pill_m6"/>
          <p:cNvSpPr/>
          <p:nvPr/>
        </p:nvSpPr>
        <p:spPr>
          <a:xfrm>
            <a:off x="2571750" y="1095375"/>
            <a:ext cx="825000" cy="188082"/>
          </a:xfrm>
          <a:prstGeom prst="roundRect">
            <a:avLst>
              <a:gd name="adj" fmla="val 50000"/>
            </a:avLst>
          </a:prstGeom>
          <a:solidFill>
            <a:srgbClr val="C9E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60000" tIns="0" rIns="60000" bIns="0" rtlCol="0" anchor="ctr"/>
          <a:lstStyle/>
          <a:p>
            <a:pPr algn="ctr"/>
            <a:r>
              <a:rPr sz="900" b="1">
                <a:solidFill>
                  <a:srgbClr val="325786"/>
                </a:solidFill>
                <a:latin typeface="Calibri"/>
              </a:rPr>
              <a:t>09.07.2026</a:t>
            </a:r>
          </a:p>
        </p:txBody>
      </p:sp>
      <p:sp>
        <p:nvSpPr>
          <p:cNvPr id="7" name="content_headline_m6"/>
          <p:cNvSpPr txBox="1"/>
          <p:nvPr/>
        </p:nvSpPr>
        <p:spPr>
          <a:xfrm>
            <a:off x="2571750" y="1369126"/>
            <a:ext cx="5000625" cy="2393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F2023"/>
                </a:solidFill>
                <a:latin typeface="Calibri"/>
              </a:rPr>
              <a:t>Unlock of Computational Resources</a:t>
            </a:r>
          </a:p>
        </p:txBody>
      </p:sp>
      <p:sp>
        <p:nvSpPr>
          <p:cNvPr id="8" name="content_bullets_m6"/>
          <p:cNvSpPr txBox="1"/>
          <p:nvPr/>
        </p:nvSpPr>
        <p:spPr>
          <a:xfrm>
            <a:off x="2571750" y="1637017"/>
            <a:ext cx="5000625" cy="5642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975" b="1">
                <a:solidFill>
                  <a:srgbClr val="C1212A"/>
                </a:solidFill>
                <a:latin typeface="Calibri"/>
              </a:rPr>
              <a:t>-  </a:t>
            </a:r>
            <a:r>
              <a:rPr sz="975">
                <a:solidFill>
                  <a:srgbClr val="325786"/>
                </a:solidFill>
                <a:latin typeface="Calibri"/>
              </a:rPr>
              <a:t>Larger scale testing unlocked</a:t>
            </a:r>
          </a:p>
          <a:p>
            <a:pPr>
              <a:spcAft>
                <a:spcPts val="600"/>
              </a:spcAft>
            </a:pPr>
            <a:r>
              <a:rPr sz="975" b="1">
                <a:solidFill>
                  <a:srgbClr val="C1212A"/>
                </a:solidFill>
                <a:latin typeface="Calibri"/>
              </a:rPr>
              <a:t>-  </a:t>
            </a:r>
            <a:r>
              <a:rPr sz="975">
                <a:solidFill>
                  <a:srgbClr val="325786"/>
                </a:solidFill>
                <a:latin typeface="Calibri"/>
              </a:rPr>
              <a:t>GPU access and incrementally stable code foundation allows for CIFAR-10 testing</a:t>
            </a:r>
          </a:p>
          <a:p>
            <a:pPr>
              <a:spcAft>
                <a:spcPts val="600"/>
              </a:spcAft>
            </a:pPr>
            <a:r>
              <a:rPr sz="975" b="1">
                <a:solidFill>
                  <a:srgbClr val="C1212A"/>
                </a:solidFill>
                <a:latin typeface="Calibri"/>
              </a:rPr>
              <a:t>-  </a:t>
            </a:r>
            <a:r>
              <a:rPr sz="975">
                <a:solidFill>
                  <a:srgbClr val="325786"/>
                </a:solidFill>
                <a:latin typeface="Calibri"/>
              </a:rPr>
              <a:t>First results for large runs are coming through</a:t>
            </a:r>
          </a:p>
        </p:txBody>
      </p:sp>
      <p:sp>
        <p:nvSpPr>
          <p:cNvPr id="9" name="!!tl_track"/>
          <p:cNvSpPr/>
          <p:nvPr/>
        </p:nvSpPr>
        <p:spPr>
          <a:xfrm>
            <a:off x="952500" y="2847919"/>
            <a:ext cx="7239000" cy="18976"/>
          </a:xfrm>
          <a:prstGeom prst="roundRect">
            <a:avLst>
              <a:gd name="adj" fmla="val 50000"/>
            </a:avLst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!!tl_fill"/>
          <p:cNvSpPr/>
          <p:nvPr/>
        </p:nvSpPr>
        <p:spPr>
          <a:xfrm>
            <a:off x="952500" y="2847919"/>
            <a:ext cx="5429250" cy="18976"/>
          </a:xfrm>
          <a:prstGeom prst="roundRect">
            <a:avLst>
              <a:gd name="adj" fmla="val 50000"/>
            </a:avLst>
          </a:prstGeom>
          <a:solidFill>
            <a:srgbClr val="3257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!!tl_dot_1"/>
          <p:cNvSpPr/>
          <p:nvPr/>
        </p:nvSpPr>
        <p:spPr>
          <a:xfrm>
            <a:off x="914400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lbl_1_s6"/>
          <p:cNvSpPr txBox="1"/>
          <p:nvPr/>
        </p:nvSpPr>
        <p:spPr>
          <a:xfrm>
            <a:off x="666750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Calibri"/>
              </a:rPr>
              <a:t>09.04.2026</a:t>
            </a:r>
          </a:p>
        </p:txBody>
      </p:sp>
      <p:sp>
        <p:nvSpPr>
          <p:cNvPr id="13" name="!!tl_dot_2"/>
          <p:cNvSpPr/>
          <p:nvPr/>
        </p:nvSpPr>
        <p:spPr>
          <a:xfrm>
            <a:off x="1819275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lbl_2_s6"/>
          <p:cNvSpPr txBox="1"/>
          <p:nvPr/>
        </p:nvSpPr>
        <p:spPr>
          <a:xfrm>
            <a:off x="1571625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Calibri"/>
              </a:rPr>
              <a:t>16.04.2026</a:t>
            </a:r>
          </a:p>
        </p:txBody>
      </p:sp>
      <p:sp>
        <p:nvSpPr>
          <p:cNvPr id="15" name="!!tl_dot_3"/>
          <p:cNvSpPr/>
          <p:nvPr/>
        </p:nvSpPr>
        <p:spPr>
          <a:xfrm>
            <a:off x="2724150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lbl_3_s6"/>
          <p:cNvSpPr txBox="1"/>
          <p:nvPr/>
        </p:nvSpPr>
        <p:spPr>
          <a:xfrm>
            <a:off x="2476500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Calibri"/>
              </a:rPr>
              <a:t>30.04.2026</a:t>
            </a:r>
          </a:p>
        </p:txBody>
      </p:sp>
      <p:sp>
        <p:nvSpPr>
          <p:cNvPr id="17" name="!!tl_dot_4"/>
          <p:cNvSpPr/>
          <p:nvPr/>
        </p:nvSpPr>
        <p:spPr>
          <a:xfrm>
            <a:off x="3629025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lbl_4_s6"/>
          <p:cNvSpPr txBox="1"/>
          <p:nvPr/>
        </p:nvSpPr>
        <p:spPr>
          <a:xfrm>
            <a:off x="3381375" y="3009863"/>
            <a:ext cx="57150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 dirty="0">
                <a:solidFill>
                  <a:srgbClr val="9CA3AF"/>
                </a:solidFill>
                <a:latin typeface="Calibri"/>
              </a:rPr>
              <a:t>21.05.2026</a:t>
            </a:r>
          </a:p>
        </p:txBody>
      </p:sp>
      <p:sp>
        <p:nvSpPr>
          <p:cNvPr id="19" name="!!tl_dot_5"/>
          <p:cNvSpPr/>
          <p:nvPr/>
        </p:nvSpPr>
        <p:spPr>
          <a:xfrm>
            <a:off x="4533900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lbl_5_s6"/>
          <p:cNvSpPr txBox="1"/>
          <p:nvPr/>
        </p:nvSpPr>
        <p:spPr>
          <a:xfrm>
            <a:off x="4286250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Calibri"/>
              </a:rPr>
              <a:t>18.06.2026</a:t>
            </a:r>
          </a:p>
        </p:txBody>
      </p:sp>
      <p:sp>
        <p:nvSpPr>
          <p:cNvPr id="21" name="!!tl_dot_6"/>
          <p:cNvSpPr/>
          <p:nvPr/>
        </p:nvSpPr>
        <p:spPr>
          <a:xfrm>
            <a:off x="5438775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lbl_6_s6"/>
          <p:cNvSpPr txBox="1"/>
          <p:nvPr/>
        </p:nvSpPr>
        <p:spPr>
          <a:xfrm>
            <a:off x="5191125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Calibri"/>
              </a:rPr>
              <a:t>25.06.2026</a:t>
            </a:r>
          </a:p>
        </p:txBody>
      </p:sp>
      <p:sp>
        <p:nvSpPr>
          <p:cNvPr id="23" name="!!tl_dot_7"/>
          <p:cNvSpPr/>
          <p:nvPr/>
        </p:nvSpPr>
        <p:spPr>
          <a:xfrm>
            <a:off x="6315075" y="2790825"/>
            <a:ext cx="133350" cy="133350"/>
          </a:xfrm>
          <a:prstGeom prst="ellipse">
            <a:avLst/>
          </a:prstGeom>
          <a:solidFill>
            <a:srgbClr val="3257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lbl_7_s6"/>
          <p:cNvSpPr txBox="1"/>
          <p:nvPr/>
        </p:nvSpPr>
        <p:spPr>
          <a:xfrm>
            <a:off x="6096000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1F2023"/>
                </a:solidFill>
                <a:latin typeface="Calibri"/>
              </a:rPr>
              <a:t>09.07.2026</a:t>
            </a:r>
          </a:p>
        </p:txBody>
      </p:sp>
      <p:sp>
        <p:nvSpPr>
          <p:cNvPr id="25" name="!!tl_dot_8"/>
          <p:cNvSpPr/>
          <p:nvPr/>
        </p:nvSpPr>
        <p:spPr>
          <a:xfrm>
            <a:off x="7248525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lbl_8_s6"/>
          <p:cNvSpPr txBox="1"/>
          <p:nvPr/>
        </p:nvSpPr>
        <p:spPr>
          <a:xfrm>
            <a:off x="7000875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Calibri"/>
              </a:rPr>
              <a:t>16.07.2026</a:t>
            </a:r>
          </a:p>
        </p:txBody>
      </p:sp>
      <p:sp>
        <p:nvSpPr>
          <p:cNvPr id="27" name="!!tl_dot_9"/>
          <p:cNvSpPr/>
          <p:nvPr/>
        </p:nvSpPr>
        <p:spPr>
          <a:xfrm>
            <a:off x="8153400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lbl_9_s6"/>
          <p:cNvSpPr txBox="1"/>
          <p:nvPr/>
        </p:nvSpPr>
        <p:spPr>
          <a:xfrm>
            <a:off x="7905750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Calibri"/>
              </a:rPr>
              <a:t>20.07.2026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_m7"/>
          <p:cNvSpPr txBox="1"/>
          <p:nvPr/>
        </p:nvSpPr>
        <p:spPr>
          <a:xfrm>
            <a:off x="457200" y="87474"/>
            <a:ext cx="8458200" cy="769776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/>
            <a:r>
              <a:rPr sz="1800" b="0">
                <a:solidFill>
                  <a:srgbClr val="808080"/>
                </a:solidFill>
                <a:latin typeface="Calibri"/>
              </a:rPr>
              <a:t>FL-Trilemma: Project Timeline</a:t>
            </a:r>
          </a:p>
        </p:txBody>
      </p:sp>
      <p:cxnSp>
        <p:nvCxnSpPr>
          <p:cNvPr id="4" name="divider_m7"/>
          <p:cNvCxnSpPr/>
          <p:nvPr/>
        </p:nvCxnSpPr>
        <p:spPr>
          <a:xfrm>
            <a:off x="571500" y="952500"/>
            <a:ext cx="8001000" cy="0"/>
          </a:xfrm>
          <a:prstGeom prst="line">
            <a:avLst/>
          </a:prstGeom>
          <a:ln w="9525">
            <a:solidFill>
              <a:srgbClr val="B3B3B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ontent_pill_m7"/>
          <p:cNvSpPr/>
          <p:nvPr/>
        </p:nvSpPr>
        <p:spPr>
          <a:xfrm>
            <a:off x="762000" y="3333750"/>
            <a:ext cx="825000" cy="188082"/>
          </a:xfrm>
          <a:prstGeom prst="roundRect">
            <a:avLst>
              <a:gd name="adj" fmla="val 50000"/>
            </a:avLst>
          </a:prstGeom>
          <a:solidFill>
            <a:srgbClr val="C9E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60000" tIns="0" rIns="60000" bIns="0" rtlCol="0" anchor="ctr"/>
          <a:lstStyle/>
          <a:p>
            <a:pPr algn="ctr"/>
            <a:r>
              <a:rPr sz="900" b="1">
                <a:solidFill>
                  <a:srgbClr val="325786"/>
                </a:solidFill>
                <a:latin typeface="Calibri"/>
              </a:rPr>
              <a:t>16.07.2026</a:t>
            </a:r>
          </a:p>
        </p:txBody>
      </p:sp>
      <p:sp>
        <p:nvSpPr>
          <p:cNvPr id="6" name="content_headline_m7"/>
          <p:cNvSpPr txBox="1"/>
          <p:nvPr/>
        </p:nvSpPr>
        <p:spPr>
          <a:xfrm>
            <a:off x="762000" y="3607501"/>
            <a:ext cx="5762625" cy="2393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F2023"/>
                </a:solidFill>
                <a:latin typeface="Calibri"/>
              </a:rPr>
              <a:t>Final Report Submission</a:t>
            </a:r>
          </a:p>
        </p:txBody>
      </p:sp>
      <p:sp>
        <p:nvSpPr>
          <p:cNvPr id="7" name="content_bullets_m7"/>
          <p:cNvSpPr txBox="1"/>
          <p:nvPr/>
        </p:nvSpPr>
        <p:spPr>
          <a:xfrm>
            <a:off x="762000" y="3884880"/>
            <a:ext cx="5762625" cy="1880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50" b="1">
                <a:solidFill>
                  <a:srgbClr val="C1212A"/>
                </a:solidFill>
                <a:latin typeface="Calibri"/>
              </a:rPr>
              <a:t>-  </a:t>
            </a:r>
            <a:r>
              <a:rPr sz="1050">
                <a:solidFill>
                  <a:srgbClr val="325786"/>
                </a:solidFill>
                <a:latin typeface="Calibri"/>
              </a:rPr>
              <a:t>Written report on the Privacy-Robustness-Performance Trilemma due</a:t>
            </a:r>
          </a:p>
        </p:txBody>
      </p:sp>
      <p:sp>
        <p:nvSpPr>
          <p:cNvPr id="8" name="!!tl_track"/>
          <p:cNvSpPr/>
          <p:nvPr/>
        </p:nvSpPr>
        <p:spPr>
          <a:xfrm>
            <a:off x="952500" y="2847919"/>
            <a:ext cx="7239000" cy="18976"/>
          </a:xfrm>
          <a:prstGeom prst="roundRect">
            <a:avLst>
              <a:gd name="adj" fmla="val 50000"/>
            </a:avLst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!!tl_fill"/>
          <p:cNvSpPr/>
          <p:nvPr/>
        </p:nvSpPr>
        <p:spPr>
          <a:xfrm>
            <a:off x="952500" y="2847919"/>
            <a:ext cx="6334125" cy="18976"/>
          </a:xfrm>
          <a:prstGeom prst="roundRect">
            <a:avLst>
              <a:gd name="adj" fmla="val 50000"/>
            </a:avLst>
          </a:prstGeom>
          <a:solidFill>
            <a:srgbClr val="3257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!!tl_dot_1"/>
          <p:cNvSpPr/>
          <p:nvPr/>
        </p:nvSpPr>
        <p:spPr>
          <a:xfrm>
            <a:off x="914400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lbl_1_s7"/>
          <p:cNvSpPr txBox="1"/>
          <p:nvPr/>
        </p:nvSpPr>
        <p:spPr>
          <a:xfrm>
            <a:off x="666750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Calibri"/>
              </a:rPr>
              <a:t>09.04.2026</a:t>
            </a:r>
          </a:p>
        </p:txBody>
      </p:sp>
      <p:sp>
        <p:nvSpPr>
          <p:cNvPr id="12" name="!!tl_dot_2"/>
          <p:cNvSpPr/>
          <p:nvPr/>
        </p:nvSpPr>
        <p:spPr>
          <a:xfrm>
            <a:off x="1819275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lbl_2_s7"/>
          <p:cNvSpPr txBox="1"/>
          <p:nvPr/>
        </p:nvSpPr>
        <p:spPr>
          <a:xfrm>
            <a:off x="1571625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Calibri"/>
              </a:rPr>
              <a:t>16.04.2026</a:t>
            </a:r>
          </a:p>
        </p:txBody>
      </p:sp>
      <p:sp>
        <p:nvSpPr>
          <p:cNvPr id="14" name="!!tl_dot_3"/>
          <p:cNvSpPr/>
          <p:nvPr/>
        </p:nvSpPr>
        <p:spPr>
          <a:xfrm>
            <a:off x="2724150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lbl_3_s7"/>
          <p:cNvSpPr txBox="1"/>
          <p:nvPr/>
        </p:nvSpPr>
        <p:spPr>
          <a:xfrm>
            <a:off x="2476500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Calibri"/>
              </a:rPr>
              <a:t>30.04.2026</a:t>
            </a:r>
          </a:p>
        </p:txBody>
      </p:sp>
      <p:sp>
        <p:nvSpPr>
          <p:cNvPr id="16" name="!!tl_dot_4"/>
          <p:cNvSpPr/>
          <p:nvPr/>
        </p:nvSpPr>
        <p:spPr>
          <a:xfrm>
            <a:off x="3629025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lbl_4_s7"/>
          <p:cNvSpPr txBox="1"/>
          <p:nvPr/>
        </p:nvSpPr>
        <p:spPr>
          <a:xfrm>
            <a:off x="3381375" y="3009863"/>
            <a:ext cx="57150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 dirty="0">
                <a:solidFill>
                  <a:srgbClr val="9CA3AF"/>
                </a:solidFill>
                <a:latin typeface="Calibri"/>
              </a:rPr>
              <a:t>21.05.2026</a:t>
            </a:r>
          </a:p>
        </p:txBody>
      </p:sp>
      <p:sp>
        <p:nvSpPr>
          <p:cNvPr id="18" name="!!tl_dot_5"/>
          <p:cNvSpPr/>
          <p:nvPr/>
        </p:nvSpPr>
        <p:spPr>
          <a:xfrm>
            <a:off x="4533900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lbl_5_s7"/>
          <p:cNvSpPr txBox="1"/>
          <p:nvPr/>
        </p:nvSpPr>
        <p:spPr>
          <a:xfrm>
            <a:off x="4286250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Calibri"/>
              </a:rPr>
              <a:t>18.06.2026</a:t>
            </a:r>
          </a:p>
        </p:txBody>
      </p:sp>
      <p:sp>
        <p:nvSpPr>
          <p:cNvPr id="20" name="!!tl_dot_6"/>
          <p:cNvSpPr/>
          <p:nvPr/>
        </p:nvSpPr>
        <p:spPr>
          <a:xfrm>
            <a:off x="5438775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lbl_6_s7"/>
          <p:cNvSpPr txBox="1"/>
          <p:nvPr/>
        </p:nvSpPr>
        <p:spPr>
          <a:xfrm>
            <a:off x="5191125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Calibri"/>
              </a:rPr>
              <a:t>25.06.2026</a:t>
            </a:r>
          </a:p>
        </p:txBody>
      </p:sp>
      <p:sp>
        <p:nvSpPr>
          <p:cNvPr id="22" name="!!tl_dot_7"/>
          <p:cNvSpPr/>
          <p:nvPr/>
        </p:nvSpPr>
        <p:spPr>
          <a:xfrm>
            <a:off x="6343650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lbl_7_s7"/>
          <p:cNvSpPr txBox="1"/>
          <p:nvPr/>
        </p:nvSpPr>
        <p:spPr>
          <a:xfrm>
            <a:off x="6096000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Calibri"/>
              </a:rPr>
              <a:t>09.07.2026</a:t>
            </a:r>
          </a:p>
        </p:txBody>
      </p:sp>
      <p:sp>
        <p:nvSpPr>
          <p:cNvPr id="24" name="!!tl_dot_8"/>
          <p:cNvSpPr/>
          <p:nvPr/>
        </p:nvSpPr>
        <p:spPr>
          <a:xfrm>
            <a:off x="7219950" y="2790825"/>
            <a:ext cx="133350" cy="133350"/>
          </a:xfrm>
          <a:prstGeom prst="ellipse">
            <a:avLst/>
          </a:prstGeom>
          <a:solidFill>
            <a:srgbClr val="3257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lbl_8_s7"/>
          <p:cNvSpPr txBox="1"/>
          <p:nvPr/>
        </p:nvSpPr>
        <p:spPr>
          <a:xfrm>
            <a:off x="7000875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1F2023"/>
                </a:solidFill>
                <a:latin typeface="Calibri"/>
              </a:rPr>
              <a:t>16.07.2026</a:t>
            </a:r>
          </a:p>
        </p:txBody>
      </p:sp>
      <p:sp>
        <p:nvSpPr>
          <p:cNvPr id="26" name="!!tl_dot_9"/>
          <p:cNvSpPr/>
          <p:nvPr/>
        </p:nvSpPr>
        <p:spPr>
          <a:xfrm>
            <a:off x="8153400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lbl_9_s7"/>
          <p:cNvSpPr txBox="1"/>
          <p:nvPr/>
        </p:nvSpPr>
        <p:spPr>
          <a:xfrm>
            <a:off x="7905750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Calibri"/>
              </a:rPr>
              <a:t>20.07.2026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_m8"/>
          <p:cNvSpPr txBox="1"/>
          <p:nvPr/>
        </p:nvSpPr>
        <p:spPr>
          <a:xfrm>
            <a:off x="457200" y="87474"/>
            <a:ext cx="8458200" cy="769776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l"/>
            <a:r>
              <a:rPr sz="1800" b="0">
                <a:solidFill>
                  <a:srgbClr val="808080"/>
                </a:solidFill>
                <a:latin typeface="Calibri"/>
              </a:rPr>
              <a:t>FL-Trilemma: Project Timeline</a:t>
            </a:r>
          </a:p>
        </p:txBody>
      </p:sp>
      <p:cxnSp>
        <p:nvCxnSpPr>
          <p:cNvPr id="4" name="divider_m8"/>
          <p:cNvCxnSpPr/>
          <p:nvPr/>
        </p:nvCxnSpPr>
        <p:spPr>
          <a:xfrm>
            <a:off x="571500" y="952500"/>
            <a:ext cx="8001000" cy="0"/>
          </a:xfrm>
          <a:prstGeom prst="line">
            <a:avLst/>
          </a:prstGeom>
          <a:ln w="9525">
            <a:solidFill>
              <a:srgbClr val="B3B3B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content_placeholder_m8"/>
          <p:cNvSpPr/>
          <p:nvPr/>
        </p:nvSpPr>
        <p:spPr>
          <a:xfrm>
            <a:off x="762000" y="1095375"/>
            <a:ext cx="1619250" cy="1047750"/>
          </a:xfrm>
          <a:prstGeom prst="roundRect">
            <a:avLst>
              <a:gd name="adj" fmla="val 6000"/>
            </a:avLst>
          </a:prstGeom>
          <a:solidFill>
            <a:srgbClr val="EDEEF0"/>
          </a:solidFill>
          <a:ln w="9525">
            <a:solidFill>
              <a:srgbClr val="E5E7E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0000" rIns="120000" rtlCol="0" anchor="ctr"/>
          <a:lstStyle/>
          <a:p>
            <a:pPr algn="ctr"/>
            <a:r>
              <a:rPr sz="550">
                <a:solidFill>
                  <a:srgbClr val="9CA3AF"/>
                </a:solidFill>
                <a:latin typeface="Consolas"/>
              </a:rPr>
              <a:t>FINAL PRESENTATION - SLIDES/RESULTS</a:t>
            </a:r>
          </a:p>
        </p:txBody>
      </p:sp>
      <p:sp>
        <p:nvSpPr>
          <p:cNvPr id="6" name="content_pill_m8"/>
          <p:cNvSpPr/>
          <p:nvPr/>
        </p:nvSpPr>
        <p:spPr>
          <a:xfrm>
            <a:off x="2571750" y="1095375"/>
            <a:ext cx="825000" cy="188082"/>
          </a:xfrm>
          <a:prstGeom prst="roundRect">
            <a:avLst>
              <a:gd name="adj" fmla="val 50000"/>
            </a:avLst>
          </a:prstGeom>
          <a:solidFill>
            <a:srgbClr val="C9E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60000" tIns="0" rIns="60000" bIns="0" rtlCol="0" anchor="ctr"/>
          <a:lstStyle/>
          <a:p>
            <a:pPr algn="ctr"/>
            <a:r>
              <a:rPr sz="900" b="1">
                <a:solidFill>
                  <a:srgbClr val="325786"/>
                </a:solidFill>
                <a:latin typeface="Calibri"/>
              </a:rPr>
              <a:t>20.07.2026</a:t>
            </a:r>
          </a:p>
        </p:txBody>
      </p:sp>
      <p:sp>
        <p:nvSpPr>
          <p:cNvPr id="7" name="content_headline_m8"/>
          <p:cNvSpPr txBox="1"/>
          <p:nvPr/>
        </p:nvSpPr>
        <p:spPr>
          <a:xfrm>
            <a:off x="2571750" y="1369126"/>
            <a:ext cx="5000625" cy="2393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F2023"/>
                </a:solidFill>
                <a:latin typeface="Calibri"/>
              </a:rPr>
              <a:t>Final Presentation</a:t>
            </a:r>
          </a:p>
        </p:txBody>
      </p:sp>
      <p:sp>
        <p:nvSpPr>
          <p:cNvPr id="8" name="content_bullets_m8"/>
          <p:cNvSpPr txBox="1"/>
          <p:nvPr/>
        </p:nvSpPr>
        <p:spPr>
          <a:xfrm>
            <a:off x="2571750" y="1637017"/>
            <a:ext cx="5000625" cy="1880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975" b="1">
                <a:solidFill>
                  <a:srgbClr val="C1212A"/>
                </a:solidFill>
                <a:latin typeface="Calibri"/>
              </a:rPr>
              <a:t>-  </a:t>
            </a:r>
            <a:r>
              <a:rPr sz="975">
                <a:solidFill>
                  <a:srgbClr val="325786"/>
                </a:solidFill>
                <a:latin typeface="Calibri"/>
              </a:rPr>
              <a:t>Closing presentation of findings</a:t>
            </a:r>
          </a:p>
        </p:txBody>
      </p:sp>
      <p:sp>
        <p:nvSpPr>
          <p:cNvPr id="9" name="!!tl_track"/>
          <p:cNvSpPr/>
          <p:nvPr/>
        </p:nvSpPr>
        <p:spPr>
          <a:xfrm>
            <a:off x="952500" y="2847919"/>
            <a:ext cx="7239000" cy="18976"/>
          </a:xfrm>
          <a:prstGeom prst="roundRect">
            <a:avLst>
              <a:gd name="adj" fmla="val 50000"/>
            </a:avLst>
          </a:prstGeom>
          <a:solidFill>
            <a:srgbClr val="E2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!!tl_fill"/>
          <p:cNvSpPr/>
          <p:nvPr/>
        </p:nvSpPr>
        <p:spPr>
          <a:xfrm>
            <a:off x="952500" y="2847919"/>
            <a:ext cx="7239000" cy="18976"/>
          </a:xfrm>
          <a:prstGeom prst="roundRect">
            <a:avLst>
              <a:gd name="adj" fmla="val 50000"/>
            </a:avLst>
          </a:prstGeom>
          <a:solidFill>
            <a:srgbClr val="3257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!!tl_dot_1"/>
          <p:cNvSpPr/>
          <p:nvPr/>
        </p:nvSpPr>
        <p:spPr>
          <a:xfrm>
            <a:off x="914400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lbl_1_s8"/>
          <p:cNvSpPr txBox="1"/>
          <p:nvPr/>
        </p:nvSpPr>
        <p:spPr>
          <a:xfrm>
            <a:off x="666750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Calibri"/>
              </a:rPr>
              <a:t>09.04.2026</a:t>
            </a:r>
          </a:p>
        </p:txBody>
      </p:sp>
      <p:sp>
        <p:nvSpPr>
          <p:cNvPr id="13" name="!!tl_dot_2"/>
          <p:cNvSpPr/>
          <p:nvPr/>
        </p:nvSpPr>
        <p:spPr>
          <a:xfrm>
            <a:off x="1819275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lbl_2_s8"/>
          <p:cNvSpPr txBox="1"/>
          <p:nvPr/>
        </p:nvSpPr>
        <p:spPr>
          <a:xfrm>
            <a:off x="1571625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Calibri"/>
              </a:rPr>
              <a:t>16.04.2026</a:t>
            </a:r>
          </a:p>
        </p:txBody>
      </p:sp>
      <p:sp>
        <p:nvSpPr>
          <p:cNvPr id="15" name="!!tl_dot_3"/>
          <p:cNvSpPr/>
          <p:nvPr/>
        </p:nvSpPr>
        <p:spPr>
          <a:xfrm>
            <a:off x="2724150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lbl_3_s8"/>
          <p:cNvSpPr txBox="1"/>
          <p:nvPr/>
        </p:nvSpPr>
        <p:spPr>
          <a:xfrm>
            <a:off x="2476500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Calibri"/>
              </a:rPr>
              <a:t>30.04.2026</a:t>
            </a:r>
          </a:p>
        </p:txBody>
      </p:sp>
      <p:sp>
        <p:nvSpPr>
          <p:cNvPr id="17" name="!!tl_dot_4"/>
          <p:cNvSpPr/>
          <p:nvPr/>
        </p:nvSpPr>
        <p:spPr>
          <a:xfrm>
            <a:off x="3629025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lbl_4_s8"/>
          <p:cNvSpPr txBox="1"/>
          <p:nvPr/>
        </p:nvSpPr>
        <p:spPr>
          <a:xfrm>
            <a:off x="3381375" y="3009863"/>
            <a:ext cx="571500" cy="1384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 dirty="0">
                <a:solidFill>
                  <a:srgbClr val="9CA3AF"/>
                </a:solidFill>
                <a:latin typeface="Calibri"/>
              </a:rPr>
              <a:t>21.05.2026</a:t>
            </a:r>
          </a:p>
        </p:txBody>
      </p:sp>
      <p:sp>
        <p:nvSpPr>
          <p:cNvPr id="19" name="!!tl_dot_5"/>
          <p:cNvSpPr/>
          <p:nvPr/>
        </p:nvSpPr>
        <p:spPr>
          <a:xfrm>
            <a:off x="4533900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lbl_5_s8"/>
          <p:cNvSpPr txBox="1"/>
          <p:nvPr/>
        </p:nvSpPr>
        <p:spPr>
          <a:xfrm>
            <a:off x="4286250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Calibri"/>
              </a:rPr>
              <a:t>18.06.2026</a:t>
            </a:r>
          </a:p>
        </p:txBody>
      </p:sp>
      <p:sp>
        <p:nvSpPr>
          <p:cNvPr id="21" name="!!tl_dot_6"/>
          <p:cNvSpPr/>
          <p:nvPr/>
        </p:nvSpPr>
        <p:spPr>
          <a:xfrm>
            <a:off x="5438775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lbl_6_s8"/>
          <p:cNvSpPr txBox="1"/>
          <p:nvPr/>
        </p:nvSpPr>
        <p:spPr>
          <a:xfrm>
            <a:off x="5191125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Calibri"/>
              </a:rPr>
              <a:t>25.06.2026</a:t>
            </a:r>
          </a:p>
        </p:txBody>
      </p:sp>
      <p:sp>
        <p:nvSpPr>
          <p:cNvPr id="23" name="!!tl_dot_7"/>
          <p:cNvSpPr/>
          <p:nvPr/>
        </p:nvSpPr>
        <p:spPr>
          <a:xfrm>
            <a:off x="6343650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lbl_7_s8"/>
          <p:cNvSpPr txBox="1"/>
          <p:nvPr/>
        </p:nvSpPr>
        <p:spPr>
          <a:xfrm>
            <a:off x="6096000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Calibri"/>
              </a:rPr>
              <a:t>09.07.2026</a:t>
            </a:r>
          </a:p>
        </p:txBody>
      </p:sp>
      <p:sp>
        <p:nvSpPr>
          <p:cNvPr id="25" name="!!tl_dot_8"/>
          <p:cNvSpPr/>
          <p:nvPr/>
        </p:nvSpPr>
        <p:spPr>
          <a:xfrm>
            <a:off x="7248525" y="2819400"/>
            <a:ext cx="76200" cy="76200"/>
          </a:xfrm>
          <a:prstGeom prst="ellipse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lbl_8_s8"/>
          <p:cNvSpPr txBox="1"/>
          <p:nvPr/>
        </p:nvSpPr>
        <p:spPr>
          <a:xfrm>
            <a:off x="7000875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0">
                <a:solidFill>
                  <a:srgbClr val="9CA3AF"/>
                </a:solidFill>
                <a:latin typeface="Calibri"/>
              </a:rPr>
              <a:t>16.07.2026</a:t>
            </a:r>
          </a:p>
        </p:txBody>
      </p:sp>
      <p:sp>
        <p:nvSpPr>
          <p:cNvPr id="27" name="!!tl_dot_9"/>
          <p:cNvSpPr/>
          <p:nvPr/>
        </p:nvSpPr>
        <p:spPr>
          <a:xfrm>
            <a:off x="8124825" y="2790825"/>
            <a:ext cx="133350" cy="133350"/>
          </a:xfrm>
          <a:prstGeom prst="ellipse">
            <a:avLst/>
          </a:prstGeom>
          <a:solidFill>
            <a:srgbClr val="3257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lbl_9_s8"/>
          <p:cNvSpPr txBox="1"/>
          <p:nvPr/>
        </p:nvSpPr>
        <p:spPr>
          <a:xfrm>
            <a:off x="7905750" y="3009863"/>
            <a:ext cx="571500" cy="15001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00" b="1">
                <a:solidFill>
                  <a:srgbClr val="1F2023"/>
                </a:solidFill>
                <a:latin typeface="Calibri"/>
              </a:rPr>
              <a:t>20.07.2026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1616502" name="Content Placeholder 1"/>
          <p:cNvSpPr>
            <a:spLocks noGrp="1"/>
          </p:cNvSpPr>
          <p:nvPr>
            <p:ph sz="quarter" idx="13"/>
          </p:nvPr>
        </p:nvSpPr>
        <p:spPr bwMode="auto"/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255270" indent="-255270">
              <a:lnSpc>
                <a:spcPct val="200000"/>
              </a:lnSpc>
              <a:buClr>
                <a:srgbClr val="C1212A"/>
              </a:buClr>
              <a:buFont typeface="Wingdings"/>
              <a:buChar char="§"/>
              <a:defRPr/>
            </a:pPr>
            <a:r>
              <a:rPr lang="en-US" dirty="0">
                <a:solidFill>
                  <a:srgbClr val="325786"/>
                </a:solidFill>
                <a:ea typeface="ＭＳ Ｐゴシック"/>
                <a:cs typeface="Calibri"/>
              </a:rPr>
              <a:t>Motivation</a:t>
            </a:r>
            <a:endParaRPr lang="en-US" dirty="0">
              <a:solidFill>
                <a:srgbClr val="325786"/>
              </a:solidFill>
              <a:cs typeface="Calibri"/>
            </a:endParaRPr>
          </a:p>
          <a:p>
            <a:pPr>
              <a:lnSpc>
                <a:spcPct val="200000"/>
              </a:lnSpc>
              <a:buClr>
                <a:srgbClr val="C1212A"/>
              </a:buClr>
              <a:buFont typeface="Wingdings"/>
              <a:buChar char="§"/>
              <a:defRPr/>
            </a:pPr>
            <a:r>
              <a:rPr lang="en-US" dirty="0">
                <a:solidFill>
                  <a:srgbClr val="325786"/>
                </a:solidFill>
                <a:ea typeface="ＭＳ Ｐゴシック"/>
                <a:cs typeface="Calibri"/>
              </a:rPr>
              <a:t>Background</a:t>
            </a:r>
            <a:endParaRPr dirty="0"/>
          </a:p>
          <a:p>
            <a:pPr>
              <a:lnSpc>
                <a:spcPct val="200000"/>
              </a:lnSpc>
              <a:buClr>
                <a:srgbClr val="C1212A"/>
              </a:buClr>
              <a:buFont typeface="Wingdings"/>
              <a:buChar char="§"/>
              <a:defRPr/>
            </a:pPr>
            <a:r>
              <a:rPr lang="en-US" dirty="0">
                <a:solidFill>
                  <a:srgbClr val="325786"/>
                </a:solidFill>
                <a:ea typeface="ＭＳ Ｐゴシック"/>
                <a:cs typeface="Calibri"/>
              </a:rPr>
              <a:t>Threat Model</a:t>
            </a:r>
            <a:endParaRPr dirty="0"/>
          </a:p>
          <a:p>
            <a:pPr>
              <a:lnSpc>
                <a:spcPct val="200000"/>
              </a:lnSpc>
              <a:buClr>
                <a:srgbClr val="C1212A"/>
              </a:buClr>
              <a:buFont typeface="Wingdings"/>
              <a:buChar char="§"/>
              <a:defRPr/>
            </a:pPr>
            <a:r>
              <a:rPr lang="en-US" dirty="0">
                <a:solidFill>
                  <a:srgbClr val="325786"/>
                </a:solidFill>
                <a:ea typeface="ＭＳ Ｐゴシック"/>
                <a:cs typeface="Calibri"/>
              </a:rPr>
              <a:t>Research Questions</a:t>
            </a:r>
            <a:endParaRPr dirty="0"/>
          </a:p>
          <a:p>
            <a:pPr>
              <a:lnSpc>
                <a:spcPct val="200000"/>
              </a:lnSpc>
              <a:buClr>
                <a:srgbClr val="C1212A"/>
              </a:buClr>
              <a:buFont typeface="Wingdings"/>
              <a:buChar char="§"/>
              <a:defRPr/>
            </a:pPr>
            <a:r>
              <a:rPr lang="en-US" dirty="0">
                <a:solidFill>
                  <a:srgbClr val="325786"/>
                </a:solidFill>
                <a:ea typeface="ＭＳ Ｐゴシック"/>
                <a:cs typeface="Calibri"/>
              </a:rPr>
              <a:t>Experimental Setup</a:t>
            </a:r>
          </a:p>
          <a:p>
            <a:pPr>
              <a:lnSpc>
                <a:spcPct val="200000"/>
              </a:lnSpc>
              <a:buClr>
                <a:srgbClr val="C1212A"/>
              </a:buClr>
              <a:buFont typeface="Wingdings"/>
              <a:buChar char="§"/>
              <a:defRPr/>
            </a:pPr>
            <a:r>
              <a:rPr lang="en-US" dirty="0">
                <a:solidFill>
                  <a:srgbClr val="325786"/>
                </a:solidFill>
                <a:cs typeface="Calibri"/>
              </a:rPr>
              <a:t>Relevant Findings</a:t>
            </a:r>
          </a:p>
          <a:p>
            <a:pPr>
              <a:lnSpc>
                <a:spcPct val="200000"/>
              </a:lnSpc>
              <a:buClr>
                <a:srgbClr val="C1212A"/>
              </a:buClr>
              <a:defRPr/>
            </a:pPr>
            <a:r>
              <a:rPr lang="en-US" dirty="0">
                <a:solidFill>
                  <a:srgbClr val="325786"/>
                </a:solidFill>
                <a:cs typeface="Calibri"/>
              </a:rPr>
              <a:t>Limitations &amp; Future Work</a:t>
            </a:r>
            <a:endParaRPr lang="en-US" dirty="0"/>
          </a:p>
        </p:txBody>
      </p:sp>
      <p:sp>
        <p:nvSpPr>
          <p:cNvPr id="16110540" name="Slide Number Placeholder 2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5EF2332-01BF-834F-8236-50238282D533}" type="slidenum">
              <a:rPr lang="en-US"/>
              <a:t>11</a:t>
            </a:fld>
            <a:endParaRPr lang="en-US"/>
          </a:p>
        </p:txBody>
      </p:sp>
      <p:sp>
        <p:nvSpPr>
          <p:cNvPr id="1680262128" name="Title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>
                <a:ea typeface="Calibri"/>
                <a:cs typeface="Calibri"/>
              </a:rPr>
              <a:t>Agenda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aphicFrame>
        <p:nvGraphicFramePr>
          <p:cNvPr id="1671689361" name="Content Placeholder 5"/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2707144576"/>
              </p:ext>
            </p:extLst>
          </p:nvPr>
        </p:nvGraphicFramePr>
        <p:xfrm>
          <a:off x="452700" y="1121400"/>
          <a:ext cx="8458200" cy="2097214"/>
        </p:xfrm>
        <a:graphic>
          <a:graphicData uri="http://schemas.openxmlformats.org/drawingml/2006/table">
            <a:tbl>
              <a:tblPr firstRow="1">
                <a:tableStyleId>{9D7B26C5-4107-4FEC-AEDC-1716B250A1EF}</a:tableStyleId>
              </a:tblPr>
              <a:tblGrid>
                <a:gridCol w="281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9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19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5163"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lang="en-US"/>
                        <a:t>Property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lang="en-US"/>
                        <a:t>Goals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lang="en-US"/>
                        <a:t>Common drawbacks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444"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lang="en-US" dirty="0"/>
                        <a:t>Privacy</a:t>
                      </a:r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lang="en-US"/>
                        <a:t>Limits information leakage, protects client data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  <a:defRPr/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</a:rPr>
                        <a:t>Gradient distortion </a:t>
                      </a:r>
                      <a:endParaRPr 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3444"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lang="en-US"/>
                        <a:t>Robustness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r>
                        <a:rPr lang="en-US"/>
                        <a:t>Decreased vulnerability to malicious clients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  <a:defRPr/>
                      </a:pPr>
                      <a:r>
                        <a:rPr lang="en-US"/>
                        <a:t>Disregarding honest updates</a:t>
                      </a:r>
                      <a:endParaRPr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5163">
                <a:tc>
                  <a:txBody>
                    <a:bodyPr/>
                    <a:lstStyle/>
                    <a:p>
                      <a:pPr lvl="0" algn="l">
                        <a:buNone/>
                        <a:defRPr/>
                      </a:pPr>
                      <a:r>
                        <a:rPr lang="en-US"/>
                        <a:t>Efficiency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  <a:defRPr/>
                      </a:pPr>
                      <a:r>
                        <a:rPr lang="en-US"/>
                        <a:t>Lower communicational cost</a:t>
                      </a:r>
                      <a:endParaRPr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vl="0" algn="l">
                        <a:buNone/>
                        <a:defRPr/>
                      </a:pPr>
                      <a:r>
                        <a:rPr lang="en-US" dirty="0"/>
                        <a:t>Loss of information</a:t>
                      </a:r>
                      <a:endParaRPr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3732445" name="Slide Number Placeholder 2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5EF2332-01BF-834F-8236-50238282D533}" type="slidenum">
              <a:rPr lang="en-US"/>
              <a:t>12</a:t>
            </a:fld>
            <a:endParaRPr lang="en-US"/>
          </a:p>
        </p:txBody>
      </p:sp>
      <p:sp>
        <p:nvSpPr>
          <p:cNvPr id="41847708" name="Title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 dirty="0">
                <a:ea typeface="Calibri"/>
                <a:cs typeface="Calibri"/>
              </a:rPr>
              <a:t>Motivation</a:t>
            </a:r>
            <a:endParaRPr lang="en-US" dirty="0"/>
          </a:p>
        </p:txBody>
      </p:sp>
      <p:pic>
        <p:nvPicPr>
          <p:cNvPr id="336600256" name="Picture 4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2573403" y="3487869"/>
            <a:ext cx="3754316" cy="849416"/>
          </a:xfrm>
          <a:prstGeom prst="rect">
            <a:avLst/>
          </a:prstGeom>
        </p:spPr>
      </p:pic>
      <p:sp>
        <p:nvSpPr>
          <p:cNvPr id="1036293020" name="TextBox 6"/>
          <p:cNvSpPr txBox="1"/>
          <p:nvPr/>
        </p:nvSpPr>
        <p:spPr bwMode="auto">
          <a:xfrm>
            <a:off x="1681628" y="4442673"/>
            <a:ext cx="5996354" cy="3077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>
              <a:defRPr/>
            </a:pPr>
            <a:r>
              <a:rPr lang="en-US" sz="1400" i="1">
                <a:solidFill>
                  <a:schemeClr val="bg1">
                    <a:lumMod val="49000"/>
                  </a:schemeClr>
                </a:solidFill>
                <a:ea typeface="Calibri"/>
                <a:cs typeface="Calibri"/>
              </a:rPr>
              <a:t>Lower bound for training error found by </a:t>
            </a:r>
            <a:r>
              <a:rPr lang="en-US" sz="1400" i="1">
                <a:solidFill>
                  <a:schemeClr val="bg1">
                    <a:lumMod val="49000"/>
                  </a:schemeClr>
                </a:solidFill>
                <a:ea typeface="+mn-lt"/>
                <a:cs typeface="+mn-lt"/>
              </a:rPr>
              <a:t>Allouah et al. (ICML 2023)</a:t>
            </a:r>
            <a:endParaRPr lang="en-US" sz="1400" i="1">
              <a:solidFill>
                <a:schemeClr val="bg1">
                  <a:lumMod val="49000"/>
                </a:schemeClr>
              </a:solidFill>
              <a:ea typeface="Calibri"/>
              <a:cs typeface="Calibri"/>
            </a:endParaRPr>
          </a:p>
        </p:txBody>
      </p:sp>
      <p:sp>
        <p:nvSpPr>
          <p:cNvPr id="762154059" name="TextBox 8"/>
          <p:cNvSpPr txBox="1"/>
          <p:nvPr/>
        </p:nvSpPr>
        <p:spPr bwMode="auto">
          <a:xfrm>
            <a:off x="331180" y="3442072"/>
            <a:ext cx="274320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defRPr/>
            </a:pPr>
            <a:r>
              <a:rPr lang="en-US" i="1">
                <a:ea typeface="Calibri"/>
                <a:cs typeface="Calibri"/>
              </a:rPr>
              <a:t>f - # malicious clients</a:t>
            </a:r>
            <a:endParaRPr/>
          </a:p>
          <a:p>
            <a:pPr>
              <a:defRPr/>
            </a:pPr>
            <a:r>
              <a:rPr lang="en-US" i="1">
                <a:ea typeface="Calibri"/>
                <a:cs typeface="Calibri"/>
              </a:rPr>
              <a:t>n - # total clients</a:t>
            </a:r>
            <a:endParaRPr/>
          </a:p>
          <a:p>
            <a:pPr>
              <a:defRPr/>
            </a:pPr>
            <a:r>
              <a:rPr lang="en-US" i="1">
                <a:ea typeface="Calibri"/>
                <a:cs typeface="Calibri"/>
              </a:rPr>
              <a:t>m – dataset size</a:t>
            </a:r>
          </a:p>
        </p:txBody>
      </p:sp>
      <p:sp>
        <p:nvSpPr>
          <p:cNvPr id="218118301" name="TextBox 9"/>
          <p:cNvSpPr txBox="1"/>
          <p:nvPr/>
        </p:nvSpPr>
        <p:spPr bwMode="auto">
          <a:xfrm>
            <a:off x="6433041" y="3442071"/>
            <a:ext cx="274320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defRPr/>
            </a:pPr>
            <a:r>
              <a:rPr lang="en-US" i="1">
                <a:ea typeface="+mn-lt"/>
                <a:cs typeface="+mn-lt"/>
              </a:rPr>
              <a:t>ε - privacy budget</a:t>
            </a:r>
            <a:endParaRPr lang="en-US" i="1">
              <a:ea typeface="Calibri"/>
              <a:cs typeface="Calibri"/>
            </a:endParaRPr>
          </a:p>
          <a:p>
            <a:pPr>
              <a:defRPr/>
            </a:pPr>
            <a:r>
              <a:rPr lang="en-US" i="1">
                <a:ea typeface="+mn-lt"/>
                <a:cs typeface="+mn-lt"/>
              </a:rPr>
              <a:t>d– gradient dimension</a:t>
            </a:r>
            <a:endParaRPr lang="en-US"/>
          </a:p>
          <a:p>
            <a:pPr>
              <a:defRPr/>
            </a:pPr>
            <a:r>
              <a:rPr lang="en-US" i="1">
                <a:ea typeface="Calibri"/>
                <a:cs typeface="Calibri"/>
              </a:rPr>
              <a:t>G – dataset heterogeneity</a:t>
            </a:r>
            <a:endParaRPr/>
          </a:p>
        </p:txBody>
      </p:sp>
      <p:sp>
        <p:nvSpPr>
          <p:cNvPr id="405205022" name="Oval 10"/>
          <p:cNvSpPr/>
          <p:nvPr/>
        </p:nvSpPr>
        <p:spPr bwMode="auto">
          <a:xfrm>
            <a:off x="3901042" y="3486151"/>
            <a:ext cx="1318846" cy="844061"/>
          </a:xfrm>
          <a:prstGeom prst="ellipse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21540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66002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118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2930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52050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36293020" grpId="0"/>
      <p:bldP spid="762154059" grpId="0"/>
      <p:bldP spid="218118301" grpId="0"/>
      <p:bldP spid="40520502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2766835" name="Slide Number Placeholder 2"/>
          <p:cNvSpPr>
            <a:spLocks noGrp="1"/>
          </p:cNvSpPr>
          <p:nvPr>
            <p:ph type="sldNum" sz="quarter" idx="12"/>
          </p:nvPr>
        </p:nvSpPr>
        <p:spPr bwMode="auto">
          <a:xfrm>
            <a:off x="457200" y="4975323"/>
            <a:ext cx="2133600" cy="162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  <a:defRPr/>
            </a:pPr>
            <a:fld id="{C5EF2332-01BF-834F-8236-50238282D533}" type="slidenum">
              <a:rPr lang="en-US" sz="500"/>
              <a:t>13</a:t>
            </a:fld>
            <a:endParaRPr lang="en-US" sz="500"/>
          </a:p>
        </p:txBody>
      </p:sp>
      <p:sp>
        <p:nvSpPr>
          <p:cNvPr id="630549640" name="Title 3"/>
          <p:cNvSpPr>
            <a:spLocks noGrp="1"/>
          </p:cNvSpPr>
          <p:nvPr>
            <p:ph type="title"/>
          </p:nvPr>
        </p:nvSpPr>
        <p:spPr bwMode="auto">
          <a:xfrm>
            <a:off x="457200" y="87474"/>
            <a:ext cx="8458200" cy="769776"/>
          </a:xfrm>
        </p:spPr>
        <p:txBody>
          <a:bodyPr wrap="square" anchor="b">
            <a:normAutofit/>
          </a:bodyPr>
          <a:lstStyle/>
          <a:p>
            <a:pPr>
              <a:defRPr/>
            </a:pPr>
            <a:r>
              <a:rPr lang="de-DE"/>
              <a:t>Mechanisms</a:t>
            </a:r>
            <a:endParaRPr lang="en-US"/>
          </a:p>
        </p:txBody>
      </p:sp>
      <p:sp>
        <p:nvSpPr>
          <p:cNvPr id="82080005" name="Content Placeholder 4"/>
          <p:cNvSpPr>
            <a:spLocks noGrp="1"/>
          </p:cNvSpPr>
          <p:nvPr>
            <p:ph sz="quarter" idx="14"/>
          </p:nvPr>
        </p:nvSpPr>
        <p:spPr bwMode="auto">
          <a:xfrm>
            <a:off x="2195736" y="564561"/>
            <a:ext cx="6714008" cy="283369"/>
          </a:xfrm>
        </p:spPr>
        <p:txBody>
          <a:bodyPr/>
          <a:lstStyle/>
          <a:p>
            <a:pPr>
              <a:defRPr/>
            </a:pPr>
            <a:r>
              <a:rPr lang="en-US">
                <a:ea typeface="ＭＳ Ｐゴシック"/>
                <a:cs typeface="Calibri"/>
              </a:rPr>
              <a:t>Background</a:t>
            </a:r>
            <a:endParaRPr lang="en-US">
              <a:cs typeface="Calibri"/>
            </a:endParaRPr>
          </a:p>
        </p:txBody>
      </p:sp>
      <p:graphicFrame>
        <p:nvGraphicFramePr>
          <p:cNvPr id="736735911" name="Content Placeholder 5"/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4232513765"/>
              </p:ext>
            </p:extLst>
          </p:nvPr>
        </p:nvGraphicFramePr>
        <p:xfrm>
          <a:off x="457200" y="914400"/>
          <a:ext cx="8458200" cy="411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5534423" name="Slide Number Placeholder 2"/>
          <p:cNvSpPr>
            <a:spLocks noGrp="1"/>
          </p:cNvSpPr>
          <p:nvPr>
            <p:ph type="sldNum" sz="quarter" idx="12"/>
          </p:nvPr>
        </p:nvSpPr>
        <p:spPr bwMode="auto">
          <a:xfrm>
            <a:off x="457200" y="4975323"/>
            <a:ext cx="2133600" cy="162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  <a:defRPr/>
            </a:pPr>
            <a:fld id="{C5EF2332-01BF-834F-8236-50238282D533}" type="slidenum">
              <a:rPr lang="en-US" sz="500"/>
              <a:t>14</a:t>
            </a:fld>
            <a:endParaRPr lang="en-US" sz="500"/>
          </a:p>
        </p:txBody>
      </p:sp>
      <p:sp>
        <p:nvSpPr>
          <p:cNvPr id="1007484301" name="Title 3"/>
          <p:cNvSpPr>
            <a:spLocks noGrp="1"/>
          </p:cNvSpPr>
          <p:nvPr>
            <p:ph type="title"/>
          </p:nvPr>
        </p:nvSpPr>
        <p:spPr bwMode="auto">
          <a:xfrm>
            <a:off x="457200" y="87474"/>
            <a:ext cx="8458200" cy="769776"/>
          </a:xfrm>
        </p:spPr>
        <p:txBody>
          <a:bodyPr wrap="square" anchor="b">
            <a:normAutofit/>
          </a:bodyPr>
          <a:lstStyle/>
          <a:p>
            <a:pPr>
              <a:defRPr/>
            </a:pPr>
            <a:r>
              <a:rPr lang="en-US"/>
              <a:t>Method Selection</a:t>
            </a:r>
            <a:endParaRPr/>
          </a:p>
        </p:txBody>
      </p:sp>
      <p:graphicFrame>
        <p:nvGraphicFramePr>
          <p:cNvPr id="1267923431" name="Content Placeholder 6"/>
          <p:cNvGraphicFramePr>
            <a:graphicFrameLocks noGrp="1"/>
          </p:cNvGraphicFramePr>
          <p:nvPr>
            <p:ph sz="quarter" idx="13"/>
            <p:extLst>
              <p:ext uri="{D42A27DB-BD31-4B8C-83A1-F6EECF244321}">
                <p14:modId xmlns:p14="http://schemas.microsoft.com/office/powerpoint/2010/main" val="2954089734"/>
              </p:ext>
            </p:extLst>
          </p:nvPr>
        </p:nvGraphicFramePr>
        <p:xfrm>
          <a:off x="457200" y="1172476"/>
          <a:ext cx="8458203" cy="359865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17620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96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205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858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346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500"/>
                        <a:t>Axis</a:t>
                      </a:r>
                      <a:endParaRPr/>
                    </a:p>
                  </a:txBody>
                  <a:tcPr marL="99273" marR="99273" marT="49637" marB="49637"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500"/>
                        <a:t>Method</a:t>
                      </a:r>
                      <a:endParaRPr/>
                    </a:p>
                  </a:txBody>
                  <a:tcPr marL="99273" marR="99273" marT="49637" marB="49637"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500"/>
                        <a:t>Key Parameters</a:t>
                      </a:r>
                      <a:endParaRPr/>
                    </a:p>
                  </a:txBody>
                  <a:tcPr marL="99273" marR="99273" marT="49637" marB="49637"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500"/>
                        <a:t>Why do we choose this?</a:t>
                      </a:r>
                      <a:endParaRPr/>
                    </a:p>
                  </a:txBody>
                  <a:tcPr marL="99273" marR="99273" marT="49637" marB="49637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5711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 sz="1500" dirty="0"/>
                        <a:t>Baseline</a:t>
                      </a:r>
                      <a:endParaRPr dirty="0"/>
                    </a:p>
                  </a:txBody>
                  <a:tcPr marL="99273" marR="99273" marT="49637" marB="49637"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 sz="1500"/>
                        <a:t>FedAvg</a:t>
                      </a:r>
                      <a:endParaRPr/>
                    </a:p>
                  </a:txBody>
                  <a:tcPr marL="99273" marR="99273" marT="49637" marB="49637" anchor="ctr"/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500"/>
                        <a:t>-</a:t>
                      </a:r>
                      <a:endParaRPr/>
                    </a:p>
                  </a:txBody>
                  <a:tcPr marL="99273" marR="99273" marT="49637" marB="49637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  <a:defRPr/>
                      </a:pPr>
                      <a:r>
                        <a:rPr lang="en-US" sz="1500" b="0" u="none" strike="noStrike"/>
                        <a:t>Commonly used for benchmarking</a:t>
                      </a:r>
                      <a:endParaRPr lang="en-US" sz="1500"/>
                    </a:p>
                  </a:txBody>
                  <a:tcPr marL="99273" marR="99273" marT="49637" marB="49637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09076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 sz="1500"/>
                        <a:t>Privacy</a:t>
                      </a:r>
                      <a:endParaRPr/>
                    </a:p>
                  </a:txBody>
                  <a:tcPr marL="99273" marR="99273" marT="49637" marB="49637"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 sz="1500"/>
                        <a:t>DP-SGD</a:t>
                      </a:r>
                      <a:endParaRPr/>
                    </a:p>
                  </a:txBody>
                  <a:tcPr marL="99273" marR="99273" marT="49637" marB="49637"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 sz="1500"/>
                        <a:t>Privacy budget, failure probability</a:t>
                      </a:r>
                      <a:endParaRPr/>
                    </a:p>
                  </a:txBody>
                  <a:tcPr marL="99273" marR="99273" marT="49637" marB="49637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  <a:defRPr/>
                      </a:pPr>
                      <a:r>
                        <a:rPr lang="en-US" sz="1500" b="0" u="none" strike="noStrike"/>
                        <a:t>good standard, tunable privacy budget, Opacus integration with Flower</a:t>
                      </a:r>
                      <a:endParaRPr lang="en-US" sz="1500"/>
                    </a:p>
                  </a:txBody>
                  <a:tcPr marL="99273" marR="99273" marT="49637" marB="49637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4621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 sz="1500"/>
                        <a:t>Robustness</a:t>
                      </a:r>
                      <a:endParaRPr/>
                    </a:p>
                  </a:txBody>
                  <a:tcPr marL="99273" marR="99273" marT="49637" marB="49637"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 sz="1500"/>
                        <a:t>FLTrust</a:t>
                      </a:r>
                      <a:endParaRPr/>
                    </a:p>
                  </a:txBody>
                  <a:tcPr marL="99273" marR="99273" marT="49637" marB="49637"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 sz="1500"/>
                        <a:t>Server root dataset size</a:t>
                      </a:r>
                      <a:endParaRPr/>
                    </a:p>
                  </a:txBody>
                  <a:tcPr marL="99273" marR="99273" marT="49637" marB="49637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  <a:defRPr/>
                      </a:pPr>
                      <a:r>
                        <a:rPr lang="en-US" sz="1500" b="0" u="none" strike="noStrike"/>
                        <a:t>Stronger than Krum under heterogeneity</a:t>
                      </a:r>
                      <a:endParaRPr/>
                    </a:p>
                  </a:txBody>
                  <a:tcPr marL="99273" marR="99273" marT="49637" marB="49637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4621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 sz="1500"/>
                        <a:t>Performance</a:t>
                      </a:r>
                      <a:endParaRPr/>
                    </a:p>
                  </a:txBody>
                  <a:tcPr marL="99273" marR="99273" marT="49637" marB="49637" anchor="ctr"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en-US" sz="1500"/>
                        <a:t>Top-k sparsification</a:t>
                      </a:r>
                      <a:endParaRPr/>
                    </a:p>
                  </a:txBody>
                  <a:tcPr marL="99273" marR="99273" marT="49637" marB="49637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  <a:defRPr/>
                      </a:pPr>
                      <a:r>
                        <a:rPr lang="en-US" sz="1500"/>
                        <a:t>Sparsification threshold</a:t>
                      </a:r>
                      <a:endParaRPr/>
                    </a:p>
                  </a:txBody>
                  <a:tcPr marL="99273" marR="99273" marT="49637" marB="49637" anchor="ctr"/>
                </a:tc>
                <a:tc>
                  <a:txBody>
                    <a:bodyPr/>
                    <a:lstStyle/>
                    <a:p>
                      <a:pPr lvl="0">
                        <a:buNone/>
                        <a:defRPr/>
                      </a:pPr>
                      <a:r>
                        <a:rPr lang="en-US" sz="1500" b="0" u="none" strike="noStrike" dirty="0"/>
                        <a:t>Simple, compatible with DP and robust </a:t>
                      </a:r>
                      <a:r>
                        <a:rPr lang="en-US" sz="1500" b="0" u="none" strike="noStrike" dirty="0" err="1"/>
                        <a:t>agg</a:t>
                      </a:r>
                      <a:r>
                        <a:rPr lang="en-US" sz="1500" b="0" u="none" strike="noStrike" dirty="0"/>
                        <a:t>.; directly controllable</a:t>
                      </a:r>
                      <a:endParaRPr lang="en-US" sz="1500" dirty="0"/>
                    </a:p>
                  </a:txBody>
                  <a:tcPr marL="99273" marR="99273" marT="49637" marB="49637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7235152" name="Slide Number Placeholder 2"/>
          <p:cNvSpPr>
            <a:spLocks noGrp="1"/>
          </p:cNvSpPr>
          <p:nvPr>
            <p:ph type="sldNum" sz="quarter" idx="12"/>
          </p:nvPr>
        </p:nvSpPr>
        <p:spPr bwMode="auto">
          <a:xfrm>
            <a:off x="457200" y="4975323"/>
            <a:ext cx="2133600" cy="162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  <a:defRPr/>
            </a:pPr>
            <a:fld id="{C5EF2332-01BF-834F-8236-50238282D533}" type="slidenum">
              <a:rPr lang="en-US" sz="500"/>
              <a:t>15</a:t>
            </a:fld>
            <a:endParaRPr lang="en-US" sz="500"/>
          </a:p>
        </p:txBody>
      </p:sp>
      <p:sp>
        <p:nvSpPr>
          <p:cNvPr id="738797025" name="Title 3"/>
          <p:cNvSpPr>
            <a:spLocks noGrp="1"/>
          </p:cNvSpPr>
          <p:nvPr>
            <p:ph type="title"/>
          </p:nvPr>
        </p:nvSpPr>
        <p:spPr bwMode="auto">
          <a:xfrm>
            <a:off x="457200" y="87474"/>
            <a:ext cx="8458200" cy="769776"/>
          </a:xfrm>
        </p:spPr>
        <p:txBody>
          <a:bodyPr wrap="square" anchor="b">
            <a:normAutofit/>
          </a:bodyPr>
          <a:lstStyle/>
          <a:p>
            <a:pPr>
              <a:defRPr/>
            </a:pPr>
            <a:r>
              <a:rPr lang="en-US"/>
              <a:t>Threat Model</a:t>
            </a:r>
            <a:endParaRPr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803255511" name="Content Placeholder 1"/>
              <p:cNvGraphicFramePr>
                <a:graphicFrameLocks noGrp="1"/>
              </p:cNvGraphicFramePr>
              <p:nvPr>
                <p:ph sz="quarter" idx="13"/>
                <p:extLst>
                  <p:ext uri="{D42A27DB-BD31-4B8C-83A1-F6EECF244321}">
                    <p14:modId xmlns:p14="http://schemas.microsoft.com/office/powerpoint/2010/main" val="3708957899"/>
                  </p:ext>
                </p:extLst>
              </p:nvPr>
            </p:nvGraphicFramePr>
            <p:xfrm>
              <a:off x="457200" y="762000"/>
              <a:ext cx="8458200" cy="4114800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3" r:lo="rId4" r:qs="rId5" r:cs="rId6"/>
              </a:graphicData>
            </a:graphic>
          </p:graphicFrame>
        </mc:Choice>
        <mc:Fallback>
          <p:graphicFrame>
            <p:nvGraphicFramePr>
              <p:cNvPr id="1803255511" name="Content Placeholder 1"/>
              <p:cNvGraphicFramePr>
                <a:graphicFrameLocks noGrp="1"/>
              </p:cNvGraphicFramePr>
              <p:nvPr>
                <p:ph sz="quarter" idx="13"/>
                <p:extLst>
                  <p:ext uri="{D42A27DB-BD31-4B8C-83A1-F6EECF244321}">
                    <p14:modId xmlns:p14="http://schemas.microsoft.com/office/powerpoint/2010/main" val="3708957899"/>
                  </p:ext>
                </p:extLst>
              </p:nvPr>
            </p:nvGraphicFramePr>
            <p:xfrm>
              <a:off x="457200" y="762000"/>
              <a:ext cx="8458200" cy="4114800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8" r:lo="rId4" r:qs="rId5" r:cs="rId6"/>
              </a:graphicData>
            </a:graphic>
          </p:graphicFrame>
        </mc:Fallback>
      </mc:AlternateContent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1142264" name="Slide Number Placeholder 2"/>
          <p:cNvSpPr>
            <a:spLocks noGrp="1"/>
          </p:cNvSpPr>
          <p:nvPr>
            <p:ph type="sldNum" sz="quarter" idx="12"/>
          </p:nvPr>
        </p:nvSpPr>
        <p:spPr bwMode="auto">
          <a:xfrm>
            <a:off x="457200" y="4975323"/>
            <a:ext cx="2133600" cy="162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  <a:defRPr/>
            </a:pPr>
            <a:fld id="{C5EF2332-01BF-834F-8236-50238282D533}" type="slidenum">
              <a:rPr lang="en-US" sz="500"/>
              <a:t>16</a:t>
            </a:fld>
            <a:endParaRPr lang="en-US" sz="500"/>
          </a:p>
        </p:txBody>
      </p:sp>
      <p:sp>
        <p:nvSpPr>
          <p:cNvPr id="752891568" name="Title 3"/>
          <p:cNvSpPr>
            <a:spLocks noGrp="1"/>
          </p:cNvSpPr>
          <p:nvPr>
            <p:ph type="title"/>
          </p:nvPr>
        </p:nvSpPr>
        <p:spPr bwMode="auto">
          <a:xfrm>
            <a:off x="457200" y="87474"/>
            <a:ext cx="8458200" cy="769776"/>
          </a:xfrm>
        </p:spPr>
        <p:txBody>
          <a:bodyPr wrap="square" anchor="b">
            <a:normAutofit/>
          </a:bodyPr>
          <a:lstStyle/>
          <a:p>
            <a:pPr>
              <a:defRPr/>
            </a:pPr>
            <a:r>
              <a:rPr lang="en-US"/>
              <a:t>Research Questions</a:t>
            </a:r>
            <a:endParaRPr/>
          </a:p>
        </p:txBody>
      </p:sp>
      <p:graphicFrame>
        <p:nvGraphicFramePr>
          <p:cNvPr id="884793367" name="Content Placeholder 1"/>
          <p:cNvGraphicFramePr>
            <a:graphicFrameLocks noGrp="1"/>
          </p:cNvGraphicFramePr>
          <p:nvPr>
            <p:ph sz="quarter" idx="13"/>
          </p:nvPr>
        </p:nvGraphicFramePr>
        <p:xfrm>
          <a:off x="457200" y="861647"/>
          <a:ext cx="8449408" cy="391257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" name="Grafik 2">
            <a:extLst>
              <a:ext uri="{FF2B5EF4-FFF2-40B4-BE49-F238E27FC236}">
                <a16:creationId xmlns:a16="http://schemas.microsoft.com/office/drawing/2014/main" id="{244F86D0-CA43-0D5A-62F1-59BC66B74A5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847"/>
          <a:stretch>
            <a:fillRect/>
          </a:stretch>
        </p:blipFill>
        <p:spPr>
          <a:xfrm>
            <a:off x="4610099" y="2176724"/>
            <a:ext cx="3138486" cy="2922078"/>
          </a:xfrm>
          <a:prstGeom prst="rect">
            <a:avLst/>
          </a:prstGeom>
        </p:spPr>
      </p:pic>
      <p:sp>
        <p:nvSpPr>
          <p:cNvPr id="1305896568" name="Slide Number Placeholder 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5EF2332-01BF-834F-8236-50238282D533}" type="slidenum">
              <a:rPr lang="en-US"/>
              <a:t>17</a:t>
            </a:fld>
            <a:endParaRPr lang="en-US"/>
          </a:p>
        </p:txBody>
      </p:sp>
      <p:sp>
        <p:nvSpPr>
          <p:cNvPr id="1671505865" name="Title 2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>
                <a:ea typeface="Calibri"/>
                <a:cs typeface="Calibri"/>
              </a:rPr>
              <a:t>Experimental Setup</a:t>
            </a:r>
            <a:endParaRPr lang="en-US"/>
          </a:p>
        </p:txBody>
      </p:sp>
      <p:sp>
        <p:nvSpPr>
          <p:cNvPr id="1195635967" name="Content Placeholder 3"/>
          <p:cNvSpPr>
            <a:spLocks noGrp="1"/>
          </p:cNvSpPr>
          <p:nvPr>
            <p:ph sz="half" idx="1"/>
          </p:nvPr>
        </p:nvSpPr>
        <p:spPr bwMode="auto">
          <a:xfrm>
            <a:off x="237212" y="2630472"/>
            <a:ext cx="4220490" cy="4033800"/>
          </a:xfrm>
        </p:spPr>
        <p:txBody>
          <a:bodyPr/>
          <a:lstStyle/>
          <a:p>
            <a:pPr marL="255270" indent="-255270">
              <a:defRPr/>
            </a:pPr>
            <a:r>
              <a:rPr lang="en-US" dirty="0">
                <a:ea typeface="ＭＳ Ｐゴシック"/>
                <a:cs typeface="Calibri"/>
              </a:rPr>
              <a:t>Model Architecture: CNN (image classifier)</a:t>
            </a:r>
          </a:p>
          <a:p>
            <a:pPr marL="255269" indent="-255269">
              <a:defRPr/>
            </a:pPr>
            <a:endParaRPr lang="en-US" dirty="0">
              <a:ea typeface="ＭＳ Ｐゴシック"/>
              <a:cs typeface="Calibri"/>
            </a:endParaRPr>
          </a:p>
          <a:p>
            <a:pPr marL="255270" indent="-255270">
              <a:defRPr/>
            </a:pPr>
            <a:r>
              <a:rPr lang="en-US" dirty="0">
                <a:ea typeface="ＭＳ Ｐゴシック"/>
                <a:cs typeface="Calibri"/>
              </a:rPr>
              <a:t>Dataset</a:t>
            </a:r>
            <a:r>
              <a:rPr lang="de-DE" dirty="0">
                <a:ea typeface="ＭＳ Ｐゴシック"/>
                <a:cs typeface="Calibri"/>
              </a:rPr>
              <a:t>: </a:t>
            </a:r>
            <a:r>
              <a:rPr lang="en-US" dirty="0">
                <a:ea typeface="ＭＳ Ｐゴシック"/>
                <a:cs typeface="Calibri"/>
              </a:rPr>
              <a:t>MNIST</a:t>
            </a:r>
          </a:p>
          <a:p>
            <a:pPr marL="255269" indent="-255269">
              <a:defRPr/>
            </a:pPr>
            <a:endParaRPr lang="en-US" dirty="0">
              <a:cs typeface="Calibri"/>
            </a:endParaRPr>
          </a:p>
        </p:txBody>
      </p:sp>
      <p:pic>
        <p:nvPicPr>
          <p:cNvPr id="820971597" name="Content Placeholder 7"/>
          <p:cNvPicPr>
            <a:picLocks noGrp="1" noChangeAspect="1"/>
          </p:cNvPicPr>
          <p:nvPr>
            <p:ph sz="quarter" idx="14"/>
          </p:nvPr>
        </p:nvPicPr>
        <p:blipFill rotWithShape="1">
          <a:blip r:embed="rId4"/>
          <a:stretch/>
        </p:blipFill>
        <p:spPr bwMode="auto">
          <a:xfrm>
            <a:off x="1817093" y="3279477"/>
            <a:ext cx="2258037" cy="1439861"/>
          </a:xfrm>
          <a:prstGeom prst="rect">
            <a:avLst/>
          </a:prstGeom>
          <a:noFill/>
          <a:ln>
            <a:noFill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054996720" name="Inhaltsplatzhalter 3"/>
              <p:cNvSpPr>
                <a:spLocks noGrp="1"/>
              </p:cNvSpPr>
              <p:nvPr>
                <p:ph sz="half" idx="2"/>
              </p:nvPr>
            </p:nvSpPr>
            <p:spPr bwMode="auto">
              <a:xfrm>
                <a:off x="304803" y="1011545"/>
                <a:ext cx="4152899" cy="4114800"/>
              </a:xfrm>
            </p:spPr>
            <p:txBody>
              <a:bodyPr/>
              <a:lstStyle>
                <a:lvl1pPr>
                  <a:defRPr sz="1500"/>
                </a:lvl1pPr>
                <a:lvl2pPr>
                  <a:defRPr sz="1500"/>
                </a:lvl2pPr>
                <a:lvl3pPr>
                  <a:defRPr sz="1500"/>
                </a:lvl3pPr>
                <a:lvl4pPr>
                  <a:defRPr sz="1500"/>
                </a:lvl4pPr>
                <a:lvl5pPr>
                  <a:defRPr sz="1500"/>
                </a:lvl5pPr>
                <a:lvl6pPr>
                  <a:defRPr sz="1350"/>
                </a:lvl6pPr>
                <a:lvl7pPr>
                  <a:defRPr sz="1350"/>
                </a:lvl7pPr>
                <a:lvl8pPr>
                  <a:defRPr sz="1350"/>
                </a:lvl8pPr>
                <a:lvl9pPr>
                  <a:defRPr sz="1350"/>
                </a:lvl9pPr>
              </a:lstStyle>
              <a:p>
                <a:pPr marL="0" indent="0" algn="l">
                  <a:buClr>
                    <a:schemeClr val="accent2"/>
                  </a:buClr>
                  <a:buSzPct val="100000"/>
                  <a:buFont typeface="Wingdings"/>
                  <a:buNone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sz="1500" u="none" strike="noStrike" cap="none" spc="0">
                          <a:solidFill>
                            <a:schemeClr val="tx2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𝐑𝐞𝐩𝐨𝐫𝐭𝐢𝐧𝐠</m:t>
                      </m:r>
                      <m:r>
                        <a:rPr lang="en-US" sz="1500" u="none" strike="noStrike" cap="none" spc="0">
                          <a:solidFill>
                            <a:schemeClr val="tx2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 </m:t>
                      </m:r>
                      <m:r>
                        <a:rPr lang="en-US" sz="1500" u="none" strike="noStrike" cap="none" spc="0">
                          <a:solidFill>
                            <a:schemeClr val="tx2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𝐦𝐞𝐭𝐫𝐢𝐜𝐬</m:t>
                      </m:r>
                    </m:oMath>
                  </m:oMathPara>
                </a14:m>
                <a:endParaRPr sz="1500" b="1" u="none" strike="noStrike" cap="none" spc="0" dirty="0">
                  <a:solidFill>
                    <a:schemeClr val="tx2"/>
                  </a:solidFill>
                  <a:latin typeface="Cambria Math"/>
                  <a:ea typeface="Cambria Math"/>
                  <a:cs typeface="Cambria Math"/>
                </a:endParaRPr>
              </a:p>
              <a:p>
                <a:pPr marL="0" indent="0" algn="l">
                  <a:buClr>
                    <a:schemeClr val="accent2"/>
                  </a:buClr>
                  <a:buSzPct val="100000"/>
                  <a:buFont typeface="Wingdings"/>
                  <a:buNone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6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Privacy</m:t>
                      </m:r>
                      <m:r>
                        <a:rPr lang="en-US" sz="16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: </m:t>
                      </m:r>
                      <m:func>
                        <m:funcPr>
                          <m:ctrlPr>
                            <a:rPr lang="en-US" sz="1600" i="1" u="none" strike="noStrike" cap="none" spc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6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ctrlPr>
                                <a:rPr lang="en-US" sz="160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dPr>
                            <m:e>
                              <m:r>
                                <a:rPr lang="en-US" sz="16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0</m:t>
                              </m:r>
                              <m:r>
                                <a:rPr lang="en-US" sz="16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,</m:t>
                              </m:r>
                              <m:f>
                                <m:fPr>
                                  <m:ctrlPr>
                                    <a:rPr lang="en-US" sz="1600" i="1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/>
                                      <a:cs typeface="Cambria Math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sz="1600" i="1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6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𝜀</m:t>
                                      </m:r>
                                    </m:e>
                                    <m:sub>
                                      <m:r>
                                        <a:rPr lang="en-US" sz="16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𝑚𝑎𝑥</m:t>
                                      </m:r>
                                    </m:sub>
                                  </m:sSub>
                                  <m:r>
                                    <a:rPr lang="en-US" sz="16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−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sz="1600" u="none" strike="noStrike" cap="none" spc="0">
                                      <a:solidFill>
                                        <a:schemeClr val="tx1"/>
                                      </a:solidFill>
                                      <a:latin typeface="Cambria Math"/>
                                      <a:ea typeface="Cambria Math"/>
                                      <a:cs typeface="Cambria Math"/>
                                    </a:rPr>
                                    <m:t>ε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sz="1600" i="1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/>
                                          <a:cs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sz="16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ε</m:t>
                                      </m:r>
                                    </m:e>
                                    <m:sub>
                                      <m:r>
                                        <a:rPr lang="en-US" sz="1600" u="none" strike="noStrike" cap="none" spc="0">
                                          <a:solidFill>
                                            <a:schemeClr val="tx1"/>
                                          </a:solidFill>
                                          <a:latin typeface="Cambria Math"/>
                                          <a:ea typeface="Cambria Math"/>
                                          <a:cs typeface="Cambria Math"/>
                                        </a:rPr>
                                        <m:t>𝑚𝑎𝑥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func>
                    </m:oMath>
                  </m:oMathPara>
                </a14:m>
                <a:endParaRPr sz="1600" i="0" u="none" strike="noStrike" cap="none" spc="0" dirty="0">
                  <a:solidFill>
                    <a:schemeClr val="tx1"/>
                  </a:solidFill>
                  <a:latin typeface="Cambria Math"/>
                  <a:ea typeface="Cambria Math"/>
                  <a:cs typeface="Cambria Math"/>
                </a:endParaRPr>
              </a:p>
              <a:p>
                <a:pPr marL="0" indent="0" algn="l">
                  <a:buClr>
                    <a:schemeClr val="accent2"/>
                  </a:buClr>
                  <a:buSzPct val="100000"/>
                  <a:buFont typeface="Wingdings"/>
                  <a:buNone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6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Robustness</m:t>
                      </m:r>
                      <m:r>
                        <a:rPr lang="en-US" sz="16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: </m:t>
                      </m:r>
                      <m:r>
                        <a:rPr lang="en-US" sz="16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1</m:t>
                      </m:r>
                      <m:r>
                        <a:rPr lang="en-US" sz="16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−</m:t>
                      </m:r>
                      <m:sSub>
                        <m:sSubPr>
                          <m:ctrlPr>
                            <a:rPr lang="en-US" sz="1600" i="1" u="none" strike="noStrike" cap="none" spc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Δ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6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acc</m:t>
                          </m:r>
                        </m:sub>
                      </m:sSub>
                    </m:oMath>
                  </m:oMathPara>
                </a14:m>
                <a:endParaRPr sz="1600" u="none" strike="noStrike" cap="none" spc="0" dirty="0">
                  <a:solidFill>
                    <a:schemeClr val="tx1"/>
                  </a:solidFill>
                  <a:latin typeface="Cambria Math"/>
                  <a:ea typeface="Cambria Math"/>
                  <a:cs typeface="Cambria Math"/>
                </a:endParaRPr>
              </a:p>
              <a:p>
                <a:pPr marL="0" indent="0" algn="l">
                  <a:buClr>
                    <a:schemeClr val="accent2"/>
                  </a:buClr>
                  <a:buSzPct val="100000"/>
                  <a:buFont typeface="Wingdings"/>
                  <a:buNone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6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Efficiency</m:t>
                      </m:r>
                      <m:r>
                        <a:rPr lang="en-US" sz="16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: </m:t>
                      </m:r>
                      <m:r>
                        <m:rPr>
                          <m:sty m:val="p"/>
                        </m:rPr>
                        <a:rPr lang="en-US" sz="16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α</m:t>
                      </m:r>
                      <m:r>
                        <a:rPr lang="en-US" sz="16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f>
                        <m:fPr>
                          <m:ctrlPr>
                            <a:rPr lang="en-US" sz="1600" i="1" u="none" strike="noStrike" cap="none" spc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6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t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6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base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p"/>
                            </m:rPr>
                            <a:rPr lang="en-US" sz="16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t</m:t>
                          </m:r>
                        </m:den>
                      </m:f>
                      <m:r>
                        <a:rPr lang="en-US" sz="16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</m:t>
                      </m:r>
                      <m:d>
                        <m:dPr>
                          <m:ctrlPr>
                            <a:rPr lang="en-US" sz="1600" i="1" u="none" strike="noStrike" cap="none" spc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en-US" sz="16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1</m:t>
                          </m:r>
                          <m:r>
                            <a:rPr lang="en-US" sz="16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n-US" sz="16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α</m:t>
                          </m:r>
                        </m:e>
                      </m:d>
                      <m:r>
                        <a:rPr lang="en-US" sz="1600" u="none" strike="noStrike" cap="none" spc="0">
                          <a:solidFill>
                            <a:schemeClr val="tx1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×</m:t>
                      </m:r>
                      <m:f>
                        <m:fPr>
                          <m:ctrlPr>
                            <a:rPr lang="en-US" sz="1600" i="1" u="none" strike="noStrike" cap="none" spc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160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6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6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base</m:t>
                              </m:r>
                            </m:sub>
                          </m:sSub>
                          <m:r>
                            <a:rPr lang="en-US" sz="16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n-US" sz="1600" u="none" strike="noStrike" cap="none" spc="0">
                              <a:solidFill>
                                <a:schemeClr val="tx1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b</m:t>
                          </m:r>
                        </m:num>
                        <m:den>
                          <m:sSub>
                            <m:sSubPr>
                              <m:ctrlPr>
                                <a:rPr lang="en-US" sz="1600" i="1" u="none" strike="noStrike" cap="none" spc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6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1600" u="none" strike="noStrike" cap="none" spc="0">
                                  <a:solidFill>
                                    <a:schemeClr val="tx1"/>
                                  </a:solidFill>
                                  <a:latin typeface="Cambria Math"/>
                                  <a:ea typeface="Cambria Math"/>
                                  <a:cs typeface="Cambria Math"/>
                                </a:rPr>
                                <m:t>base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sz="1500" u="none" strike="noStrike" cap="none" spc="0" dirty="0">
                  <a:solidFill>
                    <a:schemeClr val="tx2"/>
                  </a:solidFill>
                  <a:latin typeface="Cambria Math"/>
                  <a:ea typeface="Cambria Math"/>
                  <a:cs typeface="Cambria Math"/>
                </a:endParaRPr>
              </a:p>
              <a:p>
                <a:pPr marL="0" indent="0">
                  <a:buClr>
                    <a:schemeClr val="accent2"/>
                  </a:buClr>
                  <a:buSzPct val="100000"/>
                  <a:buFont typeface="Wingdings"/>
                  <a:buNone/>
                  <a:defRPr/>
                </a:pPr>
                <a:endParaRPr dirty="0"/>
              </a:p>
            </p:txBody>
          </p:sp>
        </mc:Choice>
        <mc:Fallback>
          <p:sp>
            <p:nvSpPr>
              <p:cNvPr id="2054996720" name="Inhaltsplatzhalt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 bwMode="auto">
              <a:xfrm>
                <a:off x="304803" y="1011545"/>
                <a:ext cx="4152899" cy="4114800"/>
              </a:xfr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DD448F9C-3EDF-A3F7-2FAB-F43DC673E3FD}"/>
                  </a:ext>
                </a:extLst>
              </p:cNvPr>
              <p:cNvSpPr txBox="1"/>
              <p:nvPr/>
            </p:nvSpPr>
            <p:spPr>
              <a:xfrm>
                <a:off x="5143502" y="1011545"/>
                <a:ext cx="4579144" cy="11634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>
                  <a:buClr>
                    <a:schemeClr val="accent2"/>
                  </a:buClr>
                  <a:buSzPct val="100000"/>
                  <a:buFont typeface="Wingdings"/>
                  <a:buNone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ar-AE" sz="1200" u="none" strike="noStrike" cap="none" spc="0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𝜀</m:t>
                      </m:r>
                      <m:r>
                        <a:rPr lang="ar-AE" sz="1200" u="none" strike="noStrike" cap="none" spc="0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 − </m:t>
                      </m:r>
                      <m:r>
                        <a:rPr lang="ar-AE" sz="1200" u="none" strike="noStrike" cap="none" spc="0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𝑝𝑟𝑖𝑣𝑎𝑐𝑦</m:t>
                      </m:r>
                      <m:r>
                        <a:rPr lang="ar-AE" sz="1200" u="none" strike="noStrike" cap="none" spc="0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 </m:t>
                      </m:r>
                      <m:r>
                        <a:rPr lang="ar-AE" sz="1200" u="none" strike="noStrike" cap="none" spc="0" smtClean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𝑏𝑢𝑑𝑔𝑒𝑡</m:t>
                      </m:r>
                    </m:oMath>
                  </m:oMathPara>
                </a14:m>
                <a:endParaRPr lang="ar-AE" sz="1200" i="1" u="none" strike="noStrike" cap="none" spc="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Cambria Math"/>
                  <a:ea typeface="Cambria Math"/>
                  <a:cs typeface="Cambria Math"/>
                </a:endParaRPr>
              </a:p>
              <a:p>
                <a:pPr marL="0" indent="0">
                  <a:buClr>
                    <a:schemeClr val="accent2"/>
                  </a:buClr>
                  <a:buSzPct val="100000"/>
                  <a:buFont typeface="Wingdings"/>
                  <a:buNone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 sz="1200" i="1" u="none" strike="noStrike" cap="none" spc="0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ar-AE" sz="1200" u="none" strike="noStrike" cap="none" spc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𝛥</m:t>
                          </m:r>
                        </m:e>
                        <m:sub>
                          <m:r>
                            <a:rPr lang="ar-AE" sz="1200" u="none" strike="noStrike" cap="none" spc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𝑎𝑐𝑐</m:t>
                          </m:r>
                        </m:sub>
                      </m:sSub>
                      <m:r>
                        <a:rPr lang="ar-AE" sz="1200" u="none" strike="noStrike" cap="none" spc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−</m:t>
                      </m:r>
                      <m:r>
                        <a:rPr lang="ar-AE" sz="1200" u="none" strike="noStrike" cap="none" spc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𝑎𝑐𝑐𝑢𝑟𝑎𝑐𝑦</m:t>
                      </m:r>
                      <m:r>
                        <a:rPr lang="ar-AE" sz="1200" u="none" strike="noStrike" cap="none" spc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 </m:t>
                      </m:r>
                      <m:r>
                        <a:rPr lang="ar-AE" sz="1200" u="none" strike="noStrike" cap="none" spc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𝑔𝑎𝑝</m:t>
                      </m:r>
                      <m:r>
                        <a:rPr lang="ar-AE" sz="1200" u="none" strike="noStrike" cap="none" spc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 </m:t>
                      </m:r>
                      <m:r>
                        <a:rPr lang="ar-AE" sz="1200" u="none" strike="noStrike" cap="none" spc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𝑡𝑜</m:t>
                      </m:r>
                      <m:r>
                        <a:rPr lang="ar-AE" sz="1200" u="none" strike="noStrike" cap="none" spc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 </m:t>
                      </m:r>
                      <m:r>
                        <a:rPr lang="ar-AE" sz="1200" u="none" strike="noStrike" cap="none" spc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𝑐𝑙𝑒𝑎𝑛</m:t>
                      </m:r>
                      <m:r>
                        <a:rPr lang="ar-AE" sz="1200" u="none" strike="noStrike" cap="none" spc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 </m:t>
                      </m:r>
                      <m:r>
                        <a:rPr lang="ar-AE" sz="1200" u="none" strike="noStrike" cap="none" spc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𝑏𝑎𝑠𝑒𝑙𝑖𝑛𝑒</m:t>
                      </m:r>
                    </m:oMath>
                  </m:oMathPara>
                </a14:m>
                <a:endParaRPr lang="ar-AE" sz="1200" i="1" u="none" strike="noStrike" cap="none" spc="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Cambria Math"/>
                  <a:ea typeface="Cambria Math"/>
                  <a:cs typeface="Cambria Math"/>
                </a:endParaRPr>
              </a:p>
              <a:p>
                <a:pPr marL="0" indent="0">
                  <a:buClr>
                    <a:schemeClr val="accent2"/>
                  </a:buClr>
                  <a:buSzPct val="100000"/>
                  <a:buFont typeface="Wingdings"/>
                  <a:buNone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ar-AE" sz="1200" u="none" strike="noStrike" cap="none" spc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𝑡</m:t>
                      </m:r>
                      <m:r>
                        <a:rPr lang="ar-AE" sz="1200" u="none" strike="noStrike" cap="none" spc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−</m:t>
                      </m:r>
                      <m:f>
                        <m:fPr>
                          <m:ctrlPr>
                            <a:rPr lang="ar-AE" sz="1200" i="1" u="none" strike="noStrike" cap="none" spc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ar-AE" sz="1200" u="none" strike="noStrike" cap="none" spc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𝑤𝑎𝑙𝑙</m:t>
                          </m:r>
                          <m:r>
                            <a:rPr lang="ar-AE" sz="1200" u="none" strike="noStrike" cap="none" spc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 </m:t>
                          </m:r>
                          <m:r>
                            <a:rPr lang="ar-AE" sz="1200" u="none" strike="noStrike" cap="none" spc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𝑐𝑙𝑜𝑐𝑘</m:t>
                          </m:r>
                          <m:r>
                            <a:rPr lang="ar-AE" sz="1200" u="none" strike="noStrike" cap="none" spc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 </m:t>
                          </m:r>
                          <m:r>
                            <a:rPr lang="ar-AE" sz="1200" u="none" strike="noStrike" cap="none" spc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𝑡𝑟𝑎𝑖𝑛𝑖𝑛𝑔</m:t>
                          </m:r>
                          <m:r>
                            <a:rPr lang="ar-AE" sz="1200" u="none" strike="noStrike" cap="none" spc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 </m:t>
                          </m:r>
                          <m:r>
                            <a:rPr lang="ar-AE" sz="1200" u="none" strike="noStrike" cap="none" spc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𝑡𝑖𝑚𝑒</m:t>
                          </m:r>
                        </m:num>
                        <m:den>
                          <m:r>
                            <a:rPr lang="ar-AE" sz="1200" u="none" strike="noStrike" cap="none" spc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#</m:t>
                          </m:r>
                          <m:r>
                            <a:rPr lang="ar-AE" sz="1200" u="none" strike="noStrike" cap="none" spc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𝑐𝑙𝑖𝑒𝑛𝑡𝑠</m:t>
                          </m:r>
                          <m:r>
                            <a:rPr lang="ar-AE" sz="1200" u="none" strike="noStrike" cap="none" spc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×#</m:t>
                          </m:r>
                          <m:r>
                            <a:rPr lang="ar-AE" sz="1200" u="none" strike="noStrike" cap="none" spc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𝑟𝑜𝑢𝑛𝑑𝑠</m:t>
                          </m:r>
                        </m:den>
                      </m:f>
                    </m:oMath>
                  </m:oMathPara>
                </a14:m>
                <a:endParaRPr lang="ar-AE" sz="1200" i="1" dirty="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  <a:p>
                <a:pPr marL="0" indent="0">
                  <a:buClr>
                    <a:schemeClr val="accent2"/>
                  </a:buClr>
                  <a:buSzPct val="100000"/>
                  <a:buFont typeface="Wingdings"/>
                  <a:buNone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ar-AE" sz="1200" u="none" strike="noStrike" cap="none" spc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𝑏</m:t>
                      </m:r>
                      <m:r>
                        <a:rPr lang="ar-AE" sz="1200" u="none" strike="noStrike" cap="none" spc="0">
                          <a:solidFill>
                            <a:schemeClr val="tx1">
                              <a:lumMod val="65000"/>
                              <a:lumOff val="35000"/>
                            </a:schemeClr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−</m:t>
                      </m:r>
                      <m:f>
                        <m:fPr>
                          <m:ctrlPr>
                            <a:rPr lang="ar-AE" sz="1200" i="1" u="none" strike="noStrike" cap="none" spc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ar-AE" sz="1200" u="none" strike="noStrike" cap="none" spc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𝑡𝑜𝑡𝑎𝑙</m:t>
                          </m:r>
                          <m:r>
                            <a:rPr lang="ar-AE" sz="1200" u="none" strike="noStrike" cap="none" spc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 </m:t>
                          </m:r>
                          <m:r>
                            <a:rPr lang="ar-AE" sz="1200" u="none" strike="noStrike" cap="none" spc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𝑏𝑦𝑡𝑒𝑠</m:t>
                          </m:r>
                          <m:r>
                            <a:rPr lang="ar-AE" sz="1200" u="none" strike="noStrike" cap="none" spc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 </m:t>
                          </m:r>
                          <m:r>
                            <a:rPr lang="ar-AE" sz="1200" u="none" strike="noStrike" cap="none" spc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𝑡𝑟𝑎𝑛𝑠𝑓𝑒𝑟𝑟𝑒𝑑</m:t>
                          </m:r>
                        </m:num>
                        <m:den>
                          <m:r>
                            <a:rPr lang="ar-AE" sz="1200" u="none" strike="noStrike" cap="none" spc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#</m:t>
                          </m:r>
                          <m:r>
                            <a:rPr lang="ar-AE" sz="1200" u="none" strike="noStrike" cap="none" spc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𝑐𝑙𝑖𝑒𝑛𝑡𝑠</m:t>
                          </m:r>
                          <m:r>
                            <a:rPr lang="ar-AE" sz="1200" u="none" strike="noStrike" cap="none" spc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×#</m:t>
                          </m:r>
                          <m:r>
                            <a:rPr lang="ar-AE" sz="1200" u="none" strike="noStrike" cap="none" spc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𝑟𝑜𝑢𝑛𝑑𝑠</m:t>
                          </m:r>
                        </m:den>
                      </m:f>
                    </m:oMath>
                  </m:oMathPara>
                </a14:m>
                <a:endParaRPr lang="ar-AE" sz="1200" u="none" strike="noStrike" cap="none" spc="0" dirty="0">
                  <a:solidFill>
                    <a:schemeClr val="tx2"/>
                  </a:solidFill>
                  <a:latin typeface="Cambria Math"/>
                  <a:ea typeface="Cambria Math"/>
                  <a:cs typeface="Cambria Math"/>
                </a:endParaRPr>
              </a:p>
            </p:txBody>
          </p:sp>
        </mc:Choice>
        <mc:Fallback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DD448F9C-3EDF-A3F7-2FAB-F43DC673E3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3502" y="1011545"/>
                <a:ext cx="4579144" cy="1163460"/>
              </a:xfrm>
              <a:prstGeom prst="rect">
                <a:avLst/>
              </a:prstGeom>
              <a:blipFill>
                <a:blip r:embed="rId6"/>
                <a:stretch>
                  <a:fillRect t="-52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2585F3C-9E00-BB61-2614-738F62C14E94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de-DE" dirty="0"/>
              <a:t>Top-k</a:t>
            </a:r>
          </a:p>
          <a:p>
            <a:pPr lvl="1"/>
            <a:r>
              <a:rPr lang="de-DE" dirty="0" err="1"/>
              <a:t>Reduces</a:t>
            </a:r>
            <a:r>
              <a:rPr lang="de-DE" dirty="0"/>
              <a:t> </a:t>
            </a:r>
            <a:r>
              <a:rPr lang="de-DE" dirty="0" err="1"/>
              <a:t>transfered</a:t>
            </a:r>
            <a:r>
              <a:rPr lang="de-DE" dirty="0"/>
              <a:t> </a:t>
            </a:r>
            <a:r>
              <a:rPr lang="de-DE" dirty="0" err="1"/>
              <a:t>bytes</a:t>
            </a:r>
            <a:endParaRPr lang="de-DE" dirty="0"/>
          </a:p>
          <a:p>
            <a:r>
              <a:rPr lang="de-DE" dirty="0" err="1"/>
              <a:t>FLTrust</a:t>
            </a:r>
            <a:endParaRPr lang="de-DE" dirty="0"/>
          </a:p>
          <a:p>
            <a:pPr lvl="1"/>
            <a:r>
              <a:rPr lang="de-DE" dirty="0" err="1"/>
              <a:t>Mitigates</a:t>
            </a:r>
            <a:r>
              <a:rPr lang="de-DE" dirty="0"/>
              <a:t> Label-</a:t>
            </a:r>
            <a:r>
              <a:rPr lang="de-DE" dirty="0" err="1"/>
              <a:t>Flipping</a:t>
            </a:r>
            <a:endParaRPr lang="de-DE" dirty="0"/>
          </a:p>
          <a:p>
            <a:r>
              <a:rPr lang="de-DE" dirty="0"/>
              <a:t>Differential Privacy</a:t>
            </a:r>
          </a:p>
          <a:p>
            <a:pPr lvl="1"/>
            <a:r>
              <a:rPr lang="de-DE" dirty="0" err="1"/>
              <a:t>Increases</a:t>
            </a:r>
            <a:r>
              <a:rPr lang="de-DE" dirty="0"/>
              <a:t> </a:t>
            </a:r>
            <a:r>
              <a:rPr lang="de-DE" dirty="0" err="1"/>
              <a:t>computation</a:t>
            </a:r>
            <a:r>
              <a:rPr lang="de-DE" dirty="0"/>
              <a:t> time</a:t>
            </a:r>
          </a:p>
          <a:p>
            <a:pPr lvl="1"/>
            <a:r>
              <a:rPr lang="de-DE" dirty="0" err="1"/>
              <a:t>Reduces</a:t>
            </a:r>
            <a:r>
              <a:rPr lang="de-DE" dirty="0"/>
              <a:t> </a:t>
            </a:r>
            <a:r>
              <a:rPr lang="de-DE" dirty="0" err="1"/>
              <a:t>accuracy</a:t>
            </a:r>
            <a:endParaRPr lang="de-DE" dirty="0"/>
          </a:p>
        </p:txBody>
      </p:sp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D63D1878-CE01-1D89-FBEB-D37BB4785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5EF2332-01BF-834F-8236-50238282D533}" type="slidenum">
              <a:rPr lang="en-US" smtClean="0"/>
              <a:t>18</a:t>
            </a:fld>
            <a:endParaRPr lang="en-US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BD6393BF-4D8E-CB42-AB6E-AC2A72EDF8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Results</a:t>
            </a:r>
            <a:endParaRPr lang="de-DE" dirty="0"/>
          </a:p>
        </p:txBody>
      </p:sp>
      <p:pic>
        <p:nvPicPr>
          <p:cNvPr id="9" name="Inhaltsplatzhalter 8">
            <a:extLst>
              <a:ext uri="{FF2B5EF4-FFF2-40B4-BE49-F238E27FC236}">
                <a16:creationId xmlns:a16="http://schemas.microsoft.com/office/drawing/2014/main" id="{07F571EF-06A5-7A3E-E8CA-780D62A00BA1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2"/>
          <a:stretch>
            <a:fillRect/>
          </a:stretch>
        </p:blipFill>
        <p:spPr bwMode="auto">
          <a:xfrm>
            <a:off x="4752426" y="857250"/>
            <a:ext cx="3987921" cy="247433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B153456B-5118-6D42-3821-DE36887938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523" y="2686580"/>
            <a:ext cx="4832527" cy="21299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5276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nhaltsplatzhalter 7">
            <a:extLst>
              <a:ext uri="{FF2B5EF4-FFF2-40B4-BE49-F238E27FC236}">
                <a16:creationId xmlns:a16="http://schemas.microsoft.com/office/drawing/2014/main" id="{EE60B1C6-0D7E-9A6F-12C9-6F36EF8D1E01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3"/>
          <a:stretch>
            <a:fillRect/>
          </a:stretch>
        </p:blipFill>
        <p:spPr bwMode="auto">
          <a:xfrm>
            <a:off x="632310" y="914400"/>
            <a:ext cx="8107980" cy="41148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8048EE1C-7F46-8D04-DE30-213BCF76AC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57200" y="4975323"/>
            <a:ext cx="2133600" cy="162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  <a:defRPr/>
            </a:pPr>
            <a:fld id="{C5EF2332-01BF-834F-8236-50238282D533}" type="slidenum">
              <a:rPr lang="en-US" sz="500" smtClean="0"/>
              <a:pPr>
                <a:lnSpc>
                  <a:spcPct val="90000"/>
                </a:lnSpc>
                <a:spcAft>
                  <a:spcPts val="600"/>
                </a:spcAft>
                <a:defRPr/>
              </a:pPr>
              <a:t>19</a:t>
            </a:fld>
            <a:endParaRPr lang="en-US" sz="50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DAC02D4-24E2-36A5-B47A-7BDF448288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87474"/>
            <a:ext cx="8458200" cy="769776"/>
          </a:xfrm>
        </p:spPr>
        <p:txBody>
          <a:bodyPr wrap="square" anchor="b">
            <a:normAutofit/>
          </a:bodyPr>
          <a:lstStyle/>
          <a:p>
            <a:r>
              <a:rPr lang="de-DE" dirty="0"/>
              <a:t>Relevant </a:t>
            </a:r>
            <a:r>
              <a:rPr lang="de-DE" dirty="0" err="1"/>
              <a:t>Findings</a:t>
            </a:r>
            <a:endParaRPr lang="de-DE" dirty="0"/>
          </a:p>
        </p:txBody>
      </p:sp>
      <p:sp>
        <p:nvSpPr>
          <p:cNvPr id="17" name="Content Placeholder 4">
            <a:extLst>
              <a:ext uri="{FF2B5EF4-FFF2-40B4-BE49-F238E27FC236}">
                <a16:creationId xmlns:a16="http://schemas.microsoft.com/office/drawing/2014/main" id="{5A874EF6-4D24-9239-58F7-717DAC96F99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2195736" y="564561"/>
            <a:ext cx="6714008" cy="283369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22958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FF9BEB-272A-6D17-CFF5-1229B194A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Inhaltsplatzhalter 23">
            <a:extLst>
              <a:ext uri="{FF2B5EF4-FFF2-40B4-BE49-F238E27FC236}">
                <a16:creationId xmlns:a16="http://schemas.microsoft.com/office/drawing/2014/main" id="{67A97379-07ED-949D-9789-677DF404BA47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 bwMode="auto">
          <a:xfrm>
            <a:off x="457200" y="1005269"/>
            <a:ext cx="8458200" cy="393306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Foliennummernplatzhalter 1">
            <a:extLst>
              <a:ext uri="{FF2B5EF4-FFF2-40B4-BE49-F238E27FC236}">
                <a16:creationId xmlns:a16="http://schemas.microsoft.com/office/drawing/2014/main" id="{CA716B8F-99F2-DF3F-2E79-32A356FB35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57200" y="4975323"/>
            <a:ext cx="2133600" cy="162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  <a:defRPr/>
            </a:pPr>
            <a:fld id="{C5EF2332-01BF-834F-8236-50238282D533}" type="slidenum">
              <a:rPr lang="en-US" sz="500" smtClean="0"/>
              <a:pPr>
                <a:lnSpc>
                  <a:spcPct val="90000"/>
                </a:lnSpc>
                <a:spcAft>
                  <a:spcPts val="600"/>
                </a:spcAft>
                <a:defRPr/>
              </a:pPr>
              <a:t>20</a:t>
            </a:fld>
            <a:endParaRPr lang="en-US" sz="50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35B68C1F-4E7E-91FA-0C2E-63954B59E8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87474"/>
            <a:ext cx="8458200" cy="769776"/>
          </a:xfrm>
        </p:spPr>
        <p:txBody>
          <a:bodyPr wrap="square" anchor="b">
            <a:normAutofit/>
          </a:bodyPr>
          <a:lstStyle/>
          <a:p>
            <a:r>
              <a:rPr lang="de-DE" dirty="0"/>
              <a:t>Relevant </a:t>
            </a:r>
            <a:r>
              <a:rPr lang="de-DE" dirty="0" err="1"/>
              <a:t>Findings</a:t>
            </a:r>
            <a:endParaRPr lang="de-DE" dirty="0"/>
          </a:p>
        </p:txBody>
      </p:sp>
      <p:sp>
        <p:nvSpPr>
          <p:cNvPr id="29" name="Content Placeholder 4">
            <a:extLst>
              <a:ext uri="{FF2B5EF4-FFF2-40B4-BE49-F238E27FC236}">
                <a16:creationId xmlns:a16="http://schemas.microsoft.com/office/drawing/2014/main" id="{62AD90F9-E835-F139-8462-2E2D6C46402D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2195736" y="564561"/>
            <a:ext cx="6714008" cy="283369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949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9746DBB-7B6A-3D08-2F98-473ABDDA43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5EF2332-01BF-834F-8236-50238282D533}" type="slidenum">
              <a:rPr lang="en-US" smtClean="0"/>
              <a:t>21</a:t>
            </a:fld>
            <a:endParaRPr lang="en-US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CCE3089C-1C62-C530-A2C2-EEF69B86F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Relevant </a:t>
            </a:r>
            <a:r>
              <a:rPr lang="de-DE" dirty="0" err="1"/>
              <a:t>Findings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1D294AF8-043C-1FD9-4BB8-FB8F7443E0C7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endParaRPr lang="de-DE"/>
          </a:p>
        </p:txBody>
      </p:sp>
      <p:pic>
        <p:nvPicPr>
          <p:cNvPr id="10" name="Inhaltsplatzhalter 9">
            <a:extLst>
              <a:ext uri="{FF2B5EF4-FFF2-40B4-BE49-F238E27FC236}">
                <a16:creationId xmlns:a16="http://schemas.microsoft.com/office/drawing/2014/main" id="{DD513F25-81C5-BDFF-F7D0-0CFA315BE288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 bwMode="auto">
          <a:xfrm>
            <a:off x="404813" y="944012"/>
            <a:ext cx="8458200" cy="1874349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09773F96-DE06-CC55-EE3F-4CFB60162D5A}"/>
              </a:ext>
            </a:extLst>
          </p:cNvPr>
          <p:cNvSpPr txBox="1"/>
          <p:nvPr/>
        </p:nvSpPr>
        <p:spPr>
          <a:xfrm>
            <a:off x="838200" y="3128963"/>
            <a:ext cx="534828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de-DE" dirty="0" err="1"/>
              <a:t>Trustscores</a:t>
            </a:r>
            <a:r>
              <a:rPr lang="de-DE" dirty="0"/>
              <a:t> </a:t>
            </a:r>
            <a:r>
              <a:rPr lang="de-DE" dirty="0" err="1"/>
              <a:t>decay</a:t>
            </a:r>
            <a:r>
              <a:rPr lang="de-DE" dirty="0"/>
              <a:t> </a:t>
            </a:r>
            <a:r>
              <a:rPr lang="de-DE" dirty="0" err="1"/>
              <a:t>over</a:t>
            </a:r>
            <a:r>
              <a:rPr lang="de-DE" dirty="0"/>
              <a:t> time</a:t>
            </a:r>
          </a:p>
          <a:p>
            <a:pPr marL="285750" indent="-285750">
              <a:buFontTx/>
              <a:buChar char="-"/>
            </a:pPr>
            <a:r>
              <a:rPr lang="de-DE" dirty="0" err="1"/>
              <a:t>Malicious</a:t>
            </a:r>
            <a:r>
              <a:rPr lang="de-DE" dirty="0"/>
              <a:t> </a:t>
            </a:r>
            <a:r>
              <a:rPr lang="de-DE" dirty="0" err="1"/>
              <a:t>converges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0</a:t>
            </a:r>
          </a:p>
          <a:p>
            <a:pPr marL="285750" indent="-285750">
              <a:buFontTx/>
              <a:buChar char="-"/>
            </a:pPr>
            <a:r>
              <a:rPr lang="de-DE" dirty="0"/>
              <a:t>Honest </a:t>
            </a:r>
            <a:r>
              <a:rPr lang="de-DE" dirty="0" err="1"/>
              <a:t>stays</a:t>
            </a:r>
            <a:r>
              <a:rPr lang="de-DE" dirty="0"/>
              <a:t> relevant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3532C5BF-F603-A1E1-5EF0-A90CBAA82F89}"/>
              </a:ext>
            </a:extLst>
          </p:cNvPr>
          <p:cNvSpPr txBox="1"/>
          <p:nvPr/>
        </p:nvSpPr>
        <p:spPr>
          <a:xfrm>
            <a:off x="1143000" y="2767013"/>
            <a:ext cx="738187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Caption: 50 rounds of full epochs trained, n = 50, η = 0.4, attack </a:t>
            </a:r>
            <a:r>
              <a:rPr lang="de-DE" sz="1600" dirty="0" err="1"/>
              <a:t>scale</a:t>
            </a:r>
            <a:r>
              <a:rPr lang="de-DE" sz="1600" dirty="0"/>
              <a:t> = 2.0</a:t>
            </a:r>
          </a:p>
        </p:txBody>
      </p:sp>
    </p:spTree>
    <p:extLst>
      <p:ext uri="{BB962C8B-B14F-4D97-AF65-F5344CB8AC3E}">
        <p14:creationId xmlns:p14="http://schemas.microsoft.com/office/powerpoint/2010/main" val="35165620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4C039868-4D7C-A4FC-43DE-126537243F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5EF2332-01BF-834F-8236-50238282D533}" type="slidenum">
              <a:rPr lang="en-US" smtClean="0"/>
              <a:t>22</a:t>
            </a:fld>
            <a:endParaRPr lang="en-US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E46645BC-C55E-6826-97B8-4F7C6B460E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Limitations</a:t>
            </a:r>
            <a:r>
              <a:rPr lang="de-DE" dirty="0"/>
              <a:t> &amp; Future Work</a:t>
            </a:r>
          </a:p>
        </p:txBody>
      </p:sp>
      <p:sp>
        <p:nvSpPr>
          <p:cNvPr id="2" name="Inhaltsplatzhalter 1">
            <a:extLst>
              <a:ext uri="{FF2B5EF4-FFF2-40B4-BE49-F238E27FC236}">
                <a16:creationId xmlns:a16="http://schemas.microsoft.com/office/drawing/2014/main" id="{1958E762-6673-834F-B327-AC40602D10B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Limitations</a:t>
            </a:r>
            <a:endParaRPr lang="de-DE" dirty="0"/>
          </a:p>
          <a:p>
            <a:r>
              <a:rPr lang="de-DE" dirty="0"/>
              <a:t>Simple </a:t>
            </a:r>
            <a:r>
              <a:rPr lang="de-DE" dirty="0" err="1"/>
              <a:t>models</a:t>
            </a:r>
            <a:r>
              <a:rPr lang="de-DE" dirty="0"/>
              <a:t> and </a:t>
            </a:r>
            <a:r>
              <a:rPr lang="de-DE" dirty="0" err="1"/>
              <a:t>datasets</a:t>
            </a:r>
            <a:endParaRPr lang="de-DE" dirty="0"/>
          </a:p>
          <a:p>
            <a:r>
              <a:rPr lang="de-DE" dirty="0"/>
              <a:t>Limited </a:t>
            </a:r>
            <a:r>
              <a:rPr lang="de-DE" dirty="0" err="1"/>
              <a:t>method</a:t>
            </a:r>
            <a:r>
              <a:rPr lang="de-DE" dirty="0"/>
              <a:t> </a:t>
            </a:r>
            <a:r>
              <a:rPr lang="de-DE" dirty="0" err="1"/>
              <a:t>coverage</a:t>
            </a:r>
            <a:endParaRPr lang="de-DE" dirty="0"/>
          </a:p>
          <a:p>
            <a:r>
              <a:rPr lang="de-DE" dirty="0" err="1"/>
              <a:t>FLTrust</a:t>
            </a:r>
            <a:r>
              <a:rPr lang="de-DE" dirty="0"/>
              <a:t> root </a:t>
            </a:r>
            <a:r>
              <a:rPr lang="de-DE" dirty="0" err="1"/>
              <a:t>dataset</a:t>
            </a:r>
            <a:r>
              <a:rPr lang="de-DE" dirty="0"/>
              <a:t> </a:t>
            </a:r>
            <a:r>
              <a:rPr lang="de-DE" dirty="0" err="1"/>
              <a:t>size</a:t>
            </a:r>
            <a:endParaRPr lang="de-DE" dirty="0"/>
          </a:p>
          <a:p>
            <a:r>
              <a:rPr lang="de-DE" dirty="0" err="1"/>
              <a:t>Stateless</a:t>
            </a:r>
            <a:r>
              <a:rPr lang="de-DE" dirty="0"/>
              <a:t> </a:t>
            </a:r>
            <a:r>
              <a:rPr lang="de-DE" dirty="0" err="1"/>
              <a:t>clients</a:t>
            </a:r>
            <a:endParaRPr lang="de-DE" dirty="0"/>
          </a:p>
          <a:p>
            <a:r>
              <a:rPr lang="de-DE" dirty="0"/>
              <a:t>Privacy </a:t>
            </a:r>
            <a:r>
              <a:rPr lang="de-DE" dirty="0" err="1"/>
              <a:t>budget</a:t>
            </a:r>
            <a:r>
              <a:rPr lang="de-DE" dirty="0"/>
              <a:t> </a:t>
            </a:r>
            <a:r>
              <a:rPr lang="de-DE" dirty="0" err="1"/>
              <a:t>schedule</a:t>
            </a:r>
            <a:endParaRPr lang="de-DE" dirty="0"/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F27588E-8916-7AA2-9D39-8C15F2074B5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Future Work</a:t>
            </a:r>
          </a:p>
          <a:p>
            <a:r>
              <a:rPr lang="en-US" dirty="0"/>
              <a:t>Investigate the Interaction of DP and </a:t>
            </a:r>
            <a:r>
              <a:rPr lang="en-US" dirty="0" err="1"/>
              <a:t>FLTrust</a:t>
            </a:r>
            <a:endParaRPr lang="en-US" dirty="0"/>
          </a:p>
          <a:p>
            <a:r>
              <a:rPr lang="en-US" dirty="0"/>
              <a:t>Trust Scores as a Regularization Mechanism</a:t>
            </a:r>
          </a:p>
          <a:p>
            <a:r>
              <a:rPr lang="de-DE" dirty="0" err="1"/>
              <a:t>Broader</a:t>
            </a:r>
            <a:r>
              <a:rPr lang="de-DE" dirty="0"/>
              <a:t> Experimental Setup</a:t>
            </a:r>
          </a:p>
          <a:p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66EFB110-C1AB-9103-2EED-735838A2CBFF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474691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D5503D-7682-7BEE-DF5B-63620E631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9DBDB70-FB19-2C27-6027-99D357D72E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57200" y="4975323"/>
            <a:ext cx="2133600" cy="162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  <a:defRPr/>
            </a:pPr>
            <a:fld id="{C5EF2332-01BF-834F-8236-50238282D533}" type="slidenum">
              <a:rPr lang="en-US" sz="500" smtClean="0"/>
              <a:pPr>
                <a:lnSpc>
                  <a:spcPct val="90000"/>
                </a:lnSpc>
                <a:spcAft>
                  <a:spcPts val="600"/>
                </a:spcAft>
                <a:defRPr/>
              </a:pPr>
              <a:t>23</a:t>
            </a:fld>
            <a:endParaRPr lang="en-US" sz="50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B378A327-8EA7-21DA-9139-500C3E18D6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87474"/>
            <a:ext cx="8458200" cy="769776"/>
          </a:xfrm>
        </p:spPr>
        <p:txBody>
          <a:bodyPr wrap="square" anchor="b">
            <a:normAutofit/>
          </a:bodyPr>
          <a:lstStyle/>
          <a:p>
            <a:r>
              <a:rPr lang="de-DE" dirty="0" err="1"/>
              <a:t>Limitations</a:t>
            </a:r>
            <a:r>
              <a:rPr lang="de-DE" dirty="0"/>
              <a:t> &amp; Future Work</a:t>
            </a:r>
          </a:p>
        </p:txBody>
      </p:sp>
      <p:sp>
        <p:nvSpPr>
          <p:cNvPr id="18" name="Content Placeholder 4">
            <a:extLst>
              <a:ext uri="{FF2B5EF4-FFF2-40B4-BE49-F238E27FC236}">
                <a16:creationId xmlns:a16="http://schemas.microsoft.com/office/drawing/2014/main" id="{7D1D4867-B5AA-665E-CE19-9C9C955B53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762500" y="914400"/>
            <a:ext cx="4152900" cy="4114800"/>
          </a:xfrm>
        </p:spPr>
        <p:txBody>
          <a:bodyPr/>
          <a:lstStyle/>
          <a:p>
            <a:r>
              <a:rPr lang="en-US" dirty="0"/>
              <a:t>Investigate the Interaction of DP and </a:t>
            </a:r>
            <a:r>
              <a:rPr lang="en-US" dirty="0" err="1"/>
              <a:t>FLTrust</a:t>
            </a:r>
            <a:endParaRPr lang="en-US" dirty="0"/>
          </a:p>
          <a:p>
            <a:r>
              <a:rPr lang="en-US" dirty="0"/>
              <a:t>Trust Scores as a Regularization Mechanism</a:t>
            </a:r>
          </a:p>
          <a:p>
            <a:r>
              <a:rPr lang="de-DE" dirty="0" err="1"/>
              <a:t>Broader</a:t>
            </a:r>
            <a:r>
              <a:rPr lang="de-DE" dirty="0"/>
              <a:t> Experimental Setup</a:t>
            </a:r>
          </a:p>
          <a:p>
            <a:endParaRPr lang="en-US" dirty="0"/>
          </a:p>
        </p:txBody>
      </p:sp>
      <p:sp>
        <p:nvSpPr>
          <p:cNvPr id="20" name="Content Placeholder 5">
            <a:extLst>
              <a:ext uri="{FF2B5EF4-FFF2-40B4-BE49-F238E27FC236}">
                <a16:creationId xmlns:a16="http://schemas.microsoft.com/office/drawing/2014/main" id="{D8E88353-53A3-2EF6-4425-D99007C126A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2195736" y="564561"/>
            <a:ext cx="6714008" cy="283369"/>
          </a:xfrm>
        </p:spPr>
        <p:txBody>
          <a:bodyPr/>
          <a:lstStyle/>
          <a:p>
            <a:endParaRPr lang="en-US"/>
          </a:p>
        </p:txBody>
      </p:sp>
      <p:graphicFrame>
        <p:nvGraphicFramePr>
          <p:cNvPr id="7" name="Inhaltsplatzhalter 1">
            <a:extLst>
              <a:ext uri="{FF2B5EF4-FFF2-40B4-BE49-F238E27FC236}">
                <a16:creationId xmlns:a16="http://schemas.microsoft.com/office/drawing/2014/main" id="{F8BF70E9-20E8-C94E-8B16-42DC1B6D90D4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4209659626"/>
              </p:ext>
            </p:extLst>
          </p:nvPr>
        </p:nvGraphicFramePr>
        <p:xfrm>
          <a:off x="457200" y="914400"/>
          <a:ext cx="4152900" cy="41148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682804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4765420" name="Slide Number Placeholder 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5EF2332-01BF-834F-8236-50238282D533}" type="slidenum">
              <a:rPr lang="en-US"/>
              <a:t>24</a:t>
            </a:fld>
            <a:endParaRPr lang="en-US"/>
          </a:p>
        </p:txBody>
      </p:sp>
      <p:sp>
        <p:nvSpPr>
          <p:cNvPr id="831975663" name="Title 2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>
                <a:ea typeface="Calibri"/>
                <a:cs typeface="Calibri"/>
              </a:rPr>
              <a:t>References</a:t>
            </a:r>
            <a:endParaRPr lang="en-US"/>
          </a:p>
        </p:txBody>
      </p:sp>
      <p:sp>
        <p:nvSpPr>
          <p:cNvPr id="770606442" name="Content Placeholder 3"/>
          <p:cNvSpPr>
            <a:spLocks noGrp="1"/>
          </p:cNvSpPr>
          <p:nvPr>
            <p:ph sz="half" idx="1"/>
          </p:nvPr>
        </p:nvSpPr>
        <p:spPr bwMode="auto">
          <a:xfrm>
            <a:off x="457200" y="914400"/>
            <a:ext cx="8458200" cy="4114800"/>
          </a:xfrm>
        </p:spPr>
        <p:txBody>
          <a:bodyPr anchor="ctr"/>
          <a:lstStyle/>
          <a:p>
            <a:pPr>
              <a:defRPr/>
            </a:pPr>
            <a:r>
              <a:rPr lang="en-US"/>
              <a:t>Y. Allouah, R. Guerraoui, N. Gupta, R. Pinot, and J. Stephan, “</a:t>
            </a:r>
            <a:r>
              <a:rPr lang="en-US" i="1"/>
              <a:t>On the privacy-robustness-utility trilemma in distributed learning</a:t>
            </a:r>
            <a:r>
              <a:rPr lang="en-US"/>
              <a:t>,” in Proceedings of the 40th International Conference on Machine Learning, ser. Proceedings of Machine Learning Research, 2023. [Online]. Available: </a:t>
            </a:r>
            <a:r>
              <a:rPr lang="en-US" u="sng">
                <a:hlinkClick r:id="rId3"/>
              </a:rPr>
              <a:t>https://arxiv.org/abs/2302.04787</a:t>
            </a:r>
            <a:endParaRPr lang="en-US"/>
          </a:p>
          <a:p>
            <a:pPr>
              <a:defRPr/>
            </a:pPr>
            <a:r>
              <a:rPr lang="en-US"/>
              <a:t>D. J. Beutel, T. Topal, A. Mathur, X. Qiu, J. Fernandez-Marques, Y. Gao, L. Sani, K. H. Li, T. Parcollet, P. P. de Gusm˜ao, and N. D. Lane, “</a:t>
            </a:r>
            <a:r>
              <a:rPr lang="en-US" i="1"/>
              <a:t>Flower: A friendly federated learning research framework</a:t>
            </a:r>
            <a:r>
              <a:rPr lang="en-US"/>
              <a:t>,” arXiv preprint, vol. arXiv:2007.14390, 2020. [Online]. Available: </a:t>
            </a:r>
            <a:r>
              <a:rPr lang="en-US" u="sng">
                <a:hlinkClick r:id="rId4"/>
              </a:rPr>
              <a:t>https://arxiv.org/abs/2007.14390</a:t>
            </a:r>
            <a:endParaRPr lang="en-US"/>
          </a:p>
          <a:p>
            <a:pPr>
              <a:defRPr/>
            </a:pPr>
            <a:r>
              <a:rPr lang="en-US"/>
              <a:t>A. Yousefpour, I. Shilov, A. Sablayrolles, D. Testuggine, K. Prasad, M. Malek, J. Nguyen, S. Ghosh, A. Bharadwaj, J. Zhao, G. Cormode, and I. Mironov, “</a:t>
            </a:r>
            <a:r>
              <a:rPr lang="en-US" i="1"/>
              <a:t>Opacus: User-friendly differential privacy library in PyTorch</a:t>
            </a:r>
            <a:r>
              <a:rPr lang="en-US"/>
              <a:t>,” arXiv preprint, vol. arXiv:2109.12298, 2021. [Online]. Available: https://arxiv.org/abs/2109.12298</a:t>
            </a:r>
            <a:endParaRPr/>
          </a:p>
          <a:p>
            <a:pPr>
              <a:defRPr/>
            </a:pPr>
            <a:r>
              <a:rPr lang="en-US"/>
              <a:t>X. Cao, M. Fang, J. Liu, and N. Z. Gong, “</a:t>
            </a:r>
            <a:r>
              <a:rPr lang="en-US" i="1"/>
              <a:t>FLTrust: Byzantine-robust federated learning via trust bootstrapping</a:t>
            </a:r>
            <a:r>
              <a:rPr lang="en-US"/>
              <a:t>,” in Network and Distributed System Security Symposium (NDSS), 2021. [Online]. Available: </a:t>
            </a:r>
            <a:r>
              <a:rPr lang="en-US" u="sng">
                <a:hlinkClick r:id="rId5"/>
              </a:rPr>
              <a:t>https://arxiv.org/abs/2012.13995</a:t>
            </a:r>
            <a:endParaRPr lang="en-US"/>
          </a:p>
          <a:p>
            <a:pPr>
              <a:defRPr/>
            </a:pPr>
            <a:r>
              <a:rPr lang="en-US"/>
              <a:t>S. Li, E. C.-H. Ngai, F. Ye, L. Ju, T. Zhang, and T. Voigt, “</a:t>
            </a:r>
            <a:r>
              <a:rPr lang="en-US" i="1"/>
              <a:t>BLADES: A unified benchmark suite for Byzantine attacks and defenses in federated learning</a:t>
            </a:r>
            <a:r>
              <a:rPr lang="en-US"/>
              <a:t>,” in Proceedings of the ACM/IEEE International Conference on Internet-of-Things Design and Implementation (IoTDI), 2024.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5964586" name="Slide Number Placeholder 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5EF2332-01BF-834F-8236-50238282D533}" type="slidenum">
              <a:rPr lang="en-US"/>
              <a:t>25</a:t>
            </a:fld>
            <a:endParaRPr lang="en-US"/>
          </a:p>
        </p:txBody>
      </p:sp>
      <p:sp>
        <p:nvSpPr>
          <p:cNvPr id="1952264769" name="Title 2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>
                <a:ea typeface="Calibri"/>
                <a:cs typeface="Calibri"/>
              </a:rPr>
              <a:t>References</a:t>
            </a:r>
            <a:endParaRPr lang="en-US"/>
          </a:p>
        </p:txBody>
      </p:sp>
      <p:sp>
        <p:nvSpPr>
          <p:cNvPr id="1847915681" name="Content Placeholder 3"/>
          <p:cNvSpPr>
            <a:spLocks noGrp="1"/>
          </p:cNvSpPr>
          <p:nvPr>
            <p:ph sz="half" idx="1"/>
          </p:nvPr>
        </p:nvSpPr>
        <p:spPr bwMode="auto">
          <a:xfrm>
            <a:off x="457200" y="914400"/>
            <a:ext cx="8458200" cy="4114800"/>
          </a:xfrm>
        </p:spPr>
        <p:txBody>
          <a:bodyPr anchor="ctr"/>
          <a:lstStyle/>
          <a:p>
            <a:pPr>
              <a:defRPr/>
            </a:pPr>
            <a:r>
              <a:rPr lang="en-US"/>
              <a:t>S. Shi, X. Chu, K. C. Cheung, and S. See, “</a:t>
            </a:r>
            <a:r>
              <a:rPr lang="en-US" i="1"/>
              <a:t>Understanding topk sparsification in distributed deep learning</a:t>
            </a:r>
            <a:r>
              <a:rPr lang="en-US"/>
              <a:t>,” 2019. [Online]. Available: </a:t>
            </a:r>
            <a:r>
              <a:rPr lang="en-US" u="sng">
                <a:hlinkClick r:id="rId3"/>
              </a:rPr>
              <a:t>https://arxiv.org/abs/1911.08772</a:t>
            </a:r>
            <a:endParaRPr lang="en-US"/>
          </a:p>
          <a:p>
            <a:pPr>
              <a:defRPr/>
            </a:pPr>
            <a:r>
              <a:rPr lang="en-US"/>
              <a:t>R. Guerraoui, N. Gupta, R. Pinot, S. Rouault, and J. Stephan, “</a:t>
            </a:r>
            <a:r>
              <a:rPr lang="en-US" i="1"/>
              <a:t>Differential privacy and byzantine resilience in sgd: Do they add up?” </a:t>
            </a:r>
            <a:r>
              <a:rPr lang="en-US"/>
              <a:t>2021. [Online]. Available: </a:t>
            </a:r>
            <a:r>
              <a:rPr lang="en-US" u="sng">
                <a:hlinkClick r:id="rId4"/>
              </a:rPr>
              <a:t>https://arxiv.org/abs/2102.08166</a:t>
            </a:r>
            <a:endParaRPr lang="en-US"/>
          </a:p>
          <a:p>
            <a:pPr>
              <a:defRPr/>
            </a:pPr>
            <a:r>
              <a:rPr lang="en-US"/>
              <a:t>I. Mironov, “</a:t>
            </a:r>
            <a:r>
              <a:rPr lang="en-US" i="1"/>
              <a:t>Rényi differential privacy</a:t>
            </a:r>
            <a:r>
              <a:rPr lang="en-US"/>
              <a:t>,” in 2017 IEEE 30th Computer Security Foundations Symposium (CSF). IEEE, Aug. 2017, p. 263–275. [Online]. Available: </a:t>
            </a:r>
            <a:r>
              <a:rPr lang="en-US" u="sng">
                <a:hlinkClick r:id="rId5"/>
              </a:rPr>
              <a:t>http://dx.doi.org/10.1109/CSF.2017.11</a:t>
            </a:r>
            <a:endParaRPr lang="en-US"/>
          </a:p>
          <a:p>
            <a:pPr>
              <a:defRPr/>
            </a:pPr>
            <a:r>
              <a:rPr lang="en-US"/>
              <a:t>P. Blanchard, E. M. El Mhamdi, R. Guerraoui, and J. Stainer, “</a:t>
            </a:r>
            <a:r>
              <a:rPr lang="en-US" i="1"/>
              <a:t>Machine learning with adversaries: Byzantine tolerant gradient descent</a:t>
            </a:r>
            <a:r>
              <a:rPr lang="en-US"/>
              <a:t>,” in Advances in Neural Information Processing Systems (NeurIPS), vol. 30, 2017.</a:t>
            </a:r>
            <a:endParaRPr/>
          </a:p>
          <a:p>
            <a:pPr>
              <a:defRPr/>
            </a:pPr>
            <a:r>
              <a:rPr lang="en-US"/>
              <a:t>M. Abadi, A. Chu, I. Goodfellow, H. B. McMahan, I. Mironov, K. Talwar, and L. Zhang, “</a:t>
            </a:r>
            <a:r>
              <a:rPr lang="en-US" i="1"/>
              <a:t>Deep learning with differential privacy</a:t>
            </a:r>
            <a:r>
              <a:rPr lang="en-US"/>
              <a:t>,” in Proceedings of the ACM SIGSAC Conference on Computer and Communications Security (CCS). ACM, 2016, pp. 308–318.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002237" name="Slide Number Placeholder 1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5EF2332-01BF-834F-8236-50238282D533}" type="slidenum">
              <a:rPr lang="en-US"/>
              <a:t>26</a:t>
            </a:fld>
            <a:endParaRPr lang="en-US"/>
          </a:p>
        </p:txBody>
      </p:sp>
      <p:sp>
        <p:nvSpPr>
          <p:cNvPr id="1577995580" name="Title 2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>
                <a:ea typeface="Calibri"/>
                <a:cs typeface="Calibri"/>
              </a:rPr>
              <a:t>Local Differential Privacy in Deep Learning</a:t>
            </a:r>
            <a:endParaRPr lang="en-US"/>
          </a:p>
        </p:txBody>
      </p:sp>
      <p:pic>
        <p:nvPicPr>
          <p:cNvPr id="1944548053" name="Content Placeholder 314" descr="A black and white text on a white background&#10;&#10;AI-generated content may be incorrect."/>
          <p:cNvPicPr>
            <a:picLocks noGrp="1" noChangeAspect="1"/>
          </p:cNvPicPr>
          <p:nvPr>
            <p:ph sz="quarter" idx="14"/>
          </p:nvPr>
        </p:nvPicPr>
        <p:blipFill rotWithShape="1">
          <a:blip r:embed="rId3"/>
          <a:stretch/>
        </p:blipFill>
        <p:spPr bwMode="auto">
          <a:xfrm>
            <a:off x="393789" y="1214708"/>
            <a:ext cx="4178211" cy="3418754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559366318" name="TextBox 316"/>
          <p:cNvSpPr txBox="1"/>
          <p:nvPr/>
        </p:nvSpPr>
        <p:spPr bwMode="auto">
          <a:xfrm>
            <a:off x="4823670" y="1331752"/>
            <a:ext cx="4000500" cy="307776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defRPr/>
            </a:pPr>
            <a:r>
              <a:rPr lang="en-US">
                <a:ea typeface="+mn-lt"/>
                <a:cs typeface="+mn-lt"/>
              </a:rPr>
              <a:t>Privacy budget ε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 sz="1400" i="1">
                <a:ea typeface="+mn-lt"/>
                <a:cs typeface="+mn-lt"/>
              </a:rPr>
              <a:t>Probability, that a perturbed output remains distinguishable whether an individual's data is true or altered </a:t>
            </a:r>
            <a:endParaRPr/>
          </a:p>
          <a:p>
            <a:pPr marL="285750" indent="-285750">
              <a:buFont typeface="Arial"/>
              <a:buChar char="•"/>
              <a:defRPr/>
            </a:pPr>
            <a:r>
              <a:rPr lang="en-US" sz="1400" i="1">
                <a:ea typeface="+mn-lt"/>
                <a:cs typeface="+mn-lt"/>
              </a:rPr>
              <a:t>"measure of preserved information"</a:t>
            </a:r>
            <a:endParaRPr lang="en-US" sz="1400" i="1">
              <a:ea typeface="Calibri"/>
              <a:cs typeface="Calibri"/>
            </a:endParaRPr>
          </a:p>
          <a:p>
            <a:pPr marL="285750" indent="-285750">
              <a:buFont typeface="Arial"/>
              <a:buChar char="•"/>
              <a:defRPr/>
            </a:pPr>
            <a:r>
              <a:rPr lang="en-US" sz="1400" i="1">
                <a:ea typeface="Calibri"/>
                <a:cs typeface="Calibri"/>
              </a:rPr>
              <a:t>Controls trade-off between privacy and data utility</a:t>
            </a:r>
          </a:p>
          <a:p>
            <a:pPr>
              <a:defRPr/>
            </a:pPr>
            <a:endParaRPr lang="en-US">
              <a:ea typeface="+mn-lt"/>
              <a:cs typeface="+mn-lt"/>
            </a:endParaRPr>
          </a:p>
          <a:p>
            <a:pPr>
              <a:defRPr/>
            </a:pPr>
            <a:r>
              <a:rPr lang="en-US">
                <a:ea typeface="+mn-lt"/>
                <a:cs typeface="+mn-lt"/>
              </a:rPr>
              <a:t>Failure Probability δ </a:t>
            </a:r>
          </a:p>
          <a:p>
            <a:pPr marL="285750" indent="-285750">
              <a:buFont typeface="Arial"/>
              <a:buChar char="•"/>
              <a:defRPr/>
            </a:pPr>
            <a:r>
              <a:rPr lang="en-US" sz="1400" i="1">
                <a:ea typeface="+mn-lt"/>
                <a:cs typeface="+mn-lt"/>
              </a:rPr>
              <a:t>Probability that the privacy guarantee is exceeded</a:t>
            </a:r>
            <a:endParaRPr/>
          </a:p>
          <a:p>
            <a:pPr marL="285750" indent="-285750">
              <a:buFont typeface="Arial"/>
              <a:buChar char="•"/>
              <a:defRPr/>
            </a:pPr>
            <a:r>
              <a:rPr lang="en-US" sz="1400" i="1">
                <a:ea typeface="Calibri"/>
                <a:cs typeface="Calibri"/>
              </a:rPr>
              <a:t>Should stay smaller than inverse input dimension |d|</a:t>
            </a:r>
            <a:r>
              <a:rPr lang="en-US" sz="1400" i="1" baseline="30000">
                <a:ea typeface="Calibri"/>
                <a:cs typeface="Calibri"/>
              </a:rPr>
              <a:t>-1</a:t>
            </a:r>
            <a:endParaRPr/>
          </a:p>
        </p:txBody>
      </p:sp>
      <p:cxnSp>
        <p:nvCxnSpPr>
          <p:cNvPr id="869362669" name="Straight Arrow Connector 317"/>
          <p:cNvCxnSpPr/>
          <p:nvPr/>
        </p:nvCxnSpPr>
        <p:spPr bwMode="auto">
          <a:xfrm flipH="1">
            <a:off x="4207341" y="1995269"/>
            <a:ext cx="632320" cy="207312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4061099" name="Straight Arrow Connector 318"/>
          <p:cNvCxnSpPr/>
          <p:nvPr/>
        </p:nvCxnSpPr>
        <p:spPr bwMode="auto">
          <a:xfrm flipH="1">
            <a:off x="4423620" y="3747782"/>
            <a:ext cx="412109" cy="3848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3288860" name="TextBox 319"/>
          <p:cNvSpPr txBox="1"/>
          <p:nvPr/>
        </p:nvSpPr>
        <p:spPr bwMode="auto">
          <a:xfrm>
            <a:off x="1090568" y="4844642"/>
            <a:ext cx="7775545" cy="2616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defRPr/>
            </a:pPr>
            <a:r>
              <a:rPr lang="en-US" sz="1100" i="1">
                <a:solidFill>
                  <a:schemeClr val="bg2"/>
                </a:solidFill>
                <a:ea typeface="+mn-lt"/>
                <a:cs typeface="+mn-lt"/>
              </a:rPr>
              <a:t>M. Abadi, A. Chu, I. Goodfellow, H. B. McMahan, I. Mironov, K. Talwar, and L. Zhang, “Deep learning with differential privacy,”</a:t>
            </a:r>
            <a:endParaRPr lang="en-US" sz="1100" i="1">
              <a:solidFill>
                <a:schemeClr val="bg2"/>
              </a:solidFill>
              <a:ea typeface="Calibri"/>
              <a:cs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95562940" name="Content Placeholder 6"/>
          <p:cNvPicPr>
            <a:picLocks noGrp="1" noChangeAspect="1"/>
          </p:cNvPicPr>
          <p:nvPr>
            <p:ph sz="quarter" idx="13"/>
          </p:nvPr>
        </p:nvPicPr>
        <p:blipFill rotWithShape="1">
          <a:blip r:embed="rId3"/>
          <a:stretch/>
        </p:blipFill>
        <p:spPr bwMode="auto">
          <a:xfrm>
            <a:off x="457200" y="1607916"/>
            <a:ext cx="8458200" cy="2727768"/>
          </a:xfrm>
          <a:prstGeom prst="rect">
            <a:avLst/>
          </a:prstGeom>
          <a:noFill/>
          <a:ln>
            <a:noFill/>
          </a:ln>
        </p:spPr>
      </p:pic>
      <p:sp>
        <p:nvSpPr>
          <p:cNvPr id="405732880" name="Slide Number Placeholder 1"/>
          <p:cNvSpPr>
            <a:spLocks noGrp="1"/>
          </p:cNvSpPr>
          <p:nvPr>
            <p:ph type="sldNum" sz="quarter" idx="12"/>
          </p:nvPr>
        </p:nvSpPr>
        <p:spPr bwMode="auto">
          <a:xfrm>
            <a:off x="457200" y="4975323"/>
            <a:ext cx="2133600" cy="162000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  <a:defRPr/>
            </a:pPr>
            <a:fld id="{C5EF2332-01BF-834F-8236-50238282D533}" type="slidenum">
              <a:rPr lang="en-US" sz="500"/>
              <a:t>27</a:t>
            </a:fld>
            <a:endParaRPr lang="en-US" sz="500"/>
          </a:p>
        </p:txBody>
      </p:sp>
      <p:sp>
        <p:nvSpPr>
          <p:cNvPr id="712358850" name="Title 2"/>
          <p:cNvSpPr>
            <a:spLocks noGrp="1"/>
          </p:cNvSpPr>
          <p:nvPr>
            <p:ph type="title"/>
          </p:nvPr>
        </p:nvSpPr>
        <p:spPr bwMode="auto">
          <a:xfrm>
            <a:off x="457200" y="87474"/>
            <a:ext cx="8458200" cy="769776"/>
          </a:xfrm>
        </p:spPr>
        <p:txBody>
          <a:bodyPr wrap="square" anchor="b">
            <a:normAutofit/>
          </a:bodyPr>
          <a:lstStyle/>
          <a:p>
            <a:pPr>
              <a:defRPr/>
            </a:pPr>
            <a:r>
              <a:rPr lang="en-US"/>
              <a:t>FLTrust update mechanism</a:t>
            </a:r>
          </a:p>
        </p:txBody>
      </p:sp>
      <p:sp>
        <p:nvSpPr>
          <p:cNvPr id="2125931124" name="Content Placeholder 4"/>
          <p:cNvSpPr>
            <a:spLocks noGrp="1"/>
          </p:cNvSpPr>
          <p:nvPr>
            <p:ph sz="quarter" idx="14"/>
          </p:nvPr>
        </p:nvSpPr>
        <p:spPr bwMode="auto">
          <a:xfrm>
            <a:off x="2195736" y="564561"/>
            <a:ext cx="6714008" cy="283369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/>
    </mc:Choice>
    <mc:Fallback xmlns:w="http://schemas.openxmlformats.org/wordprocessingml/2006/main" xmlns:m="http://schemas.openxmlformats.org/officeDocument/2006/math" xmlns="">
      <p:transition advClick="1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78D3F8EE-A9CB-BF16-40FE-7493D88BE43E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 bwMode="auto">
          <a:xfrm>
            <a:off x="5042834" y="1224732"/>
            <a:ext cx="3521446" cy="324642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9DD0A431-CD83-8D3E-C59D-412A3D5C3C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5EF2332-01BF-834F-8236-50238282D533}" type="slidenum">
              <a:rPr lang="en-US" smtClean="0"/>
              <a:t>28</a:t>
            </a:fld>
            <a:endParaRPr lang="en-US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B6B576EF-F239-843A-5248-B4502325F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Confusion</a:t>
            </a:r>
            <a:r>
              <a:rPr lang="de-DE" dirty="0"/>
              <a:t> Matrices</a:t>
            </a:r>
          </a:p>
        </p:txBody>
      </p:sp>
      <p:pic>
        <p:nvPicPr>
          <p:cNvPr id="9" name="Inhaltsplatzhalter 8">
            <a:extLst>
              <a:ext uri="{FF2B5EF4-FFF2-40B4-BE49-F238E27FC236}">
                <a16:creationId xmlns:a16="http://schemas.microsoft.com/office/drawing/2014/main" id="{3B5DF32C-DDD4-68DA-4532-95553B19F5E7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tretch>
            <a:fillRect/>
          </a:stretch>
        </p:blipFill>
        <p:spPr bwMode="auto">
          <a:xfrm>
            <a:off x="579720" y="1200917"/>
            <a:ext cx="3521443" cy="324642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159737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SVSTemplate2023">
      <a:dk1>
        <a:srgbClr val="000000"/>
      </a:dk1>
      <a:lt1>
        <a:srgbClr val="FFFFFF"/>
      </a:lt1>
      <a:dk2>
        <a:srgbClr val="325786"/>
      </a:dk2>
      <a:lt2>
        <a:srgbClr val="B2B2B2"/>
      </a:lt2>
      <a:accent1>
        <a:srgbClr val="99CCFF"/>
      </a:accent1>
      <a:accent2>
        <a:srgbClr val="C1212A"/>
      </a:accent2>
      <a:accent3>
        <a:srgbClr val="9BBB59"/>
      </a:accent3>
      <a:accent4>
        <a:srgbClr val="8064A2"/>
      </a:accent4>
      <a:accent5>
        <a:srgbClr val="C9E1FF"/>
      </a:accent5>
      <a:accent6>
        <a:srgbClr val="F79646"/>
      </a:accent6>
      <a:hlink>
        <a:srgbClr val="335786"/>
      </a:hlink>
      <a:folHlink>
        <a:srgbClr val="335786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1568</Words>
  <Application>Microsoft Office PowerPoint</Application>
  <PresentationFormat>Bildschirmpräsentation (16:9)</PresentationFormat>
  <Paragraphs>301</Paragraphs>
  <Slides>28</Slides>
  <Notes>13</Notes>
  <HiddenSlides>1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28</vt:i4>
      </vt:variant>
    </vt:vector>
  </HeadingPairs>
  <TitlesOfParts>
    <vt:vector size="35" baseType="lpstr">
      <vt:lpstr>ＭＳ Ｐゴシック</vt:lpstr>
      <vt:lpstr>Arial</vt:lpstr>
      <vt:lpstr>Calibri</vt:lpstr>
      <vt:lpstr>Cambria Math</vt:lpstr>
      <vt:lpstr>Consolas</vt:lpstr>
      <vt:lpstr>Wingdings</vt:lpstr>
      <vt:lpstr>Office Theme</vt:lpstr>
      <vt:lpstr>Navigating the Privacy-Robustness-Performance-Trilemma in Federated Learning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Agenda</vt:lpstr>
      <vt:lpstr>Motivation</vt:lpstr>
      <vt:lpstr>Mechanisms</vt:lpstr>
      <vt:lpstr>Method Selection</vt:lpstr>
      <vt:lpstr>Threat Model</vt:lpstr>
      <vt:lpstr>Research Questions</vt:lpstr>
      <vt:lpstr>Experimental Setup</vt:lpstr>
      <vt:lpstr>Results</vt:lpstr>
      <vt:lpstr>Relevant Findings</vt:lpstr>
      <vt:lpstr>Relevant Findings</vt:lpstr>
      <vt:lpstr>Relevant Findings</vt:lpstr>
      <vt:lpstr>Limitations &amp; Future Work</vt:lpstr>
      <vt:lpstr>Limitations &amp; Future Work</vt:lpstr>
      <vt:lpstr>References</vt:lpstr>
      <vt:lpstr>References</vt:lpstr>
      <vt:lpstr>Local Differential Privacy in Deep Learning</vt:lpstr>
      <vt:lpstr>FLTrust update mechanism</vt:lpstr>
      <vt:lpstr>Confusion Matrices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Navigating the Privacy-Robustness-Performance Trilemma</dc:title>
  <dc:creator>Rebekka Schnoor;Jonas Müller</dc:creator>
  <cp:lastModifiedBy>Jonas Müller</cp:lastModifiedBy>
  <cp:revision>1056</cp:revision>
  <dcterms:created xsi:type="dcterms:W3CDTF">2017-06-05T14:10:58Z</dcterms:created>
  <dcterms:modified xsi:type="dcterms:W3CDTF">2026-07-16T11:41:40Z</dcterms:modified>
</cp:coreProperties>
</file>